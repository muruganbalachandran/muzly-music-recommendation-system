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0"/>
  </p:notesMasterIdLst>
  <p:sldIdLst>
    <p:sldId id="256" r:id="rId2"/>
    <p:sldId id="257" r:id="rId3"/>
    <p:sldId id="281" r:id="rId4"/>
    <p:sldId id="282" r:id="rId5"/>
    <p:sldId id="283" r:id="rId6"/>
    <p:sldId id="284" r:id="rId7"/>
    <p:sldId id="285" r:id="rId8"/>
    <p:sldId id="286" r:id="rId9"/>
    <p:sldId id="287" r:id="rId10"/>
    <p:sldId id="288" r:id="rId11"/>
    <p:sldId id="289" r:id="rId12"/>
    <p:sldId id="290" r:id="rId13"/>
    <p:sldId id="270" r:id="rId14"/>
    <p:sldId id="271" r:id="rId15"/>
    <p:sldId id="259" r:id="rId16"/>
    <p:sldId id="275" r:id="rId17"/>
    <p:sldId id="280" r:id="rId18"/>
    <p:sldId id="276" r:id="rId19"/>
    <p:sldId id="293" r:id="rId20"/>
    <p:sldId id="277" r:id="rId21"/>
    <p:sldId id="278" r:id="rId22"/>
    <p:sldId id="272" r:id="rId23"/>
    <p:sldId id="291" r:id="rId24"/>
    <p:sldId id="292" r:id="rId25"/>
    <p:sldId id="273" r:id="rId26"/>
    <p:sldId id="274" r:id="rId27"/>
    <p:sldId id="279" r:id="rId28"/>
    <p:sldId id="262" r:id="rId29"/>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85970" autoAdjust="0"/>
  </p:normalViewPr>
  <p:slideViewPr>
    <p:cSldViewPr snapToGrid="0">
      <p:cViewPr varScale="1">
        <p:scale>
          <a:sx n="88" d="100"/>
          <a:sy n="88" d="100"/>
        </p:scale>
        <p:origin x="47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FEE16-3E37-4D94-83B3-8623DB7ABC29}" type="datetimeFigureOut">
              <a:rPr lang="en-IN" smtClean="0"/>
              <a:t>05-12-2025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8AE109-6817-4B16-9064-45998B1607AF}"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8AE109-6817-4B16-9064-45998B1607AF}" type="slidenum">
              <a:rPr lang="en-IN" smtClean="0"/>
              <a:t>15</a:t>
            </a:fld>
            <a:endParaRPr lang="en-IN"/>
          </a:p>
        </p:txBody>
      </p:sp>
    </p:spTree>
    <p:extLst>
      <p:ext uri="{BB962C8B-B14F-4D97-AF65-F5344CB8AC3E}">
        <p14:creationId xmlns:p14="http://schemas.microsoft.com/office/powerpoint/2010/main" val="4000536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8AE109-6817-4B16-9064-45998B1607AF}" type="slidenum">
              <a:rPr lang="en-IN" smtClean="0"/>
              <a:t>20</a:t>
            </a:fld>
            <a:endParaRPr lang="en-IN"/>
          </a:p>
        </p:txBody>
      </p:sp>
    </p:spTree>
    <p:extLst>
      <p:ext uri="{BB962C8B-B14F-4D97-AF65-F5344CB8AC3E}">
        <p14:creationId xmlns:p14="http://schemas.microsoft.com/office/powerpoint/2010/main" val="1153110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8AE109-6817-4B16-9064-45998B1607AF}" type="slidenum">
              <a:rPr lang="en-IN" smtClean="0"/>
              <a:t>25</a:t>
            </a:fld>
            <a:endParaRPr lang="en-IN"/>
          </a:p>
        </p:txBody>
      </p:sp>
    </p:spTree>
    <p:extLst>
      <p:ext uri="{BB962C8B-B14F-4D97-AF65-F5344CB8AC3E}">
        <p14:creationId xmlns:p14="http://schemas.microsoft.com/office/powerpoint/2010/main" val="2568806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95EAFB9-E748-4959-99B0-EC499F888DCB}" type="datetime1">
              <a:rPr lang="en-IN" smtClean="0"/>
              <a:t>05-12-2025</a:t>
            </a:fld>
            <a:endParaRPr lang="en-IN"/>
          </a:p>
        </p:txBody>
      </p:sp>
      <p:sp>
        <p:nvSpPr>
          <p:cNvPr id="5" name="Footer Placeholder 4"/>
          <p:cNvSpPr>
            <a:spLocks noGrp="1"/>
          </p:cNvSpPr>
          <p:nvPr>
            <p:ph type="ftr" sz="quarter" idx="11"/>
          </p:nvPr>
        </p:nvSpPr>
        <p:spPr/>
        <p:txBody>
          <a:bodyPr/>
          <a:lstStyle/>
          <a:p>
            <a:r>
              <a:rPr lang="en-US"/>
              <a:t>KPR Institute of Engineering and Technology, Coimbatore, Tamil Nadu, India                                 </a:t>
            </a:r>
            <a:endParaRPr lang="en-IN"/>
          </a:p>
        </p:txBody>
      </p:sp>
      <p:sp>
        <p:nvSpPr>
          <p:cNvPr id="6" name="Slide Number Placeholder 5"/>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6E4BC88-DFD1-4B06-B97B-7F4D95E5BA53}" type="datetime1">
              <a:rPr lang="en-IN" smtClean="0"/>
              <a:t>05-12-2025</a:t>
            </a:fld>
            <a:endParaRPr lang="en-IN"/>
          </a:p>
        </p:txBody>
      </p:sp>
      <p:sp>
        <p:nvSpPr>
          <p:cNvPr id="5" name="Footer Placeholder 4"/>
          <p:cNvSpPr>
            <a:spLocks noGrp="1"/>
          </p:cNvSpPr>
          <p:nvPr>
            <p:ph type="ftr" sz="quarter" idx="11"/>
          </p:nvPr>
        </p:nvSpPr>
        <p:spPr/>
        <p:txBody>
          <a:bodyPr/>
          <a:lstStyle/>
          <a:p>
            <a:r>
              <a:rPr lang="en-US"/>
              <a:t>KPR Institute of Engineering and Technology, Coimbatore, Tamil Nadu, India                                 </a:t>
            </a:r>
            <a:endParaRPr lang="en-IN"/>
          </a:p>
        </p:txBody>
      </p:sp>
      <p:sp>
        <p:nvSpPr>
          <p:cNvPr id="6" name="Slide Number Placeholder 5"/>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7A1CD5-093E-4E1C-A523-31D0491A46D8}" type="datetime1">
              <a:rPr lang="en-IN" smtClean="0"/>
              <a:t>05-12-2025</a:t>
            </a:fld>
            <a:endParaRPr lang="en-IN"/>
          </a:p>
        </p:txBody>
      </p:sp>
      <p:sp>
        <p:nvSpPr>
          <p:cNvPr id="5" name="Footer Placeholder 4"/>
          <p:cNvSpPr>
            <a:spLocks noGrp="1"/>
          </p:cNvSpPr>
          <p:nvPr>
            <p:ph type="ftr" sz="quarter" idx="11"/>
          </p:nvPr>
        </p:nvSpPr>
        <p:spPr/>
        <p:txBody>
          <a:bodyPr/>
          <a:lstStyle/>
          <a:p>
            <a:r>
              <a:rPr lang="en-US"/>
              <a:t>KPR Institute of Engineering and Technology, Coimbatore, Tamil Nadu, India                                 </a:t>
            </a:r>
            <a:endParaRPr lang="en-IN"/>
          </a:p>
        </p:txBody>
      </p:sp>
      <p:sp>
        <p:nvSpPr>
          <p:cNvPr id="6" name="Slide Number Placeholder 5"/>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49A23C8-E071-4F0E-8C5E-DD6F35CF1DF3}" type="datetime1">
              <a:rPr lang="en-IN" smtClean="0"/>
              <a:t>05-12-2025</a:t>
            </a:fld>
            <a:endParaRPr lang="en-IN"/>
          </a:p>
        </p:txBody>
      </p:sp>
      <p:sp>
        <p:nvSpPr>
          <p:cNvPr id="6" name="Footer Placeholder 5"/>
          <p:cNvSpPr>
            <a:spLocks noGrp="1"/>
          </p:cNvSpPr>
          <p:nvPr>
            <p:ph type="ftr" sz="quarter" idx="11"/>
          </p:nvPr>
        </p:nvSpPr>
        <p:spPr/>
        <p:txBody>
          <a:bodyPr/>
          <a:lstStyle/>
          <a:p>
            <a:r>
              <a:rPr lang="en-US"/>
              <a:t>KPR Institute of Engineering and Technology, Coimbatore, Tamil Nadu, India                                 </a:t>
            </a:r>
            <a:endParaRPr lang="en-IN"/>
          </a:p>
        </p:txBody>
      </p:sp>
      <p:sp>
        <p:nvSpPr>
          <p:cNvPr id="7" name="Slide Number Placeholder 6"/>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5279788-3E7F-4762-9E18-C0BE18CEB7C4}" type="datetime1">
              <a:rPr lang="en-IN" smtClean="0"/>
              <a:t>05-12-2025</a:t>
            </a:fld>
            <a:endParaRPr lang="en-IN"/>
          </a:p>
        </p:txBody>
      </p:sp>
      <p:sp>
        <p:nvSpPr>
          <p:cNvPr id="8" name="Footer Placeholder 7"/>
          <p:cNvSpPr>
            <a:spLocks noGrp="1"/>
          </p:cNvSpPr>
          <p:nvPr>
            <p:ph type="ftr" sz="quarter" idx="11"/>
          </p:nvPr>
        </p:nvSpPr>
        <p:spPr/>
        <p:txBody>
          <a:bodyPr/>
          <a:lstStyle/>
          <a:p>
            <a:r>
              <a:rPr lang="en-US"/>
              <a:t>KPR Institute of Engineering and Technology, Coimbatore, Tamil Nadu, India                                 </a:t>
            </a:r>
            <a:endParaRPr lang="en-IN"/>
          </a:p>
        </p:txBody>
      </p:sp>
      <p:sp>
        <p:nvSpPr>
          <p:cNvPr id="9" name="Slide Number Placeholder 8"/>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C5FA426-BEB7-472F-8249-22638D92CBE6}" type="datetime1">
              <a:rPr lang="en-IN" smtClean="0"/>
              <a:t>05-12-2025</a:t>
            </a:fld>
            <a:endParaRPr lang="en-IN"/>
          </a:p>
        </p:txBody>
      </p:sp>
      <p:sp>
        <p:nvSpPr>
          <p:cNvPr id="4" name="Footer Placeholder 3"/>
          <p:cNvSpPr>
            <a:spLocks noGrp="1"/>
          </p:cNvSpPr>
          <p:nvPr>
            <p:ph type="ftr" sz="quarter" idx="11"/>
          </p:nvPr>
        </p:nvSpPr>
        <p:spPr/>
        <p:txBody>
          <a:bodyPr/>
          <a:lstStyle/>
          <a:p>
            <a:r>
              <a:rPr lang="en-US"/>
              <a:t>KPR Institute of Engineering and Technology, Coimbatore, Tamil Nadu, India                                 </a:t>
            </a:r>
            <a:endParaRPr lang="en-IN"/>
          </a:p>
        </p:txBody>
      </p:sp>
      <p:sp>
        <p:nvSpPr>
          <p:cNvPr id="5" name="Slide Number Placeholder 4"/>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53BB7D-F34C-4240-89B5-56D0053A2B0C}" type="datetime1">
              <a:rPr lang="en-IN" smtClean="0"/>
              <a:t>05-12-2025</a:t>
            </a:fld>
            <a:endParaRPr lang="en-IN"/>
          </a:p>
        </p:txBody>
      </p:sp>
      <p:sp>
        <p:nvSpPr>
          <p:cNvPr id="3" name="Footer Placeholder 2"/>
          <p:cNvSpPr>
            <a:spLocks noGrp="1"/>
          </p:cNvSpPr>
          <p:nvPr>
            <p:ph type="ftr" sz="quarter" idx="11"/>
          </p:nvPr>
        </p:nvSpPr>
        <p:spPr/>
        <p:txBody>
          <a:bodyPr/>
          <a:lstStyle/>
          <a:p>
            <a:r>
              <a:rPr lang="en-US"/>
              <a:t>KPR Institute of Engineering and Technology, Coimbatore, Tamil Nadu, India                                 </a:t>
            </a:r>
            <a:endParaRPr lang="en-IN"/>
          </a:p>
        </p:txBody>
      </p:sp>
      <p:sp>
        <p:nvSpPr>
          <p:cNvPr id="4" name="Slide Number Placeholder 3"/>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45378C-8AB1-4EF5-9679-A13B64E09273}" type="datetime1">
              <a:rPr lang="en-IN" smtClean="0"/>
              <a:t>05-12-2025</a:t>
            </a:fld>
            <a:endParaRPr lang="en-IN"/>
          </a:p>
        </p:txBody>
      </p:sp>
      <p:sp>
        <p:nvSpPr>
          <p:cNvPr id="6" name="Footer Placeholder 5"/>
          <p:cNvSpPr>
            <a:spLocks noGrp="1"/>
          </p:cNvSpPr>
          <p:nvPr>
            <p:ph type="ftr" sz="quarter" idx="11"/>
          </p:nvPr>
        </p:nvSpPr>
        <p:spPr/>
        <p:txBody>
          <a:bodyPr/>
          <a:lstStyle/>
          <a:p>
            <a:r>
              <a:rPr lang="en-US"/>
              <a:t>KPR Institute of Engineering and Technology, Coimbatore, Tamil Nadu, India                                 </a:t>
            </a:r>
            <a:endParaRPr lang="en-IN"/>
          </a:p>
        </p:txBody>
      </p:sp>
      <p:sp>
        <p:nvSpPr>
          <p:cNvPr id="7" name="Slide Number Placeholder 6"/>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6C85D2-BCD6-4A84-A116-0C50DA52F90B}" type="datetime1">
              <a:rPr lang="en-IN" smtClean="0"/>
              <a:t>05-12-2025</a:t>
            </a:fld>
            <a:endParaRPr lang="en-IN"/>
          </a:p>
        </p:txBody>
      </p:sp>
      <p:sp>
        <p:nvSpPr>
          <p:cNvPr id="6" name="Footer Placeholder 5"/>
          <p:cNvSpPr>
            <a:spLocks noGrp="1"/>
          </p:cNvSpPr>
          <p:nvPr>
            <p:ph type="ftr" sz="quarter" idx="11"/>
          </p:nvPr>
        </p:nvSpPr>
        <p:spPr/>
        <p:txBody>
          <a:bodyPr/>
          <a:lstStyle/>
          <a:p>
            <a:r>
              <a:rPr lang="en-US"/>
              <a:t>KPR Institute of Engineering and Technology, Coimbatore, Tamil Nadu, India                                 </a:t>
            </a:r>
            <a:endParaRPr lang="en-IN"/>
          </a:p>
        </p:txBody>
      </p:sp>
      <p:sp>
        <p:nvSpPr>
          <p:cNvPr id="7" name="Slide Number Placeholder 6"/>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F7B3475-804F-4E03-8725-9E8143CC1520}" type="datetime1">
              <a:rPr lang="en-IN" smtClean="0"/>
              <a:t>05-12-2025</a:t>
            </a:fld>
            <a:endParaRPr lang="en-IN"/>
          </a:p>
        </p:txBody>
      </p:sp>
      <p:sp>
        <p:nvSpPr>
          <p:cNvPr id="5" name="Footer Placeholder 4"/>
          <p:cNvSpPr>
            <a:spLocks noGrp="1"/>
          </p:cNvSpPr>
          <p:nvPr>
            <p:ph type="ftr" sz="quarter" idx="11"/>
          </p:nvPr>
        </p:nvSpPr>
        <p:spPr/>
        <p:txBody>
          <a:bodyPr/>
          <a:lstStyle/>
          <a:p>
            <a:r>
              <a:rPr lang="en-US"/>
              <a:t>KPR Institute of Engineering and Technology, Coimbatore, Tamil Nadu, India                                 </a:t>
            </a:r>
            <a:endParaRPr lang="en-IN"/>
          </a:p>
        </p:txBody>
      </p:sp>
      <p:sp>
        <p:nvSpPr>
          <p:cNvPr id="6" name="Slide Number Placeholder 5"/>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953D4E8-3890-4EA9-92F8-C6E75521BB07}" type="datetime1">
              <a:rPr lang="en-IN" smtClean="0"/>
              <a:t>05-12-2025</a:t>
            </a:fld>
            <a:endParaRPr lang="en-IN"/>
          </a:p>
        </p:txBody>
      </p:sp>
      <p:sp>
        <p:nvSpPr>
          <p:cNvPr id="5" name="Footer Placeholder 4"/>
          <p:cNvSpPr>
            <a:spLocks noGrp="1"/>
          </p:cNvSpPr>
          <p:nvPr>
            <p:ph type="ftr" sz="quarter" idx="11"/>
          </p:nvPr>
        </p:nvSpPr>
        <p:spPr/>
        <p:txBody>
          <a:bodyPr/>
          <a:lstStyle/>
          <a:p>
            <a:r>
              <a:rPr lang="en-US"/>
              <a:t>KPR Institute of Engineering and Technology, Coimbatore, Tamil Nadu, India                                 </a:t>
            </a:r>
            <a:endParaRPr lang="en-IN"/>
          </a:p>
        </p:txBody>
      </p:sp>
      <p:sp>
        <p:nvSpPr>
          <p:cNvPr id="6" name="Slide Number Placeholder 5"/>
          <p:cNvSpPr>
            <a:spLocks noGrp="1"/>
          </p:cNvSpPr>
          <p:nvPr>
            <p:ph type="sldNum" sz="quarter" idx="12"/>
          </p:nvPr>
        </p:nvSpPr>
        <p:spPr/>
        <p:txBody>
          <a:bodyPr/>
          <a:lstStyle/>
          <a:p>
            <a:fld id="{F05959C8-B6F0-45AD-A47C-DA667F5A291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D61200-D5E0-4E9A-9EF8-3A5F9C7FA50E}" type="datetime1">
              <a:rPr lang="en-IN" smtClean="0"/>
              <a:t>05-12-2025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KPR Institute of Engineering and Technology, Coimbatore, Tamil Nadu, India                                 </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5959C8-B6F0-45AD-A47C-DA667F5A291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11" y="105713"/>
            <a:ext cx="12192000" cy="6858000"/>
          </a:xfrm>
          <a:prstGeom prst="rect">
            <a:avLst/>
          </a:prstGeom>
        </p:spPr>
      </p:pic>
      <p:sp>
        <p:nvSpPr>
          <p:cNvPr id="5" name="Footer Placeholder 4"/>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p:cNvSpPr>
            <a:spLocks noGrp="1"/>
          </p:cNvSpPr>
          <p:nvPr>
            <p:ph type="sldNum" sz="quarter" idx="12"/>
          </p:nvPr>
        </p:nvSpPr>
        <p:spPr>
          <a:xfrm>
            <a:off x="6696222" y="6318250"/>
            <a:ext cx="5185116" cy="365125"/>
          </a:xfrm>
        </p:spPr>
        <p:txBody>
          <a:bodyPr/>
          <a:lstStyle/>
          <a:p>
            <a:fld id="{4CA2BD28-9D1D-4795-9FB6-B4806A8D172B}" type="slidenum">
              <a:rPr lang="en-US" smtClean="0"/>
              <a:t>1</a:t>
            </a:fld>
            <a:endParaRPr lang="en-US" dirty="0"/>
          </a:p>
        </p:txBody>
      </p:sp>
      <p:sp>
        <p:nvSpPr>
          <p:cNvPr id="9" name="TextBox 8"/>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1229462" y="2486861"/>
            <a:ext cx="8994912" cy="1287275"/>
          </a:xfrm>
          <a:prstGeom prst="rect">
            <a:avLst/>
          </a:prstGeom>
          <a:noFill/>
        </p:spPr>
        <p:txBody>
          <a:bodyPr wrap="square" rtlCol="0">
            <a:spAutoFit/>
          </a:bodyPr>
          <a:lstStyle/>
          <a:p>
            <a:pPr algn="ctr">
              <a:lnSpc>
                <a:spcPct val="150000"/>
              </a:lnSpc>
            </a:pPr>
            <a:r>
              <a:rPr lang="en-US" sz="2800" dirty="0">
                <a:latin typeface="Times New Roman" panose="02020603050405020304" pitchFamily="18" charset="0"/>
                <a:cs typeface="Times New Roman" panose="02020603050405020304" pitchFamily="18" charset="0"/>
              </a:rPr>
              <a:t>Image-based Emotion-based Music recommendation system </a:t>
            </a:r>
          </a:p>
          <a:p>
            <a:pPr algn="ctr">
              <a:lnSpc>
                <a:spcPct val="150000"/>
              </a:lnSpc>
            </a:pPr>
            <a:r>
              <a:rPr lang="en-US" sz="2700" b="1" dirty="0">
                <a:solidFill>
                  <a:srgbClr val="FF0000"/>
                </a:solidFill>
                <a:latin typeface="Times New Roman" panose="02020603050405020304" pitchFamily="18" charset="0"/>
                <a:cs typeface="Times New Roman" panose="02020603050405020304" pitchFamily="18" charset="0"/>
              </a:rPr>
              <a:t>Domain : Computer vision</a:t>
            </a:r>
          </a:p>
        </p:txBody>
      </p:sp>
      <p:sp>
        <p:nvSpPr>
          <p:cNvPr id="11" name="TextBox 10"/>
          <p:cNvSpPr txBox="1"/>
          <p:nvPr/>
        </p:nvSpPr>
        <p:spPr>
          <a:xfrm>
            <a:off x="602730" y="4482636"/>
            <a:ext cx="5000567" cy="1569660"/>
          </a:xfrm>
          <a:prstGeom prst="rect">
            <a:avLst/>
          </a:prstGeom>
          <a:noFill/>
        </p:spPr>
        <p:txBody>
          <a:bodyPr wrap="square" rtlCol="0">
            <a:spAutoFit/>
          </a:bodyPr>
          <a:lstStyle/>
          <a:p>
            <a:r>
              <a:rPr lang="en-US" sz="2400" b="1" dirty="0">
                <a:solidFill>
                  <a:srgbClr val="2D4E90"/>
                </a:solidFill>
                <a:latin typeface="Times New Roman" panose="02020603050405020304" pitchFamily="18" charset="0"/>
                <a:cs typeface="Times New Roman" panose="02020603050405020304" pitchFamily="18" charset="0"/>
              </a:rPr>
              <a:t>TEAM MEMBERS : </a:t>
            </a:r>
          </a:p>
          <a:p>
            <a:endParaRPr lang="en-US" sz="2400" b="1" dirty="0">
              <a:solidFill>
                <a:srgbClr val="2D4E90"/>
              </a:solidFill>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22AM038 - MURUGAN B</a:t>
            </a:r>
          </a:p>
          <a:p>
            <a:r>
              <a:rPr lang="en-US" sz="2400" b="1" dirty="0">
                <a:latin typeface="Times New Roman" panose="02020603050405020304" pitchFamily="18" charset="0"/>
                <a:cs typeface="Times New Roman" panose="02020603050405020304" pitchFamily="18" charset="0"/>
              </a:rPr>
              <a:t>22AM067 - VIDHYA S</a:t>
            </a:r>
          </a:p>
        </p:txBody>
      </p:sp>
      <p:sp>
        <p:nvSpPr>
          <p:cNvPr id="12" name="TextBox 11"/>
          <p:cNvSpPr txBox="1"/>
          <p:nvPr/>
        </p:nvSpPr>
        <p:spPr>
          <a:xfrm>
            <a:off x="7117786" y="4393499"/>
            <a:ext cx="5000567" cy="1877437"/>
          </a:xfrm>
          <a:prstGeom prst="rect">
            <a:avLst/>
          </a:prstGeom>
          <a:noFill/>
        </p:spPr>
        <p:txBody>
          <a:bodyPr wrap="square" rtlCol="0">
            <a:spAutoFit/>
          </a:bodyPr>
          <a:lstStyle/>
          <a:p>
            <a:r>
              <a:rPr lang="en-US" sz="2400" b="1" dirty="0">
                <a:solidFill>
                  <a:srgbClr val="2D4E90"/>
                </a:solidFill>
                <a:latin typeface="Times New Roman" panose="02020603050405020304" pitchFamily="18" charset="0"/>
                <a:cs typeface="Times New Roman" panose="02020603050405020304" pitchFamily="18" charset="0"/>
              </a:rPr>
              <a:t>Batch no: 213</a:t>
            </a:r>
          </a:p>
          <a:p>
            <a:r>
              <a:rPr lang="en-US" sz="2400" b="1" dirty="0">
                <a:solidFill>
                  <a:srgbClr val="2D4E90"/>
                </a:solidFill>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Dr. BALAMURUGAN A</a:t>
            </a:r>
          </a:p>
          <a:p>
            <a:r>
              <a:rPr lang="en-IN" sz="2400" b="1" dirty="0">
                <a:latin typeface="Times New Roman" panose="02020603050405020304" pitchFamily="18" charset="0"/>
                <a:cs typeface="Times New Roman" panose="02020603050405020304" pitchFamily="18" charset="0"/>
              </a:rPr>
              <a:t>Computer Science &amp; Engineering</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7" name="Footer Placeholder 4"/>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pic>
        <p:nvPicPr>
          <p:cNvPr id="2056" name="Picture 8">
            <a:extLst>
              <a:ext uri="{FF2B5EF4-FFF2-40B4-BE49-F238E27FC236}">
                <a16:creationId xmlns:a16="http://schemas.microsoft.com/office/drawing/2014/main" id="{66FB1A73-9BFE-A9B7-28F3-F61C5634BD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80058" y="324057"/>
            <a:ext cx="1112135" cy="89059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146B2627-45B4-7CE4-C753-F58883537F24}"/>
              </a:ext>
            </a:extLst>
          </p:cNvPr>
          <p:cNvPicPr>
            <a:picLocks noChangeAspect="1"/>
          </p:cNvPicPr>
          <p:nvPr/>
        </p:nvPicPr>
        <p:blipFill>
          <a:blip r:embed="rId4"/>
          <a:stretch>
            <a:fillRect/>
          </a:stretch>
        </p:blipFill>
        <p:spPr>
          <a:xfrm>
            <a:off x="2830499" y="444425"/>
            <a:ext cx="5889757" cy="1841026"/>
          </a:xfrm>
          <a:prstGeom prst="rect">
            <a:avLst/>
          </a:prstGeom>
        </p:spPr>
      </p:pic>
    </p:spTree>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DDA1F-7CD1-7018-537F-C3C2AC804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743BE-EE6C-37E2-DE26-D870B6C11D5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A660BD2A-619A-8C4C-6281-C6F4814DC9F8}"/>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0BD2A86E-050F-4F6E-3485-6C98A66B9C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E62440B8-B630-8B28-C48C-BA55CF474168}"/>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00D468AC-8394-7945-A131-B7FFC3257DA2}"/>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a:t>
            </a:fld>
            <a:endParaRPr lang="en-US" dirty="0"/>
          </a:p>
        </p:txBody>
      </p:sp>
      <p:sp>
        <p:nvSpPr>
          <p:cNvPr id="9" name="TextBox 8">
            <a:extLst>
              <a:ext uri="{FF2B5EF4-FFF2-40B4-BE49-F238E27FC236}">
                <a16:creationId xmlns:a16="http://schemas.microsoft.com/office/drawing/2014/main" id="{A1685DFA-34F0-4FA0-A7FF-7982DFFA12A7}"/>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BA8C5DDE-F4F0-5A3E-CD68-A6EE33CC64FA}"/>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41F6365C-436A-D2F1-1E40-FB29AC095416}"/>
              </a:ext>
            </a:extLst>
          </p:cNvPr>
          <p:cNvSpPr txBox="1"/>
          <p:nvPr/>
        </p:nvSpPr>
        <p:spPr>
          <a:xfrm>
            <a:off x="4636823" y="699730"/>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OBJECTIVES</a:t>
            </a:r>
          </a:p>
        </p:txBody>
      </p:sp>
      <p:sp>
        <p:nvSpPr>
          <p:cNvPr id="16" name="TextBox 15">
            <a:extLst>
              <a:ext uri="{FF2B5EF4-FFF2-40B4-BE49-F238E27FC236}">
                <a16:creationId xmlns:a16="http://schemas.microsoft.com/office/drawing/2014/main" id="{18AEB8B9-EBC4-A3D1-B25C-CB95AE63FEF5}"/>
              </a:ext>
            </a:extLst>
          </p:cNvPr>
          <p:cNvSpPr txBox="1"/>
          <p:nvPr/>
        </p:nvSpPr>
        <p:spPr>
          <a:xfrm>
            <a:off x="1061465" y="1783957"/>
            <a:ext cx="9629997" cy="2862322"/>
          </a:xfrm>
          <a:prstGeom prst="rect">
            <a:avLst/>
          </a:prstGeom>
          <a:noFill/>
        </p:spPr>
        <p:txBody>
          <a:bodyPr wrap="square">
            <a:spAutoFit/>
          </a:bodyPr>
          <a:lstStyle/>
          <a:p>
            <a:pPr marL="285750" indent="-285750">
              <a:buFont typeface="Arial" panose="020B0604020202020204" pitchFamily="34" charset="0"/>
              <a:buChar char="•"/>
            </a:pPr>
            <a:r>
              <a:rPr lang="en-US" sz="2000" dirty="0"/>
              <a:t>Overcome irrelevant music suggestions on streaming platforms.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Recognize the user’s mood through facial emotion detection.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Understand the user’s environment using scene and weather analysis.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Recommend songs that match the user’s mood and surroundings.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Enhance the user’s music experience through personalization.</a:t>
            </a:r>
          </a:p>
        </p:txBody>
      </p:sp>
      <p:pic>
        <p:nvPicPr>
          <p:cNvPr id="4098" name="Picture 2">
            <a:extLst>
              <a:ext uri="{FF2B5EF4-FFF2-40B4-BE49-F238E27FC236}">
                <a16:creationId xmlns:a16="http://schemas.microsoft.com/office/drawing/2014/main" id="{C2E5476B-7CD7-4297-B4C6-7164D5E0E2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39434"/>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BCD89-CB7F-9520-BC55-6B2B6EEA5F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31A56-7DB3-DBE9-32AD-FD424B235F9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30C5EFF-C7F6-B30D-37CE-1351FBAF89E9}"/>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47B336A8-5CA8-F9F6-F054-04F83169C9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77180"/>
            <a:ext cx="12192000" cy="6858000"/>
          </a:xfrm>
          <a:prstGeom prst="rect">
            <a:avLst/>
          </a:prstGeom>
        </p:spPr>
      </p:pic>
      <p:sp>
        <p:nvSpPr>
          <p:cNvPr id="5" name="Footer Placeholder 4">
            <a:extLst>
              <a:ext uri="{FF2B5EF4-FFF2-40B4-BE49-F238E27FC236}">
                <a16:creationId xmlns:a16="http://schemas.microsoft.com/office/drawing/2014/main" id="{4486D1F9-F409-6E3C-1B86-026DE065B2A6}"/>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D0FF75C3-181B-2595-9F68-C0FEE8C9E245}"/>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3</a:t>
            </a:fld>
            <a:endParaRPr lang="en-US" dirty="0"/>
          </a:p>
        </p:txBody>
      </p:sp>
      <p:sp>
        <p:nvSpPr>
          <p:cNvPr id="9" name="TextBox 8">
            <a:extLst>
              <a:ext uri="{FF2B5EF4-FFF2-40B4-BE49-F238E27FC236}">
                <a16:creationId xmlns:a16="http://schemas.microsoft.com/office/drawing/2014/main" id="{5F19A7F6-F3B1-C5B3-8566-BB690DC54C4A}"/>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6B5CA5E7-B024-7721-0AFC-BC3AB34DB6EF}"/>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F1DE11E9-3500-4A52-5DBA-91FA1F529887}"/>
              </a:ext>
            </a:extLst>
          </p:cNvPr>
          <p:cNvSpPr txBox="1"/>
          <p:nvPr/>
        </p:nvSpPr>
        <p:spPr>
          <a:xfrm>
            <a:off x="4199943" y="385436"/>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SOLUTIONS</a:t>
            </a:r>
          </a:p>
        </p:txBody>
      </p:sp>
      <p:sp>
        <p:nvSpPr>
          <p:cNvPr id="16" name="TextBox 15">
            <a:extLst>
              <a:ext uri="{FF2B5EF4-FFF2-40B4-BE49-F238E27FC236}">
                <a16:creationId xmlns:a16="http://schemas.microsoft.com/office/drawing/2014/main" id="{ECAECF60-C640-8974-5DAF-2B5551AB298C}"/>
              </a:ext>
            </a:extLst>
          </p:cNvPr>
          <p:cNvSpPr txBox="1"/>
          <p:nvPr/>
        </p:nvSpPr>
        <p:spPr>
          <a:xfrm>
            <a:off x="481048" y="1000731"/>
            <a:ext cx="10606840" cy="4708981"/>
          </a:xfrm>
          <a:prstGeom prst="rect">
            <a:avLst/>
          </a:prstGeom>
          <a:noFill/>
        </p:spPr>
        <p:txBody>
          <a:bodyPr wrap="square">
            <a:spAutoFit/>
          </a:bodyPr>
          <a:lstStyle/>
          <a:p>
            <a:r>
              <a:rPr lang="en-US" sz="2000" b="1" dirty="0"/>
              <a:t>M. M. Joseph, D. </a:t>
            </a:r>
            <a:r>
              <a:rPr lang="en-US" sz="2000" b="1" dirty="0" err="1"/>
              <a:t>Treessa</a:t>
            </a:r>
            <a:r>
              <a:rPr lang="en-US" sz="2000" b="1" dirty="0"/>
              <a:t> Varghese, L. </a:t>
            </a:r>
            <a:r>
              <a:rPr lang="en-US" sz="2000" b="1" dirty="0" err="1"/>
              <a:t>Sadath</a:t>
            </a:r>
            <a:r>
              <a:rPr lang="en-US" sz="2000" b="1" dirty="0"/>
              <a:t> and V. P. Mishra, "Emotion Based Music Recommendation System," 2023 International Conference on Computational Intelligence and Knowledge Economy (ICCIKE), Dubai, United Arab Emirates, 2023, pp. 505-510, </a:t>
            </a:r>
            <a:r>
              <a:rPr lang="en-US" sz="2000" b="1" dirty="0" err="1"/>
              <a:t>doi</a:t>
            </a:r>
            <a:r>
              <a:rPr lang="en-US" sz="2000" b="1" dirty="0"/>
              <a:t>: 10.1109/ICCIKE58312.2023.10131874. </a:t>
            </a:r>
          </a:p>
          <a:p>
            <a:endParaRPr lang="en-US" sz="2000" dirty="0"/>
          </a:p>
          <a:p>
            <a:pPr marL="342900" indent="-342900">
              <a:buFont typeface="Arial" panose="020B0604020202020204" pitchFamily="34" charset="0"/>
              <a:buChar char="•"/>
            </a:pPr>
            <a:r>
              <a:rPr lang="en-US" sz="2000" dirty="0"/>
              <a:t>Developed an emotion-based music recommendation system using CNN for facial expression recognition and deep learning.</a:t>
            </a:r>
          </a:p>
          <a:p>
            <a:pPr marL="342900" indent="-342900">
              <a:buFont typeface="Arial" panose="020B0604020202020204" pitchFamily="34" charset="0"/>
              <a:buChar char="•"/>
            </a:pPr>
            <a:r>
              <a:rPr lang="en-US" sz="2000" dirty="0"/>
              <a:t>Trained a CNN model using </a:t>
            </a:r>
            <a:r>
              <a:rPr lang="en-US" sz="2000" dirty="0" err="1"/>
              <a:t>Keras</a:t>
            </a:r>
            <a:r>
              <a:rPr lang="en-US" sz="2000" dirty="0"/>
              <a:t> to classify emotions (happy, sad, angry, neutral, surprise, etc.) from the captured facial expressions.</a:t>
            </a:r>
          </a:p>
          <a:p>
            <a:pPr marL="342900" indent="-342900">
              <a:buFont typeface="Arial" panose="020B0604020202020204" pitchFamily="34" charset="0"/>
              <a:buChar char="•"/>
            </a:pPr>
            <a:r>
              <a:rPr lang="en-US" sz="2000" dirty="0"/>
              <a:t>Deployed the trained model (</a:t>
            </a:r>
            <a:r>
              <a:rPr lang="en-US" dirty="0"/>
              <a:t>model.h5</a:t>
            </a:r>
            <a:r>
              <a:rPr lang="en-US" sz="2000" dirty="0"/>
              <a:t>) in a </a:t>
            </a:r>
            <a:r>
              <a:rPr lang="en-US" sz="2000" dirty="0" err="1"/>
              <a:t>Streamlit</a:t>
            </a:r>
            <a:r>
              <a:rPr lang="en-US" sz="2000" dirty="0"/>
              <a:t> web app integrated with WebRTC for live emotion detection and user input (language, singer).</a:t>
            </a:r>
          </a:p>
          <a:p>
            <a:pPr marL="342900" indent="-342900">
              <a:buFont typeface="Arial" panose="020B0604020202020204" pitchFamily="34" charset="0"/>
              <a:buChar char="•"/>
            </a:pPr>
            <a:r>
              <a:rPr lang="en-US" sz="2000" dirty="0"/>
              <a:t>Recommended songs by generating YouTube URLs dynamically based on detected emotion, preferred language, and singer, redirecting the user to the appropriate playlist.</a:t>
            </a:r>
          </a:p>
          <a:p>
            <a:pPr marL="342900" indent="-342900">
              <a:buFont typeface="Arial" panose="020B0604020202020204" pitchFamily="34" charset="0"/>
              <a:buChar char="•"/>
            </a:pPr>
            <a:r>
              <a:rPr lang="en-US" sz="2000" dirty="0"/>
              <a:t>Front-end interface displayed personalized music suggestions automatically, enhancing user experience and reducing effort in choosing songs.</a:t>
            </a:r>
          </a:p>
        </p:txBody>
      </p:sp>
      <p:pic>
        <p:nvPicPr>
          <p:cNvPr id="4098" name="Picture 2">
            <a:extLst>
              <a:ext uri="{FF2B5EF4-FFF2-40B4-BE49-F238E27FC236}">
                <a16:creationId xmlns:a16="http://schemas.microsoft.com/office/drawing/2014/main" id="{619EF0D8-63DB-6340-F451-1A0E613EFA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932768"/>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714EE-E4F5-A786-8FD4-81AC537DC9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518B6E-F3C9-90EC-9AF7-6403C6C54161}"/>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AF8E960A-53F4-607B-881C-E74E738F9812}"/>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3B4EF175-FA31-7363-F536-1C44943150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514B8649-668D-2596-9A89-20664594B554}"/>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09C9EC23-399F-7CB7-7EF6-DBC3F7DFC0CE}"/>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4</a:t>
            </a:fld>
            <a:endParaRPr lang="en-US" dirty="0"/>
          </a:p>
        </p:txBody>
      </p:sp>
      <p:sp>
        <p:nvSpPr>
          <p:cNvPr id="9" name="TextBox 8">
            <a:extLst>
              <a:ext uri="{FF2B5EF4-FFF2-40B4-BE49-F238E27FC236}">
                <a16:creationId xmlns:a16="http://schemas.microsoft.com/office/drawing/2014/main" id="{C204EA3B-C4D1-594D-DBF9-39CE5DB073DE}"/>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D4191134-BD97-B870-6873-8B0647708263}"/>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FB84F5B5-E457-1F4D-CBDC-3BE3D347A86D}"/>
              </a:ext>
            </a:extLst>
          </p:cNvPr>
          <p:cNvSpPr txBox="1"/>
          <p:nvPr/>
        </p:nvSpPr>
        <p:spPr>
          <a:xfrm>
            <a:off x="4199943" y="385436"/>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SOLUTIONS</a:t>
            </a:r>
          </a:p>
        </p:txBody>
      </p:sp>
      <p:sp>
        <p:nvSpPr>
          <p:cNvPr id="16" name="TextBox 15">
            <a:extLst>
              <a:ext uri="{FF2B5EF4-FFF2-40B4-BE49-F238E27FC236}">
                <a16:creationId xmlns:a16="http://schemas.microsoft.com/office/drawing/2014/main" id="{DD8796BB-641B-82D9-B8AD-6266B0542B3C}"/>
              </a:ext>
            </a:extLst>
          </p:cNvPr>
          <p:cNvSpPr txBox="1"/>
          <p:nvPr/>
        </p:nvSpPr>
        <p:spPr>
          <a:xfrm>
            <a:off x="481048" y="1000731"/>
            <a:ext cx="10606840" cy="5016758"/>
          </a:xfrm>
          <a:prstGeom prst="rect">
            <a:avLst/>
          </a:prstGeom>
          <a:noFill/>
        </p:spPr>
        <p:txBody>
          <a:bodyPr wrap="square">
            <a:spAutoFit/>
          </a:bodyPr>
          <a:lstStyle/>
          <a:p>
            <a:r>
              <a:rPr lang="en-US" sz="2000" b="1" dirty="0"/>
              <a:t>O. Chandraumakantham, N. Gowtham, M. Zakariah and A. </a:t>
            </a:r>
            <a:r>
              <a:rPr lang="en-US" sz="2000" b="1" dirty="0" err="1"/>
              <a:t>Almazyad</a:t>
            </a:r>
            <a:r>
              <a:rPr lang="en-US" sz="2000" b="1" dirty="0"/>
              <a:t>, "Multimodal Emotion Recognition Using Feature Fusion: An LLM-Based Approach," in IEEE Access, vol. 12, pp. 108052-108071, 2024, </a:t>
            </a:r>
            <a:r>
              <a:rPr lang="en-US" sz="2000" b="1" dirty="0" err="1"/>
              <a:t>doi</a:t>
            </a:r>
            <a:r>
              <a:rPr lang="en-US" sz="2000" b="1" dirty="0"/>
              <a:t>: 10.1109/ACCESS.2024.3425953.</a:t>
            </a:r>
          </a:p>
          <a:p>
            <a:r>
              <a:rPr lang="en-US" sz="2000" b="1" dirty="0"/>
              <a:t>keywords:</a:t>
            </a:r>
          </a:p>
          <a:p>
            <a:endParaRPr lang="en-US" sz="2000" dirty="0"/>
          </a:p>
          <a:p>
            <a:pPr marL="342900" indent="-342900">
              <a:buFont typeface="Arial" panose="020B0604020202020204" pitchFamily="34" charset="0"/>
              <a:buChar char="•"/>
            </a:pPr>
            <a:r>
              <a:rPr lang="en-US" sz="2000" dirty="0"/>
              <a:t>Proposed a multimodal emotion recognition system using early-fusion of audio, visual, and text features, leveraging rule-based systems to convert non-verbal cues into text.</a:t>
            </a:r>
          </a:p>
          <a:p>
            <a:pPr marL="342900" indent="-342900">
              <a:buFont typeface="Arial" panose="020B0604020202020204" pitchFamily="34" charset="0"/>
              <a:buChar char="•"/>
            </a:pPr>
            <a:r>
              <a:rPr lang="en-US" sz="2000" dirty="0"/>
              <a:t>Extracted audio features (loudness, spectral flux, MFCCs, pitch stability/emphasis) using </a:t>
            </a:r>
            <a:r>
              <a:rPr lang="en-US" sz="2000" dirty="0" err="1"/>
              <a:t>Librosa</a:t>
            </a:r>
            <a:r>
              <a:rPr lang="en-US" sz="2000" dirty="0"/>
              <a:t> and </a:t>
            </a:r>
            <a:r>
              <a:rPr lang="en-US" sz="2000" dirty="0" err="1"/>
              <a:t>OpenSMILE</a:t>
            </a:r>
            <a:r>
              <a:rPr lang="en-US" sz="2000" dirty="0"/>
              <a:t>, and visual features (facial action units) using </a:t>
            </a:r>
            <a:r>
              <a:rPr lang="en-US" sz="2000" dirty="0" err="1"/>
              <a:t>PyFEAT</a:t>
            </a:r>
            <a:r>
              <a:rPr lang="en-US" sz="2000" dirty="0"/>
              <a:t>.</a:t>
            </a:r>
          </a:p>
          <a:p>
            <a:pPr marL="342900" indent="-342900">
              <a:buFont typeface="Arial" panose="020B0604020202020204" pitchFamily="34" charset="0"/>
              <a:buChar char="•"/>
            </a:pPr>
            <a:r>
              <a:rPr lang="en-US" sz="2000" dirty="0"/>
              <a:t>Fine-tuned the pre-trained </a:t>
            </a:r>
            <a:r>
              <a:rPr lang="en-US" sz="2000" dirty="0" err="1"/>
              <a:t>DistilRoBERTa</a:t>
            </a:r>
            <a:r>
              <a:rPr lang="en-US" sz="2000" dirty="0"/>
              <a:t> LLM on the textual representation of audio-visual features for 7-class emotion classification.</a:t>
            </a:r>
          </a:p>
          <a:p>
            <a:pPr marL="342900" indent="-342900">
              <a:buFont typeface="Arial" panose="020B0604020202020204" pitchFamily="34" charset="0"/>
              <a:buChar char="•"/>
            </a:pPr>
            <a:r>
              <a:rPr lang="en-US" sz="2000" dirty="0"/>
              <a:t>Evaluated on RAVDESS and BAUM-1 datasets, achieving high accuracy (93.18% and 93.69% respectively), comparable to or surpassing state-of-the-art methods.</a:t>
            </a:r>
          </a:p>
          <a:p>
            <a:pPr marL="342900" indent="-342900">
              <a:buFont typeface="Arial" panose="020B0604020202020204" pitchFamily="34" charset="0"/>
              <a:buChar char="•"/>
            </a:pPr>
            <a:r>
              <a:rPr lang="en-US" sz="2000" dirty="0"/>
              <a:t>System allows scalability for additional modalities and demonstrates robust multimodal emotion recognition with early-fusion LLMs, offering potential for comprehensive human emotion analysis.</a:t>
            </a:r>
          </a:p>
        </p:txBody>
      </p:sp>
      <p:pic>
        <p:nvPicPr>
          <p:cNvPr id="4098" name="Picture 2">
            <a:extLst>
              <a:ext uri="{FF2B5EF4-FFF2-40B4-BE49-F238E27FC236}">
                <a16:creationId xmlns:a16="http://schemas.microsoft.com/office/drawing/2014/main" id="{240BA1FE-9789-84C1-58EE-8A66150C95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3031329"/>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BC2F8-284B-0312-D903-9773CA28F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1BE3E-1334-8D20-47F5-B839B0312B39}"/>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68A9D293-B79F-F398-9D4A-F24532EADF31}"/>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D9BCBA92-53EC-6A1C-139B-8905414105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960785FD-655D-45FD-F6F8-248AE413AA00}"/>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7812B75A-878D-ABA9-5B98-EF0C252ECACB}"/>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5</a:t>
            </a:fld>
            <a:endParaRPr lang="en-US" dirty="0"/>
          </a:p>
        </p:txBody>
      </p:sp>
      <p:sp>
        <p:nvSpPr>
          <p:cNvPr id="9" name="TextBox 8">
            <a:extLst>
              <a:ext uri="{FF2B5EF4-FFF2-40B4-BE49-F238E27FC236}">
                <a16:creationId xmlns:a16="http://schemas.microsoft.com/office/drawing/2014/main" id="{66B1B142-51A6-4381-A465-C8962AFC9163}"/>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39496265-D603-B5E0-F51C-595DC0FB6EE0}"/>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0F54C016-6931-9850-3C2F-9727AA9DA694}"/>
              </a:ext>
            </a:extLst>
          </p:cNvPr>
          <p:cNvSpPr txBox="1"/>
          <p:nvPr/>
        </p:nvSpPr>
        <p:spPr>
          <a:xfrm>
            <a:off x="4199943" y="385436"/>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SOLUTIONS</a:t>
            </a:r>
          </a:p>
        </p:txBody>
      </p:sp>
      <p:sp>
        <p:nvSpPr>
          <p:cNvPr id="16" name="TextBox 15">
            <a:extLst>
              <a:ext uri="{FF2B5EF4-FFF2-40B4-BE49-F238E27FC236}">
                <a16:creationId xmlns:a16="http://schemas.microsoft.com/office/drawing/2014/main" id="{EC85F9BE-9D38-E0B9-5010-C8B21A87C6B4}"/>
              </a:ext>
            </a:extLst>
          </p:cNvPr>
          <p:cNvSpPr txBox="1"/>
          <p:nvPr/>
        </p:nvSpPr>
        <p:spPr>
          <a:xfrm>
            <a:off x="496813" y="1309360"/>
            <a:ext cx="10606840" cy="4401205"/>
          </a:xfrm>
          <a:prstGeom prst="rect">
            <a:avLst/>
          </a:prstGeom>
          <a:noFill/>
        </p:spPr>
        <p:txBody>
          <a:bodyPr wrap="square">
            <a:spAutoFit/>
          </a:bodyPr>
          <a:lstStyle/>
          <a:p>
            <a:r>
              <a:rPr lang="en-US" sz="2000" b="1" dirty="0"/>
              <a:t>X. Wang, "Research on Music Intelligent Recommendation System Based on Spark Framework and Hybrid Algorithm," 2022 6th Asian Conference on Artificial Intelligence Technology (ACAIT), Changzhou, China, 2022, pp. 1-4, </a:t>
            </a:r>
            <a:r>
              <a:rPr lang="en-US" sz="2000" b="1" dirty="0" err="1"/>
              <a:t>doi</a:t>
            </a:r>
            <a:r>
              <a:rPr lang="en-US" sz="2000" b="1" dirty="0"/>
              <a:t>: 10.1109/ACAIT56212.2022.10138008.</a:t>
            </a:r>
          </a:p>
          <a:p>
            <a:endParaRPr lang="en-US" sz="2000" dirty="0"/>
          </a:p>
          <a:p>
            <a:pPr marL="342900" indent="-342900">
              <a:buFont typeface="Arial" panose="020B0604020202020204" pitchFamily="34" charset="0"/>
              <a:buChar char="•"/>
            </a:pPr>
            <a:r>
              <a:rPr lang="en-US" sz="2000" dirty="0"/>
              <a:t>Proposed a </a:t>
            </a:r>
            <a:r>
              <a:rPr lang="en-US" sz="2000" b="1" dirty="0"/>
              <a:t>hybrid music recommendation algorithm</a:t>
            </a:r>
            <a:r>
              <a:rPr lang="en-US" sz="2000" dirty="0"/>
              <a:t> combining </a:t>
            </a:r>
            <a:r>
              <a:rPr lang="en-US" sz="2000" i="1" dirty="0"/>
              <a:t>Collaborative Filtering (CF)</a:t>
            </a:r>
            <a:r>
              <a:rPr lang="en-US" sz="2000" dirty="0"/>
              <a:t> and </a:t>
            </a:r>
            <a:r>
              <a:rPr lang="en-US" sz="2000" i="1" dirty="0"/>
              <a:t>Tag-based</a:t>
            </a:r>
            <a:r>
              <a:rPr lang="en-US" sz="2000" dirty="0"/>
              <a:t> methods for improved accuracy in music education systems.</a:t>
            </a:r>
          </a:p>
          <a:p>
            <a:pPr marL="342900" indent="-342900">
              <a:buFont typeface="Arial" panose="020B0604020202020204" pitchFamily="34" charset="0"/>
              <a:buChar char="•"/>
            </a:pPr>
            <a:r>
              <a:rPr lang="en-US" sz="2000" dirty="0"/>
              <a:t>Introduced a </a:t>
            </a:r>
            <a:r>
              <a:rPr lang="en-US" sz="2000" b="1" dirty="0"/>
              <a:t>dynamic Jaccard coefficient</a:t>
            </a:r>
            <a:r>
              <a:rPr lang="en-US" sz="2000" dirty="0"/>
              <a:t> and </a:t>
            </a:r>
            <a:r>
              <a:rPr lang="en-US" sz="2000" b="1" dirty="0"/>
              <a:t>time-weight factor</a:t>
            </a:r>
            <a:r>
              <a:rPr lang="en-US" sz="2000" dirty="0"/>
              <a:t> to adjust similarity and capture users’ changing music preferences.</a:t>
            </a:r>
          </a:p>
          <a:p>
            <a:pPr marL="342900" indent="-342900">
              <a:buFont typeface="Arial" panose="020B0604020202020204" pitchFamily="34" charset="0"/>
              <a:buChar char="•"/>
            </a:pPr>
            <a:r>
              <a:rPr lang="en-US" sz="2000" dirty="0"/>
              <a:t>Implemented on a </a:t>
            </a:r>
            <a:r>
              <a:rPr lang="en-US" sz="2000" b="1" dirty="0"/>
              <a:t>Spark framework</a:t>
            </a:r>
            <a:r>
              <a:rPr lang="en-US" sz="2000" dirty="0"/>
              <a:t> integrated with Hadoop for distributed data processing and real-time recommendation generation.</a:t>
            </a:r>
          </a:p>
          <a:p>
            <a:pPr marL="342900" indent="-342900">
              <a:buFont typeface="Arial" panose="020B0604020202020204" pitchFamily="34" charset="0"/>
              <a:buChar char="•"/>
            </a:pPr>
            <a:r>
              <a:rPr lang="en-US" sz="2000" dirty="0"/>
              <a:t>Used a </a:t>
            </a:r>
            <a:r>
              <a:rPr lang="en-US" sz="2000" b="1" dirty="0"/>
              <a:t>subset of the Million Song Dataset</a:t>
            </a:r>
            <a:r>
              <a:rPr lang="en-US" sz="2000" dirty="0"/>
              <a:t> (500 users, 5000 songs) containing listening and purchase behavior records.</a:t>
            </a:r>
          </a:p>
          <a:p>
            <a:pPr marL="342900" indent="-342900">
              <a:buFont typeface="Arial" panose="020B0604020202020204" pitchFamily="34" charset="0"/>
              <a:buChar char="•"/>
            </a:pPr>
            <a:r>
              <a:rPr lang="en-US" sz="2000" dirty="0"/>
              <a:t>Designed a </a:t>
            </a:r>
            <a:r>
              <a:rPr lang="en-US" sz="2000" b="1" dirty="0"/>
              <a:t>front-end interface</a:t>
            </a:r>
            <a:r>
              <a:rPr lang="en-US" sz="2000" dirty="0"/>
              <a:t> displaying personalized song recommendations (title, artist, album, duration) stored in MySQL for interactive music education.</a:t>
            </a:r>
          </a:p>
        </p:txBody>
      </p:sp>
      <p:pic>
        <p:nvPicPr>
          <p:cNvPr id="4098" name="Picture 2">
            <a:extLst>
              <a:ext uri="{FF2B5EF4-FFF2-40B4-BE49-F238E27FC236}">
                <a16:creationId xmlns:a16="http://schemas.microsoft.com/office/drawing/2014/main" id="{54C774C6-BE1E-03C7-8EF2-E8A06EE64C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032463"/>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E6C22-5D17-55BB-4877-0DBB8C410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C03E8-5BB0-D005-149C-293728891EF3}"/>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DA20AC7-61D3-9A64-3999-38099D203D9A}"/>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AC1B2D21-E311-8961-AE47-CD3D7BFE86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F8C7FA3F-1CF3-E3B6-9993-0971F0C6B07C}"/>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6428520D-7534-5C07-6DE8-CACC6562992D}"/>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6</a:t>
            </a:fld>
            <a:endParaRPr lang="en-US" dirty="0"/>
          </a:p>
        </p:txBody>
      </p:sp>
      <p:sp>
        <p:nvSpPr>
          <p:cNvPr id="9" name="TextBox 8">
            <a:extLst>
              <a:ext uri="{FF2B5EF4-FFF2-40B4-BE49-F238E27FC236}">
                <a16:creationId xmlns:a16="http://schemas.microsoft.com/office/drawing/2014/main" id="{7AC480AD-E70C-6684-09B7-809220071A98}"/>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BDB76500-BFB7-837A-117F-C1427C92E508}"/>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7904CCA0-715A-0774-CB10-FF99780EBDBC}"/>
              </a:ext>
            </a:extLst>
          </p:cNvPr>
          <p:cNvSpPr txBox="1"/>
          <p:nvPr/>
        </p:nvSpPr>
        <p:spPr>
          <a:xfrm>
            <a:off x="4199943" y="385436"/>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SOLUTIONS</a:t>
            </a:r>
          </a:p>
        </p:txBody>
      </p:sp>
      <p:sp>
        <p:nvSpPr>
          <p:cNvPr id="16" name="TextBox 15">
            <a:extLst>
              <a:ext uri="{FF2B5EF4-FFF2-40B4-BE49-F238E27FC236}">
                <a16:creationId xmlns:a16="http://schemas.microsoft.com/office/drawing/2014/main" id="{563EB019-F540-2544-4758-43F05571F01B}"/>
              </a:ext>
            </a:extLst>
          </p:cNvPr>
          <p:cNvSpPr txBox="1"/>
          <p:nvPr/>
        </p:nvSpPr>
        <p:spPr>
          <a:xfrm>
            <a:off x="640243" y="1405600"/>
            <a:ext cx="10606840" cy="4093428"/>
          </a:xfrm>
          <a:prstGeom prst="rect">
            <a:avLst/>
          </a:prstGeom>
          <a:noFill/>
        </p:spPr>
        <p:txBody>
          <a:bodyPr wrap="square">
            <a:spAutoFit/>
          </a:bodyPr>
          <a:lstStyle/>
          <a:p>
            <a:r>
              <a:rPr lang="en-US" sz="2000" b="1" dirty="0"/>
              <a:t>M. S. </a:t>
            </a:r>
            <a:r>
              <a:rPr lang="en-US" sz="2000" b="1" dirty="0" err="1"/>
              <a:t>Guthula</a:t>
            </a:r>
            <a:r>
              <a:rPr lang="en-US" sz="2000" b="1" dirty="0"/>
              <a:t> and M. Bordoloi, "Music Recommendation System Using Facial Detection Based Emotion Analysis," 2024 International Conference on Emerging Techniques in Computational Intelligence (ICETCI), Hyderabad, India, 2024, pp. 296-301, </a:t>
            </a:r>
            <a:r>
              <a:rPr lang="en-US" sz="2000" b="1" dirty="0" err="1"/>
              <a:t>doi</a:t>
            </a:r>
            <a:r>
              <a:rPr lang="en-US" sz="2000" b="1" dirty="0"/>
              <a:t>: 10.1109/ICETCI62771.2024.10704201.</a:t>
            </a:r>
          </a:p>
          <a:p>
            <a:endParaRPr lang="en-US" sz="2000" dirty="0"/>
          </a:p>
          <a:p>
            <a:pPr marL="342900" indent="-342900">
              <a:buFont typeface="Arial" panose="020B0604020202020204" pitchFamily="34" charset="0"/>
              <a:buChar char="•"/>
            </a:pPr>
            <a:r>
              <a:rPr lang="en-US" sz="2000" dirty="0"/>
              <a:t>Utilized the </a:t>
            </a:r>
            <a:r>
              <a:rPr lang="en-US" sz="2000" b="1" dirty="0"/>
              <a:t>FER2013 dataset</a:t>
            </a:r>
            <a:r>
              <a:rPr lang="en-US" sz="2000" dirty="0"/>
              <a:t> (35,000 facial images) to train the model for </a:t>
            </a:r>
            <a:r>
              <a:rPr lang="en-US" sz="2000" b="1" dirty="0"/>
              <a:t>seven emotions</a:t>
            </a:r>
            <a:r>
              <a:rPr lang="en-US" sz="2000" dirty="0"/>
              <a:t> – happy, sad, angry, disgust, fear, surprise, and neutral.</a:t>
            </a:r>
          </a:p>
          <a:p>
            <a:pPr marL="342900" indent="-342900">
              <a:buFont typeface="Arial" panose="020B0604020202020204" pitchFamily="34" charset="0"/>
              <a:buChar char="•"/>
            </a:pPr>
            <a:r>
              <a:rPr lang="en-US" sz="2000" dirty="0"/>
              <a:t>Implemented </a:t>
            </a:r>
            <a:r>
              <a:rPr lang="en-US" sz="2000" b="1" dirty="0"/>
              <a:t>Haar Cascade</a:t>
            </a:r>
            <a:r>
              <a:rPr lang="en-US" sz="2000" dirty="0"/>
              <a:t> for face detection and </a:t>
            </a:r>
            <a:r>
              <a:rPr lang="en-US" sz="2000" b="1" dirty="0"/>
              <a:t>CNN</a:t>
            </a:r>
            <a:r>
              <a:rPr lang="en-US" sz="2000" dirty="0"/>
              <a:t> for emotion classification, followed by emotion-music mapping based on pitch, tempo, and volume.</a:t>
            </a:r>
          </a:p>
          <a:p>
            <a:pPr marL="342900" indent="-342900">
              <a:buFont typeface="Arial" panose="020B0604020202020204" pitchFamily="34" charset="0"/>
              <a:buChar char="•"/>
            </a:pPr>
            <a:r>
              <a:rPr lang="en-US" sz="2000" dirty="0"/>
              <a:t>Created a </a:t>
            </a:r>
            <a:r>
              <a:rPr lang="en-US" sz="2000" b="1" dirty="0"/>
              <a:t>web-based interface</a:t>
            </a:r>
            <a:r>
              <a:rPr lang="en-US" sz="2000" dirty="0"/>
              <a:t> for real-time video capture, live emotion recognition, and instant music recommendation.</a:t>
            </a:r>
          </a:p>
          <a:p>
            <a:pPr marL="342900" indent="-342900">
              <a:buFont typeface="Arial" panose="020B0604020202020204" pitchFamily="34" charset="0"/>
              <a:buChar char="•"/>
            </a:pPr>
            <a:r>
              <a:rPr lang="en-US" sz="2000" dirty="0"/>
              <a:t>Achieved </a:t>
            </a:r>
            <a:r>
              <a:rPr lang="en-US" sz="2000" b="1" dirty="0"/>
              <a:t>97% accuracy</a:t>
            </a:r>
            <a:r>
              <a:rPr lang="en-US" sz="2000" dirty="0"/>
              <a:t> in emotion recognition, outperforming existing CNN-based systems in precision and reliability.</a:t>
            </a:r>
          </a:p>
        </p:txBody>
      </p:sp>
      <p:pic>
        <p:nvPicPr>
          <p:cNvPr id="4098" name="Picture 2">
            <a:extLst>
              <a:ext uri="{FF2B5EF4-FFF2-40B4-BE49-F238E27FC236}">
                <a16:creationId xmlns:a16="http://schemas.microsoft.com/office/drawing/2014/main" id="{D0456ACB-10C1-B174-4EBE-B5A0E7CA73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2092408"/>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1FCDB-9FBA-6DBC-8D9E-CA216B3163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AEBF9A-EDE5-E197-BB92-49C8910B1A34}"/>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6AF57BB-FF05-053E-8AAC-B42F590FE32A}"/>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4F1C09B0-6DC8-776B-63C6-79C149D941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86448A46-758F-B8AA-D1C8-9D567B42438C}"/>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CFCB25A4-FACB-992C-8F01-A03BC05F85B4}"/>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7</a:t>
            </a:fld>
            <a:endParaRPr lang="en-US" dirty="0"/>
          </a:p>
        </p:txBody>
      </p:sp>
      <p:sp>
        <p:nvSpPr>
          <p:cNvPr id="9" name="TextBox 8">
            <a:extLst>
              <a:ext uri="{FF2B5EF4-FFF2-40B4-BE49-F238E27FC236}">
                <a16:creationId xmlns:a16="http://schemas.microsoft.com/office/drawing/2014/main" id="{2BEC091B-2FB7-DAB1-EE40-97AC162F1CEA}"/>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E6418F4F-1BDC-3815-8606-4428CEE8EBE2}"/>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A694C2B0-74A5-7513-1B6A-2E6101F8FD13}"/>
              </a:ext>
            </a:extLst>
          </p:cNvPr>
          <p:cNvSpPr txBox="1"/>
          <p:nvPr/>
        </p:nvSpPr>
        <p:spPr>
          <a:xfrm>
            <a:off x="4199943" y="385436"/>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SOLUTIONS</a:t>
            </a:r>
          </a:p>
        </p:txBody>
      </p:sp>
      <p:sp>
        <p:nvSpPr>
          <p:cNvPr id="16" name="TextBox 15">
            <a:extLst>
              <a:ext uri="{FF2B5EF4-FFF2-40B4-BE49-F238E27FC236}">
                <a16:creationId xmlns:a16="http://schemas.microsoft.com/office/drawing/2014/main" id="{16314597-EC04-7747-0238-C3D3D134494A}"/>
              </a:ext>
            </a:extLst>
          </p:cNvPr>
          <p:cNvSpPr txBox="1"/>
          <p:nvPr/>
        </p:nvSpPr>
        <p:spPr>
          <a:xfrm>
            <a:off x="488931" y="1279869"/>
            <a:ext cx="10606840" cy="4401205"/>
          </a:xfrm>
          <a:prstGeom prst="rect">
            <a:avLst/>
          </a:prstGeom>
          <a:noFill/>
        </p:spPr>
        <p:txBody>
          <a:bodyPr wrap="square">
            <a:spAutoFit/>
          </a:bodyPr>
          <a:lstStyle/>
          <a:p>
            <a:r>
              <a:rPr lang="en-US" sz="2000" b="1" dirty="0"/>
              <a:t>D. Zeng, "Design of a Music Recommendation System Based on Look-alike and K-means Algorithms," 2023 International Conference on Evolutionary Algorithms and Soft Computing Techniques (EASCT), Bengaluru, India, 2023, pp. 1-5, </a:t>
            </a:r>
            <a:r>
              <a:rPr lang="en-US" sz="2000" b="1" dirty="0" err="1"/>
              <a:t>doi</a:t>
            </a:r>
            <a:r>
              <a:rPr lang="en-US" sz="2000" b="1" dirty="0"/>
              <a:t>: 10.1109/EASCT59475.2023.10392352. </a:t>
            </a:r>
          </a:p>
          <a:p>
            <a:endParaRPr lang="en-US" sz="2000" dirty="0"/>
          </a:p>
          <a:p>
            <a:pPr marL="342900" indent="-342900">
              <a:buFont typeface="Arial" panose="020B0604020202020204" pitchFamily="34" charset="0"/>
              <a:buChar char="•"/>
            </a:pPr>
            <a:r>
              <a:rPr lang="en-US" sz="2000" dirty="0"/>
              <a:t>Proposed a </a:t>
            </a:r>
            <a:r>
              <a:rPr lang="en-US" sz="2000" b="1" dirty="0"/>
              <a:t>hybrid music recommendation system</a:t>
            </a:r>
            <a:r>
              <a:rPr lang="en-US" sz="2000" dirty="0"/>
              <a:t> combining </a:t>
            </a:r>
            <a:r>
              <a:rPr lang="en-US" sz="2000" b="1" dirty="0"/>
              <a:t>Look-alike</a:t>
            </a:r>
            <a:r>
              <a:rPr lang="en-US" sz="2000" dirty="0"/>
              <a:t> and </a:t>
            </a:r>
            <a:r>
              <a:rPr lang="en-US" sz="2000" b="1" dirty="0"/>
              <a:t>K-means clustering</a:t>
            </a:r>
            <a:r>
              <a:rPr lang="en-US" sz="2000" dirty="0"/>
              <a:t> to improve personalization accuracy.</a:t>
            </a:r>
          </a:p>
          <a:p>
            <a:pPr marL="342900" indent="-342900">
              <a:buFont typeface="Arial" panose="020B0604020202020204" pitchFamily="34" charset="0"/>
              <a:buChar char="•"/>
            </a:pPr>
            <a:r>
              <a:rPr lang="en-US" sz="2000" dirty="0"/>
              <a:t>The </a:t>
            </a:r>
            <a:r>
              <a:rPr lang="en-US" sz="2000" b="1" dirty="0"/>
              <a:t>Look-alike algorithm</a:t>
            </a:r>
            <a:r>
              <a:rPr lang="en-US" sz="2000" dirty="0"/>
              <a:t> identifies user groups with similar listening behaviors, while </a:t>
            </a:r>
            <a:r>
              <a:rPr lang="en-US" sz="2000" b="1" dirty="0"/>
              <a:t>K-means</a:t>
            </a:r>
            <a:r>
              <a:rPr lang="en-US" sz="2000" dirty="0"/>
              <a:t> clusters them by musical preferences.</a:t>
            </a:r>
          </a:p>
          <a:p>
            <a:pPr marL="342900" indent="-342900">
              <a:buFont typeface="Arial" panose="020B0604020202020204" pitchFamily="34" charset="0"/>
              <a:buChar char="•"/>
            </a:pPr>
            <a:r>
              <a:rPr lang="en-US" sz="2000" dirty="0"/>
              <a:t>Implemented a </a:t>
            </a:r>
            <a:r>
              <a:rPr lang="en-US" sz="2000" b="1" dirty="0"/>
              <a:t>three-module system</a:t>
            </a:r>
            <a:r>
              <a:rPr lang="en-US" sz="2000" dirty="0"/>
              <a:t> – protocol scheduling, recommendation algorithm, and data storage – for efficient processing.</a:t>
            </a:r>
          </a:p>
          <a:p>
            <a:pPr marL="342900" indent="-342900">
              <a:buFont typeface="Arial" panose="020B0604020202020204" pitchFamily="34" charset="0"/>
              <a:buChar char="•"/>
            </a:pPr>
            <a:r>
              <a:rPr lang="en-US" sz="2000" dirty="0"/>
              <a:t>Conducted experiments on </a:t>
            </a:r>
            <a:r>
              <a:rPr lang="en-US" sz="2000" b="1" dirty="0"/>
              <a:t>2000 users</a:t>
            </a:r>
            <a:r>
              <a:rPr lang="en-US" sz="2000" dirty="0"/>
              <a:t>, comparing recommended music types with actual playlists for validation.</a:t>
            </a:r>
          </a:p>
          <a:p>
            <a:pPr marL="342900" indent="-342900">
              <a:buFont typeface="Arial" panose="020B0604020202020204" pitchFamily="34" charset="0"/>
              <a:buChar char="•"/>
            </a:pPr>
            <a:r>
              <a:rPr lang="en-US" sz="2000" dirty="0"/>
              <a:t>Achieved a </a:t>
            </a:r>
            <a:r>
              <a:rPr lang="en-US" sz="2000" b="1" dirty="0"/>
              <a:t>0.18% difference</a:t>
            </a:r>
            <a:r>
              <a:rPr lang="en-US" sz="2000" dirty="0"/>
              <a:t> between recommended and actual playlist proportions, confirming high accuracy and personalization.</a:t>
            </a:r>
          </a:p>
        </p:txBody>
      </p:sp>
      <p:pic>
        <p:nvPicPr>
          <p:cNvPr id="4098" name="Picture 2">
            <a:extLst>
              <a:ext uri="{FF2B5EF4-FFF2-40B4-BE49-F238E27FC236}">
                <a16:creationId xmlns:a16="http://schemas.microsoft.com/office/drawing/2014/main" id="{7037D44A-57CC-AE04-7F5C-91F8DD490D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925850"/>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77283-289F-BB1A-5D2C-63FE65CF6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4777E9-B7A0-ABCE-74C7-0DDF28037EB0}"/>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4598D8DC-FE8E-922A-C193-9196613DFD93}"/>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59DC6372-1D20-173D-3F71-4CAD931CA0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91A0518E-5551-3611-F683-B9ABB1FE7724}"/>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8EAC8F4C-B6F8-3806-E1E2-58946BF6F8D1}"/>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8</a:t>
            </a:fld>
            <a:endParaRPr lang="en-US" dirty="0"/>
          </a:p>
        </p:txBody>
      </p:sp>
      <p:sp>
        <p:nvSpPr>
          <p:cNvPr id="9" name="TextBox 8">
            <a:extLst>
              <a:ext uri="{FF2B5EF4-FFF2-40B4-BE49-F238E27FC236}">
                <a16:creationId xmlns:a16="http://schemas.microsoft.com/office/drawing/2014/main" id="{8439C722-D3D5-5CFA-5DF4-6AEE68F3C0AC}"/>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4A4C6AE1-A03A-E0BC-F312-6FBC56C92E7B}"/>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014E1B79-0015-B17A-AB35-C31CF54CD4B5}"/>
              </a:ext>
            </a:extLst>
          </p:cNvPr>
          <p:cNvSpPr txBox="1"/>
          <p:nvPr/>
        </p:nvSpPr>
        <p:spPr>
          <a:xfrm>
            <a:off x="4199943" y="385436"/>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SOLUTIONS</a:t>
            </a:r>
          </a:p>
        </p:txBody>
      </p:sp>
      <p:sp>
        <p:nvSpPr>
          <p:cNvPr id="16" name="TextBox 15">
            <a:extLst>
              <a:ext uri="{FF2B5EF4-FFF2-40B4-BE49-F238E27FC236}">
                <a16:creationId xmlns:a16="http://schemas.microsoft.com/office/drawing/2014/main" id="{8D295154-7043-B59A-2287-512174B27534}"/>
              </a:ext>
            </a:extLst>
          </p:cNvPr>
          <p:cNvSpPr txBox="1"/>
          <p:nvPr/>
        </p:nvSpPr>
        <p:spPr>
          <a:xfrm>
            <a:off x="481048" y="1122363"/>
            <a:ext cx="10606840" cy="4708981"/>
          </a:xfrm>
          <a:prstGeom prst="rect">
            <a:avLst/>
          </a:prstGeom>
          <a:noFill/>
        </p:spPr>
        <p:txBody>
          <a:bodyPr wrap="square">
            <a:spAutoFit/>
          </a:bodyPr>
          <a:lstStyle/>
          <a:p>
            <a:r>
              <a:rPr lang="en-US" sz="2000" b="1" dirty="0"/>
              <a:t>N. V. Durga Malleswari, K. Gayatri, K. Y. Sai Kumar, N. Likhita, P. K and D. Bhattacharyya, "Music Recommendation System using Hybrid Approach," 2023 Second International Conference on Electronics and Renewable Systems (ICEARS), Tuticorin, India, 2023, pp. 1560-1564, </a:t>
            </a:r>
            <a:r>
              <a:rPr lang="en-US" sz="2000" b="1" dirty="0" err="1"/>
              <a:t>doi</a:t>
            </a:r>
            <a:r>
              <a:rPr lang="en-US" sz="2000" b="1" dirty="0"/>
              <a:t>: 10.1109/ICEARS56392.2023.10085059. </a:t>
            </a:r>
          </a:p>
          <a:p>
            <a:endParaRPr lang="en-US" sz="2000" dirty="0"/>
          </a:p>
          <a:p>
            <a:pPr marL="342900" indent="-342900">
              <a:buFont typeface="Arial" panose="020B0604020202020204" pitchFamily="34" charset="0"/>
              <a:buChar char="•"/>
            </a:pPr>
            <a:r>
              <a:rPr lang="en-US" sz="2000" dirty="0"/>
              <a:t>Proposed a </a:t>
            </a:r>
            <a:r>
              <a:rPr lang="en-US" sz="2000" b="1" dirty="0"/>
              <a:t>hybrid music recommendation system</a:t>
            </a:r>
            <a:r>
              <a:rPr lang="en-US" sz="2000" dirty="0"/>
              <a:t> combining </a:t>
            </a:r>
            <a:r>
              <a:rPr lang="en-US" sz="2000" b="1" dirty="0"/>
              <a:t>Collaborative Filtering (CF)</a:t>
            </a:r>
            <a:r>
              <a:rPr lang="en-US" sz="2000" dirty="0"/>
              <a:t> and </a:t>
            </a:r>
            <a:r>
              <a:rPr lang="en-US" sz="2000" b="1" dirty="0"/>
              <a:t>music gene–based algorithms</a:t>
            </a:r>
            <a:r>
              <a:rPr lang="en-US" sz="2000" dirty="0"/>
              <a:t> for personalized song suggestions.</a:t>
            </a:r>
          </a:p>
          <a:p>
            <a:pPr marL="342900" indent="-342900">
              <a:buFont typeface="Arial" panose="020B0604020202020204" pitchFamily="34" charset="0"/>
              <a:buChar char="•"/>
            </a:pPr>
            <a:r>
              <a:rPr lang="en-US" sz="2000" dirty="0"/>
              <a:t>Utilized </a:t>
            </a:r>
            <a:r>
              <a:rPr lang="en-US" sz="2000" b="1" dirty="0"/>
              <a:t>audio features, lyrics, and user log data</a:t>
            </a:r>
            <a:r>
              <a:rPr lang="en-US" sz="2000" dirty="0"/>
              <a:t> to analyze preferences and recommend songs in real time.</a:t>
            </a:r>
          </a:p>
          <a:p>
            <a:pPr marL="342900" indent="-342900">
              <a:buFont typeface="Arial" panose="020B0604020202020204" pitchFamily="34" charset="0"/>
              <a:buChar char="•"/>
            </a:pPr>
            <a:r>
              <a:rPr lang="en-US" sz="2000" dirty="0"/>
              <a:t>Used </a:t>
            </a:r>
            <a:r>
              <a:rPr lang="en-US" sz="2000" b="1" dirty="0"/>
              <a:t>Pandora Radio dataset</a:t>
            </a:r>
            <a:r>
              <a:rPr lang="en-US" sz="2000" dirty="0"/>
              <a:t> containing </a:t>
            </a:r>
            <a:r>
              <a:rPr lang="en-US" sz="2000" b="1" dirty="0"/>
              <a:t>40,000 songs and 101,000 users</a:t>
            </a:r>
            <a:r>
              <a:rPr lang="en-US" sz="2000" dirty="0"/>
              <a:t> to evaluate the model’s performance.</a:t>
            </a:r>
          </a:p>
          <a:p>
            <a:pPr marL="342900" indent="-342900">
              <a:buFont typeface="Arial" panose="020B0604020202020204" pitchFamily="34" charset="0"/>
              <a:buChar char="•"/>
            </a:pPr>
            <a:r>
              <a:rPr lang="en-US" sz="2000" dirty="0"/>
              <a:t>Achieved </a:t>
            </a:r>
            <a:r>
              <a:rPr lang="en-US" sz="2000" b="1" dirty="0"/>
              <a:t>minimum RMSE and MAE</a:t>
            </a:r>
            <a:r>
              <a:rPr lang="en-US" sz="2000" dirty="0"/>
              <a:t> values, confirming the hybrid model’s higher accuracy over traditional CF and content-based systems.</a:t>
            </a:r>
          </a:p>
          <a:p>
            <a:pPr marL="342900" indent="-342900">
              <a:buFont typeface="Arial" panose="020B0604020202020204" pitchFamily="34" charset="0"/>
              <a:buChar char="•"/>
            </a:pPr>
            <a:r>
              <a:rPr lang="en-US" sz="2000" dirty="0"/>
              <a:t>Implemented a </a:t>
            </a:r>
            <a:r>
              <a:rPr lang="en-US" sz="2000" b="1" dirty="0"/>
              <a:t>Firebase-based interface</a:t>
            </a:r>
            <a:r>
              <a:rPr lang="en-US" sz="2000" dirty="0"/>
              <a:t> for storing recommendations and enabling interactive, user-driven music playback and suggestions.</a:t>
            </a:r>
          </a:p>
        </p:txBody>
      </p:sp>
      <p:pic>
        <p:nvPicPr>
          <p:cNvPr id="4098" name="Picture 2">
            <a:extLst>
              <a:ext uri="{FF2B5EF4-FFF2-40B4-BE49-F238E27FC236}">
                <a16:creationId xmlns:a16="http://schemas.microsoft.com/office/drawing/2014/main" id="{31B7FD46-8159-59C1-3FFB-A7DB790F0B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238662"/>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8AD56-CBC5-6A69-ACF2-C51DBB3A4B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34E56-3259-B802-4DFD-91901D358326}"/>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B693B49-77D7-2A9D-DE13-FC7AE888C6FF}"/>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E6B224AB-C487-32E2-4D3F-3AFA733005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89B7D760-CE97-BE93-C2A1-C4F59FA1174C}"/>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089851DE-E37E-019E-E210-AB041F6C6AD1}"/>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9</a:t>
            </a:fld>
            <a:endParaRPr lang="en-US" dirty="0"/>
          </a:p>
        </p:txBody>
      </p:sp>
      <p:sp>
        <p:nvSpPr>
          <p:cNvPr id="9" name="TextBox 8">
            <a:extLst>
              <a:ext uri="{FF2B5EF4-FFF2-40B4-BE49-F238E27FC236}">
                <a16:creationId xmlns:a16="http://schemas.microsoft.com/office/drawing/2014/main" id="{B211A370-E990-9D09-C8B4-E9054C7F6DC1}"/>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473503F4-C151-6C53-7414-A79617741D98}"/>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4B8D3B14-F6A0-5207-C594-238610CCE78B}"/>
              </a:ext>
            </a:extLst>
          </p:cNvPr>
          <p:cNvSpPr txBox="1"/>
          <p:nvPr/>
        </p:nvSpPr>
        <p:spPr>
          <a:xfrm>
            <a:off x="4199943" y="385436"/>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SOLUTIONS</a:t>
            </a:r>
          </a:p>
        </p:txBody>
      </p:sp>
      <p:sp>
        <p:nvSpPr>
          <p:cNvPr id="16" name="TextBox 15">
            <a:extLst>
              <a:ext uri="{FF2B5EF4-FFF2-40B4-BE49-F238E27FC236}">
                <a16:creationId xmlns:a16="http://schemas.microsoft.com/office/drawing/2014/main" id="{E03EED4D-9CAC-DB56-0A10-099033603088}"/>
              </a:ext>
            </a:extLst>
          </p:cNvPr>
          <p:cNvSpPr txBox="1"/>
          <p:nvPr/>
        </p:nvSpPr>
        <p:spPr>
          <a:xfrm>
            <a:off x="481048" y="1228397"/>
            <a:ext cx="10606840" cy="4401205"/>
          </a:xfrm>
          <a:prstGeom prst="rect">
            <a:avLst/>
          </a:prstGeom>
          <a:noFill/>
        </p:spPr>
        <p:txBody>
          <a:bodyPr wrap="square">
            <a:spAutoFit/>
          </a:bodyPr>
          <a:lstStyle/>
          <a:p>
            <a:r>
              <a:rPr lang="en-US" sz="2000" b="1" dirty="0"/>
              <a:t>J. G. B. Vitório and C. N. Silla, "Music Recommendation System for Shared Environments," 2023 30th International Conference on Systems, Signals and Image Processing (IWSSIP), </a:t>
            </a:r>
            <a:r>
              <a:rPr lang="en-US" sz="2000" b="1" dirty="0" err="1"/>
              <a:t>Ohrid</a:t>
            </a:r>
            <a:r>
              <a:rPr lang="en-US" sz="2000" b="1" dirty="0"/>
              <a:t>, North Macedonia, 2023, pp. 1-5, </a:t>
            </a:r>
            <a:r>
              <a:rPr lang="en-US" sz="2000" b="1" dirty="0" err="1"/>
              <a:t>doi</a:t>
            </a:r>
            <a:r>
              <a:rPr lang="en-US" sz="2000" b="1" dirty="0"/>
              <a:t>: 10.1109/IWSSIP58668.2023.10180270. </a:t>
            </a:r>
          </a:p>
          <a:p>
            <a:endParaRPr lang="en-US" sz="2000" dirty="0"/>
          </a:p>
          <a:p>
            <a:pPr marL="342900" indent="-342900">
              <a:buFont typeface="Arial" panose="020B0604020202020204" pitchFamily="34" charset="0"/>
              <a:buChar char="•"/>
            </a:pPr>
            <a:r>
              <a:rPr lang="en-US" sz="2000" dirty="0"/>
              <a:t>Proposed a </a:t>
            </a:r>
            <a:r>
              <a:rPr lang="en-US" sz="2000" b="1" dirty="0"/>
              <a:t>real-time group music recommendation system</a:t>
            </a:r>
            <a:r>
              <a:rPr lang="en-US" sz="2000" dirty="0"/>
              <a:t> that considers </a:t>
            </a:r>
            <a:r>
              <a:rPr lang="en-US" sz="2000" b="1" dirty="0"/>
              <a:t>shared environmental contexts</a:t>
            </a:r>
            <a:r>
              <a:rPr lang="en-US" sz="2000" dirty="0"/>
              <a:t> such as time, location, and activity.</a:t>
            </a:r>
          </a:p>
          <a:p>
            <a:pPr marL="342900" indent="-342900">
              <a:buFont typeface="Arial" panose="020B0604020202020204" pitchFamily="34" charset="0"/>
              <a:buChar char="•"/>
            </a:pPr>
            <a:r>
              <a:rPr lang="en-US" sz="2000" dirty="0"/>
              <a:t>Used </a:t>
            </a:r>
            <a:r>
              <a:rPr lang="en-US" sz="2000" b="1" dirty="0"/>
              <a:t>Spotify API</a:t>
            </a:r>
            <a:r>
              <a:rPr lang="en-US" sz="2000" dirty="0"/>
              <a:t> to collect each user’s </a:t>
            </a:r>
            <a:r>
              <a:rPr lang="en-US" sz="2000" b="1" dirty="0"/>
              <a:t>top 50 most-listened songs</a:t>
            </a:r>
            <a:r>
              <a:rPr lang="en-US" sz="2000" dirty="0"/>
              <a:t>, modeling relationships between songs, artists, and genres using a </a:t>
            </a:r>
            <a:r>
              <a:rPr lang="en-US" sz="2000" b="1" dirty="0"/>
              <a:t>graph database (Neo4j)</a:t>
            </a:r>
            <a:r>
              <a:rPr lang="en-US" sz="2000" dirty="0"/>
              <a:t>.</a:t>
            </a:r>
          </a:p>
          <a:p>
            <a:pPr marL="342900" indent="-342900">
              <a:buFont typeface="Arial" panose="020B0604020202020204" pitchFamily="34" charset="0"/>
              <a:buChar char="•"/>
            </a:pPr>
            <a:r>
              <a:rPr lang="en-US" sz="2000" dirty="0"/>
              <a:t>Implemented a </a:t>
            </a:r>
            <a:r>
              <a:rPr lang="en-US" sz="2000" b="1" dirty="0"/>
              <a:t>graph-based aggregation strategy</a:t>
            </a:r>
            <a:r>
              <a:rPr lang="en-US" sz="2000" dirty="0"/>
              <a:t> to create a pseudo-user profile combining multiple listeners’ preferences.</a:t>
            </a:r>
          </a:p>
          <a:p>
            <a:pPr marL="342900" indent="-342900">
              <a:buFont typeface="Arial" panose="020B0604020202020204" pitchFamily="34" charset="0"/>
              <a:buChar char="•"/>
            </a:pPr>
            <a:r>
              <a:rPr lang="en-US" sz="2000" dirty="0"/>
              <a:t>Incorporated </a:t>
            </a:r>
            <a:r>
              <a:rPr lang="en-US" sz="2000" b="1" dirty="0"/>
              <a:t>contextual features</a:t>
            </a:r>
            <a:r>
              <a:rPr lang="en-US" sz="2000" dirty="0"/>
              <a:t> like </a:t>
            </a:r>
            <a:r>
              <a:rPr lang="en-US" sz="2000" i="1" dirty="0"/>
              <a:t>danceability</a:t>
            </a:r>
            <a:r>
              <a:rPr lang="en-US" sz="2000" dirty="0"/>
              <a:t> and </a:t>
            </a:r>
            <a:r>
              <a:rPr lang="en-US" sz="2000" i="1" dirty="0"/>
              <a:t>energy</a:t>
            </a:r>
            <a:r>
              <a:rPr lang="en-US" sz="2000" dirty="0"/>
              <a:t> to tailor recommendations for specific situations (e.g., gym, party, work, travel).</a:t>
            </a:r>
          </a:p>
          <a:p>
            <a:pPr marL="342900" indent="-342900">
              <a:buFont typeface="Arial" panose="020B0604020202020204" pitchFamily="34" charset="0"/>
              <a:buChar char="•"/>
            </a:pPr>
            <a:r>
              <a:rPr lang="en-US" sz="2000" dirty="0"/>
              <a:t>Developed a </a:t>
            </a:r>
            <a:r>
              <a:rPr lang="en-US" sz="2000" b="1" dirty="0"/>
              <a:t>prototype system (SRMAC)</a:t>
            </a:r>
            <a:r>
              <a:rPr lang="en-US" sz="2000" dirty="0"/>
              <a:t> that dynamically updates playlists as new group members join and visualizes genre influence weights.</a:t>
            </a:r>
          </a:p>
        </p:txBody>
      </p:sp>
      <p:pic>
        <p:nvPicPr>
          <p:cNvPr id="4098" name="Picture 2">
            <a:extLst>
              <a:ext uri="{FF2B5EF4-FFF2-40B4-BE49-F238E27FC236}">
                <a16:creationId xmlns:a16="http://schemas.microsoft.com/office/drawing/2014/main" id="{341A410A-448D-D18C-6201-78225C73D5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839905"/>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F1F9C-5288-5264-E6FB-7F5B81ECD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67DC5-C33A-A63C-AB64-F515A9E5DEC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3DA06F3-2517-593A-15CA-AC1600F126F9}"/>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3ACE616B-B506-8D16-4815-1126F1D543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8688D404-334C-2B63-FEA9-6D4404973CF4}"/>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A99AF02A-720E-A9C3-D759-70B8A44692DE}"/>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10</a:t>
            </a:fld>
            <a:endParaRPr lang="en-US" dirty="0"/>
          </a:p>
        </p:txBody>
      </p:sp>
      <p:sp>
        <p:nvSpPr>
          <p:cNvPr id="9" name="TextBox 8">
            <a:extLst>
              <a:ext uri="{FF2B5EF4-FFF2-40B4-BE49-F238E27FC236}">
                <a16:creationId xmlns:a16="http://schemas.microsoft.com/office/drawing/2014/main" id="{5636D757-0948-1613-9553-07F22ACD5075}"/>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E83B82CD-DA76-49B7-42C1-8058AEFB39CD}"/>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1671B5AE-1BB2-9596-7069-8072C85544E3}"/>
              </a:ext>
            </a:extLst>
          </p:cNvPr>
          <p:cNvSpPr txBox="1"/>
          <p:nvPr/>
        </p:nvSpPr>
        <p:spPr>
          <a:xfrm>
            <a:off x="4199943" y="385436"/>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SOLUTIONS</a:t>
            </a:r>
          </a:p>
        </p:txBody>
      </p:sp>
      <p:sp>
        <p:nvSpPr>
          <p:cNvPr id="16" name="TextBox 15">
            <a:extLst>
              <a:ext uri="{FF2B5EF4-FFF2-40B4-BE49-F238E27FC236}">
                <a16:creationId xmlns:a16="http://schemas.microsoft.com/office/drawing/2014/main" id="{5364D90F-0F7A-0527-C33C-217E4134D460}"/>
              </a:ext>
            </a:extLst>
          </p:cNvPr>
          <p:cNvSpPr txBox="1"/>
          <p:nvPr/>
        </p:nvSpPr>
        <p:spPr>
          <a:xfrm>
            <a:off x="528345" y="1476755"/>
            <a:ext cx="10606840" cy="3785652"/>
          </a:xfrm>
          <a:prstGeom prst="rect">
            <a:avLst/>
          </a:prstGeom>
          <a:noFill/>
        </p:spPr>
        <p:txBody>
          <a:bodyPr wrap="square">
            <a:spAutoFit/>
          </a:bodyPr>
          <a:lstStyle/>
          <a:p>
            <a:r>
              <a:rPr lang="en-US" sz="2000" b="1" dirty="0"/>
              <a:t>S. Sasaki, T. Hirai, H. </a:t>
            </a:r>
            <a:r>
              <a:rPr lang="en-US" sz="2000" b="1" dirty="0" err="1"/>
              <a:t>Ohya</a:t>
            </a:r>
            <a:r>
              <a:rPr lang="en-US" sz="2000" b="1" dirty="0"/>
              <a:t> and S. Morishima, "Affective Music Recommendation System Reflecting the Mood of Input Image," 2013 International Conference on Culture and Computing, Kyoto, Japan, 2013, pp. 153-154, </a:t>
            </a:r>
            <a:r>
              <a:rPr lang="en-US" sz="2000" b="1" dirty="0" err="1"/>
              <a:t>doi</a:t>
            </a:r>
            <a:r>
              <a:rPr lang="en-US" sz="2000" b="1" dirty="0"/>
              <a:t>: 10.1109/CultureComputing.2013.42. </a:t>
            </a:r>
          </a:p>
          <a:p>
            <a:endParaRPr lang="en-US" sz="2000" dirty="0"/>
          </a:p>
          <a:p>
            <a:pPr marL="342900" indent="-342900">
              <a:buFont typeface="Arial" panose="020B0604020202020204" pitchFamily="34" charset="0"/>
              <a:buChar char="•"/>
            </a:pPr>
            <a:r>
              <a:rPr lang="en-US" sz="2000" dirty="0"/>
              <a:t>Proposed an </a:t>
            </a:r>
            <a:r>
              <a:rPr lang="en-US" sz="2000" b="1" dirty="0"/>
              <a:t>affective music recommendation system</a:t>
            </a:r>
            <a:r>
              <a:rPr lang="en-US" sz="2000" dirty="0"/>
              <a:t> that recommends songs based on the </a:t>
            </a:r>
            <a:r>
              <a:rPr lang="en-US" sz="2000" b="1" dirty="0"/>
              <a:t>mood derived from an input image</a:t>
            </a:r>
            <a:r>
              <a:rPr lang="en-US" sz="2000" dirty="0"/>
              <a:t>, without requiring textual input.</a:t>
            </a:r>
          </a:p>
          <a:p>
            <a:pPr marL="342900" indent="-342900">
              <a:buFont typeface="Arial" panose="020B0604020202020204" pitchFamily="34" charset="0"/>
              <a:buChar char="•"/>
            </a:pPr>
            <a:r>
              <a:rPr lang="en-US" sz="2000" dirty="0"/>
              <a:t>Used the </a:t>
            </a:r>
            <a:r>
              <a:rPr lang="en-US" sz="2000" b="1" dirty="0"/>
              <a:t>Valence–Arousal (V-A) emotional model</a:t>
            </a:r>
            <a:r>
              <a:rPr lang="en-US" sz="2000" dirty="0"/>
              <a:t> to map both image and music features into a shared emotional space.</a:t>
            </a:r>
          </a:p>
          <a:p>
            <a:pPr marL="342900" indent="-342900">
              <a:buFont typeface="Arial" panose="020B0604020202020204" pitchFamily="34" charset="0"/>
              <a:buChar char="•"/>
            </a:pPr>
            <a:r>
              <a:rPr lang="en-US" sz="2000" dirty="0"/>
              <a:t>Computed </a:t>
            </a:r>
            <a:r>
              <a:rPr lang="en-US" sz="2000" b="1" dirty="0"/>
              <a:t>valence–arousal values for music</a:t>
            </a:r>
            <a:r>
              <a:rPr lang="en-US" sz="2000" dirty="0"/>
              <a:t> using acoustic features analyzed via </a:t>
            </a:r>
            <a:r>
              <a:rPr lang="en-US" sz="2000" b="1" dirty="0"/>
              <a:t>Principal Component Analysis (PCA)</a:t>
            </a:r>
            <a:r>
              <a:rPr lang="en-US" sz="2000" dirty="0"/>
              <a:t> on the </a:t>
            </a:r>
            <a:r>
              <a:rPr lang="en-US" sz="2000" b="1" dirty="0"/>
              <a:t>RWC Music Database</a:t>
            </a:r>
            <a:r>
              <a:rPr lang="en-US" sz="2000" dirty="0"/>
              <a:t>.</a:t>
            </a:r>
          </a:p>
          <a:p>
            <a:pPr marL="342900" indent="-342900">
              <a:buFont typeface="Arial" panose="020B0604020202020204" pitchFamily="34" charset="0"/>
              <a:buChar char="•"/>
            </a:pPr>
            <a:r>
              <a:rPr lang="en-US" sz="2000" dirty="0"/>
              <a:t>Recommended music by calculating </a:t>
            </a:r>
            <a:r>
              <a:rPr lang="en-US" sz="2000" b="1" dirty="0"/>
              <a:t>Euclidean distance</a:t>
            </a:r>
            <a:r>
              <a:rPr lang="en-US" sz="2000" dirty="0"/>
              <a:t> between image and music positions on the V-A plane; interactive interface allows users to refine mood-based search.</a:t>
            </a:r>
          </a:p>
        </p:txBody>
      </p:sp>
      <p:pic>
        <p:nvPicPr>
          <p:cNvPr id="4098" name="Picture 2">
            <a:extLst>
              <a:ext uri="{FF2B5EF4-FFF2-40B4-BE49-F238E27FC236}">
                <a16:creationId xmlns:a16="http://schemas.microsoft.com/office/drawing/2014/main" id="{5E3CEF19-CCE3-6BAD-3BAE-A80E612A48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212805"/>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DB5B0-52CB-D816-0C56-577BED4E0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56B2F-9A9C-B96C-1FA6-5342552166F5}"/>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D0366B7-27CD-8162-F3ED-7F8D1E04ED6B}"/>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EB3BB9CB-5120-8F46-3CF6-2D4C28E43E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60633CF6-EDF7-64EF-77A1-E8E5F3C3F292}"/>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21896498-E9D3-FCF4-DF9E-2B218F9970B0}"/>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11</a:t>
            </a:fld>
            <a:endParaRPr lang="en-US" dirty="0"/>
          </a:p>
        </p:txBody>
      </p:sp>
      <p:sp>
        <p:nvSpPr>
          <p:cNvPr id="9" name="TextBox 8">
            <a:extLst>
              <a:ext uri="{FF2B5EF4-FFF2-40B4-BE49-F238E27FC236}">
                <a16:creationId xmlns:a16="http://schemas.microsoft.com/office/drawing/2014/main" id="{64C4F6AE-C8EF-2A13-E6E6-9BEDBB47EBD2}"/>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18B082B4-17B3-B91D-2BA6-B4C474CC0DB3}"/>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A61979C1-7E45-F6F8-DF8B-CA8E2A50C268}"/>
              </a:ext>
            </a:extLst>
          </p:cNvPr>
          <p:cNvSpPr txBox="1"/>
          <p:nvPr/>
        </p:nvSpPr>
        <p:spPr>
          <a:xfrm>
            <a:off x="4199943" y="385436"/>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SOLUTIONS</a:t>
            </a:r>
          </a:p>
        </p:txBody>
      </p:sp>
      <p:sp>
        <p:nvSpPr>
          <p:cNvPr id="16" name="TextBox 15">
            <a:extLst>
              <a:ext uri="{FF2B5EF4-FFF2-40B4-BE49-F238E27FC236}">
                <a16:creationId xmlns:a16="http://schemas.microsoft.com/office/drawing/2014/main" id="{721BAB5A-9745-6E94-9BD9-E62EA373AF37}"/>
              </a:ext>
            </a:extLst>
          </p:cNvPr>
          <p:cNvSpPr txBox="1"/>
          <p:nvPr/>
        </p:nvSpPr>
        <p:spPr>
          <a:xfrm>
            <a:off x="488930" y="1509287"/>
            <a:ext cx="10606840" cy="4093428"/>
          </a:xfrm>
          <a:prstGeom prst="rect">
            <a:avLst/>
          </a:prstGeom>
          <a:noFill/>
        </p:spPr>
        <p:txBody>
          <a:bodyPr wrap="square">
            <a:spAutoFit/>
          </a:bodyPr>
          <a:lstStyle/>
          <a:p>
            <a:r>
              <a:rPr lang="en-US" sz="2000" b="1" dirty="0" err="1"/>
              <a:t>Deore</a:t>
            </a:r>
            <a:r>
              <a:rPr lang="en-US" sz="2000" b="1" dirty="0"/>
              <a:t>, S.P. (2023). Enriching song recommendation through facial expression using deep learning. </a:t>
            </a:r>
            <a:r>
              <a:rPr lang="en-US" sz="2000" b="1" dirty="0" err="1"/>
              <a:t>Ingénierie</a:t>
            </a:r>
            <a:r>
              <a:rPr lang="en-US" sz="2000" b="1" dirty="0"/>
              <a:t> des </a:t>
            </a:r>
            <a:r>
              <a:rPr lang="en-US" sz="2000" b="1" dirty="0" err="1"/>
              <a:t>Systèmes</a:t>
            </a:r>
            <a:r>
              <a:rPr lang="en-US" sz="2000" b="1" dirty="0"/>
              <a:t> </a:t>
            </a:r>
            <a:r>
              <a:rPr lang="en-US" sz="2000" b="1" dirty="0" err="1"/>
              <a:t>d’Information</a:t>
            </a:r>
            <a:r>
              <a:rPr lang="en-US" sz="2000" b="1" dirty="0"/>
              <a:t>, Vol. 28, No. 1, pp. 225-229. </a:t>
            </a:r>
          </a:p>
          <a:p>
            <a:endParaRPr lang="en-US" sz="2000" dirty="0"/>
          </a:p>
          <a:p>
            <a:pPr marL="342900" indent="-342900">
              <a:buFont typeface="Arial" panose="020B0604020202020204" pitchFamily="34" charset="0"/>
              <a:buChar char="•"/>
            </a:pPr>
            <a:r>
              <a:rPr lang="en-US" sz="2000" dirty="0"/>
              <a:t>Proposed a </a:t>
            </a:r>
            <a:r>
              <a:rPr lang="en-US" sz="2000" b="1" dirty="0"/>
              <a:t>CNN-based emotion recognition model</a:t>
            </a:r>
            <a:r>
              <a:rPr lang="en-US" sz="2000" dirty="0"/>
              <a:t> to detect users’ moods from facial expressions and recommend suitable music automatically.</a:t>
            </a:r>
          </a:p>
          <a:p>
            <a:pPr marL="342900" indent="-342900">
              <a:buFont typeface="Arial" panose="020B0604020202020204" pitchFamily="34" charset="0"/>
              <a:buChar char="•"/>
            </a:pPr>
            <a:r>
              <a:rPr lang="en-US" sz="2000" dirty="0"/>
              <a:t>Trained a </a:t>
            </a:r>
            <a:r>
              <a:rPr lang="en-US" sz="2000" b="1" dirty="0"/>
              <a:t>Convolutional Neural Network</a:t>
            </a:r>
            <a:r>
              <a:rPr lang="en-US" sz="2000" dirty="0"/>
              <a:t> with multiple Conv2D, ReLU, </a:t>
            </a:r>
            <a:r>
              <a:rPr lang="en-US" sz="2000" dirty="0" err="1"/>
              <a:t>MaxPooling</a:t>
            </a:r>
            <a:r>
              <a:rPr lang="en-US" sz="2000" dirty="0"/>
              <a:t>, and Dropout layers; used Adam optimizer and </a:t>
            </a:r>
            <a:r>
              <a:rPr lang="en-US" sz="2000" dirty="0" err="1"/>
              <a:t>Softmax</a:t>
            </a:r>
            <a:r>
              <a:rPr lang="en-US" sz="2000" dirty="0"/>
              <a:t> for seven emotion classes.</a:t>
            </a:r>
          </a:p>
          <a:p>
            <a:pPr marL="342900" indent="-342900">
              <a:buFont typeface="Arial" panose="020B0604020202020204" pitchFamily="34" charset="0"/>
              <a:buChar char="•"/>
            </a:pPr>
            <a:r>
              <a:rPr lang="en-US" sz="2000" dirty="0"/>
              <a:t>Integrated a </a:t>
            </a:r>
            <a:r>
              <a:rPr lang="en-US" sz="2000" b="1" dirty="0"/>
              <a:t>Fuzzy Classification</a:t>
            </a:r>
            <a:r>
              <a:rPr lang="en-US" sz="2000" dirty="0"/>
              <a:t> layer to refine detected emotions and map them to corresponding music categories for personalized recommendations.</a:t>
            </a:r>
          </a:p>
          <a:p>
            <a:pPr marL="342900" indent="-342900">
              <a:buFont typeface="Arial" panose="020B0604020202020204" pitchFamily="34" charset="0"/>
              <a:buChar char="•"/>
            </a:pPr>
            <a:r>
              <a:rPr lang="en-US" sz="2000" dirty="0"/>
              <a:t>Achieved </a:t>
            </a:r>
            <a:r>
              <a:rPr lang="en-US" sz="2000" b="1" dirty="0"/>
              <a:t>training accuracy of 97.64%</a:t>
            </a:r>
            <a:r>
              <a:rPr lang="en-US" sz="2000" dirty="0"/>
              <a:t> and </a:t>
            </a:r>
            <a:r>
              <a:rPr lang="en-US" sz="2000" b="1" dirty="0"/>
              <a:t>real-time testing accuracy of 62.88%</a:t>
            </a:r>
            <a:r>
              <a:rPr lang="en-US" sz="2000" dirty="0"/>
              <a:t>, with </a:t>
            </a:r>
            <a:r>
              <a:rPr lang="en-US" sz="2000" b="1" dirty="0"/>
              <a:t>MSE = 8.5</a:t>
            </a:r>
            <a:r>
              <a:rPr lang="en-US" sz="2000" dirty="0"/>
              <a:t> and </a:t>
            </a:r>
            <a:r>
              <a:rPr lang="en-US" sz="2000" b="1" dirty="0"/>
              <a:t>RMSE = 2.9</a:t>
            </a:r>
            <a:r>
              <a:rPr lang="en-US" sz="2000" dirty="0"/>
              <a:t>, showing optimized emotion recognition.</a:t>
            </a:r>
          </a:p>
          <a:p>
            <a:pPr marL="342900" indent="-342900">
              <a:buFont typeface="Arial" panose="020B0604020202020204" pitchFamily="34" charset="0"/>
              <a:buChar char="•"/>
            </a:pPr>
            <a:r>
              <a:rPr lang="en-US" sz="2000" dirty="0"/>
              <a:t>Developed the system using </a:t>
            </a:r>
            <a:r>
              <a:rPr lang="en-US" sz="2000" b="1" dirty="0"/>
              <a:t>Python (TensorFlow, </a:t>
            </a:r>
            <a:r>
              <a:rPr lang="en-US" sz="2000" b="1" dirty="0" err="1"/>
              <a:t>Keras</a:t>
            </a:r>
            <a:r>
              <a:rPr lang="en-US" sz="2000" b="1" dirty="0"/>
              <a:t>, OpenCV)</a:t>
            </a:r>
            <a:r>
              <a:rPr lang="en-US" sz="2000" dirty="0"/>
              <a:t> and </a:t>
            </a:r>
            <a:r>
              <a:rPr lang="en-US" sz="2000" b="1" dirty="0"/>
              <a:t>Java interface</a:t>
            </a:r>
            <a:r>
              <a:rPr lang="en-US" sz="2000" dirty="0"/>
              <a:t>, demonstrating an effective, low-cost emotion-driven music recommendation model.</a:t>
            </a:r>
          </a:p>
        </p:txBody>
      </p:sp>
      <p:pic>
        <p:nvPicPr>
          <p:cNvPr id="4098" name="Picture 2">
            <a:extLst>
              <a:ext uri="{FF2B5EF4-FFF2-40B4-BE49-F238E27FC236}">
                <a16:creationId xmlns:a16="http://schemas.microsoft.com/office/drawing/2014/main" id="{4472FE6F-051D-92F2-8E6E-B3404CF99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6924369"/>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FBD51-0264-A288-E2EF-D5750810A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80F1F-8DF2-DB82-136E-AA7C44239546}"/>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2CA683D1-2AE7-1610-F94F-5AC3F92D072E}"/>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8402C8C5-5396-8531-EF44-356E8D3944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8BEC97CB-ACEE-6271-4F11-C7BC394B70A0}"/>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3C599D04-6E29-4287-BE1E-888B226BFA14}"/>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12</a:t>
            </a:fld>
            <a:endParaRPr lang="en-US" dirty="0"/>
          </a:p>
        </p:txBody>
      </p:sp>
      <p:sp>
        <p:nvSpPr>
          <p:cNvPr id="9" name="TextBox 8">
            <a:extLst>
              <a:ext uri="{FF2B5EF4-FFF2-40B4-BE49-F238E27FC236}">
                <a16:creationId xmlns:a16="http://schemas.microsoft.com/office/drawing/2014/main" id="{676D7D14-16AA-D2FF-A0E3-9F1D26630106}"/>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65C652E0-EFB4-9E7E-7EF5-E7EF13997574}"/>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6B2B9480-451A-CC20-7EA0-99BDC80580FB}"/>
              </a:ext>
            </a:extLst>
          </p:cNvPr>
          <p:cNvSpPr txBox="1"/>
          <p:nvPr/>
        </p:nvSpPr>
        <p:spPr>
          <a:xfrm>
            <a:off x="4199943" y="385436"/>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EXISTING SOLUTIONS</a:t>
            </a:r>
          </a:p>
        </p:txBody>
      </p:sp>
      <p:sp>
        <p:nvSpPr>
          <p:cNvPr id="16" name="TextBox 15">
            <a:extLst>
              <a:ext uri="{FF2B5EF4-FFF2-40B4-BE49-F238E27FC236}">
                <a16:creationId xmlns:a16="http://schemas.microsoft.com/office/drawing/2014/main" id="{C2C9CB27-87F7-B60C-DFE8-1FF37C971914}"/>
              </a:ext>
            </a:extLst>
          </p:cNvPr>
          <p:cNvSpPr txBox="1"/>
          <p:nvPr/>
        </p:nvSpPr>
        <p:spPr>
          <a:xfrm>
            <a:off x="488931" y="1279869"/>
            <a:ext cx="10606840" cy="4093428"/>
          </a:xfrm>
          <a:prstGeom prst="rect">
            <a:avLst/>
          </a:prstGeom>
          <a:noFill/>
        </p:spPr>
        <p:txBody>
          <a:bodyPr wrap="square">
            <a:spAutoFit/>
          </a:bodyPr>
          <a:lstStyle/>
          <a:p>
            <a:r>
              <a:rPr lang="en-US" sz="2000" b="1" dirty="0"/>
              <a:t>H. S. Angkasa and N. U. </a:t>
            </a:r>
            <a:r>
              <a:rPr lang="en-US" sz="2000" b="1" dirty="0" err="1"/>
              <a:t>Maulidevi</a:t>
            </a:r>
            <a:r>
              <a:rPr lang="en-US" sz="2000" b="1" dirty="0"/>
              <a:t>, "Emotion Classification of User Face Image in Music Recommendation System," 2022 9th International Conference on Advanced Informatics: Concepts, Theory and Applications (ICAICTA), </a:t>
            </a:r>
            <a:r>
              <a:rPr lang="en-US" sz="2000" b="1" dirty="0" err="1"/>
              <a:t>Tokoname</a:t>
            </a:r>
            <a:r>
              <a:rPr lang="en-US" sz="2000" b="1" dirty="0"/>
              <a:t>, Japan, 2022, pp. 1-6, </a:t>
            </a:r>
            <a:r>
              <a:rPr lang="en-US" sz="2000" b="1" dirty="0" err="1"/>
              <a:t>doi</a:t>
            </a:r>
            <a:r>
              <a:rPr lang="en-US" sz="2000" b="1" dirty="0"/>
              <a:t>: 10.1109/ICAICTA56449.2022.9933010. </a:t>
            </a:r>
          </a:p>
          <a:p>
            <a:endParaRPr lang="en-US" sz="2000" dirty="0"/>
          </a:p>
          <a:p>
            <a:pPr marL="342900" indent="-342900">
              <a:buFont typeface="Arial" panose="020B0604020202020204" pitchFamily="34" charset="0"/>
              <a:buChar char="•"/>
            </a:pPr>
            <a:r>
              <a:rPr lang="en-US" sz="2000" dirty="0"/>
              <a:t>Implemented </a:t>
            </a:r>
            <a:r>
              <a:rPr lang="en-US" sz="2000" b="1" dirty="0"/>
              <a:t>two convolution layers for feature extraction</a:t>
            </a:r>
            <a:r>
              <a:rPr lang="en-US" sz="2000" dirty="0"/>
              <a:t> followed by </a:t>
            </a:r>
            <a:r>
              <a:rPr lang="en-US" sz="2000" b="1" dirty="0" err="1"/>
              <a:t>XGBoost</a:t>
            </a:r>
            <a:r>
              <a:rPr lang="en-US" sz="2000" b="1" dirty="0"/>
              <a:t> for classification</a:t>
            </a:r>
            <a:r>
              <a:rPr lang="en-US" sz="2000" dirty="0"/>
              <a:t>, mapping detected emotions to mood attributes in the </a:t>
            </a:r>
            <a:r>
              <a:rPr lang="en-US" sz="2000" dirty="0" err="1"/>
              <a:t>Emotify</a:t>
            </a:r>
            <a:r>
              <a:rPr lang="en-US" sz="2000" dirty="0"/>
              <a:t> music dataset.</a:t>
            </a:r>
          </a:p>
          <a:p>
            <a:pPr marL="342900" indent="-342900">
              <a:buFont typeface="Arial" panose="020B0604020202020204" pitchFamily="34" charset="0"/>
              <a:buChar char="•"/>
            </a:pPr>
            <a:r>
              <a:rPr lang="en-US" sz="2000" dirty="0"/>
              <a:t>Proposed a </a:t>
            </a:r>
            <a:r>
              <a:rPr lang="en-US" sz="2000" b="1" dirty="0" err="1"/>
              <a:t>ConvXGB</a:t>
            </a:r>
            <a:r>
              <a:rPr lang="en-US" sz="2000" b="1" dirty="0"/>
              <a:t>-based emotion recognition system</a:t>
            </a:r>
            <a:r>
              <a:rPr lang="en-US" sz="2000" dirty="0"/>
              <a:t> to detect users’ moods from facial expressions and enhance music recommendations, addressing the incomplete cold start problem.</a:t>
            </a:r>
          </a:p>
          <a:p>
            <a:pPr marL="342900" indent="-342900">
              <a:buFont typeface="Arial" panose="020B0604020202020204" pitchFamily="34" charset="0"/>
              <a:buChar char="•"/>
            </a:pPr>
            <a:r>
              <a:rPr lang="en-US" sz="2000" dirty="0"/>
              <a:t>Achieved </a:t>
            </a:r>
            <a:r>
              <a:rPr lang="en-US" sz="2000" b="1" dirty="0"/>
              <a:t>78.64% accuracy on 4 emotions</a:t>
            </a:r>
            <a:r>
              <a:rPr lang="en-US" sz="2000" dirty="0"/>
              <a:t> and </a:t>
            </a:r>
            <a:r>
              <a:rPr lang="en-US" sz="2000" b="1" dirty="0"/>
              <a:t>80.99% on 7 emotions</a:t>
            </a:r>
            <a:r>
              <a:rPr lang="en-US" sz="2000" dirty="0"/>
              <a:t>, outperforming prior CNN models on oversampled datasets.</a:t>
            </a:r>
          </a:p>
          <a:p>
            <a:pPr marL="342900" indent="-342900">
              <a:buFont typeface="Arial" panose="020B0604020202020204" pitchFamily="34" charset="0"/>
              <a:buChar char="•"/>
            </a:pPr>
            <a:r>
              <a:rPr lang="en-US" sz="2000" dirty="0"/>
              <a:t>Evaluated system for </a:t>
            </a:r>
            <a:r>
              <a:rPr lang="en-US" sz="2000" b="1" dirty="0"/>
              <a:t>cold start scenarios</a:t>
            </a:r>
            <a:r>
              <a:rPr lang="en-US" sz="2000" dirty="0"/>
              <a:t>, showing that mood information allows effective recommendations even with as little as 10% of user rating data.</a:t>
            </a:r>
          </a:p>
        </p:txBody>
      </p:sp>
      <p:pic>
        <p:nvPicPr>
          <p:cNvPr id="4098" name="Picture 2">
            <a:extLst>
              <a:ext uri="{FF2B5EF4-FFF2-40B4-BE49-F238E27FC236}">
                <a16:creationId xmlns:a16="http://schemas.microsoft.com/office/drawing/2014/main" id="{23732440-CF20-FB71-7923-E5EBB3D107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3088268"/>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A0D96-43C0-412D-518E-A70A5223E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AB14F-9B4B-D2C4-7CD1-00A54B860339}"/>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2575D2A-EEF1-457B-ACDD-90FC99B44F92}"/>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BE702ECD-B80D-1D8B-D7FD-120D846841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846"/>
            <a:ext cx="12192000" cy="6858000"/>
          </a:xfrm>
          <a:prstGeom prst="rect">
            <a:avLst/>
          </a:prstGeom>
        </p:spPr>
      </p:pic>
      <p:sp>
        <p:nvSpPr>
          <p:cNvPr id="5" name="Footer Placeholder 4">
            <a:extLst>
              <a:ext uri="{FF2B5EF4-FFF2-40B4-BE49-F238E27FC236}">
                <a16:creationId xmlns:a16="http://schemas.microsoft.com/office/drawing/2014/main" id="{B592A364-5519-E108-729B-6BD73DBECA86}"/>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3EF94B15-9A1B-129D-5018-1BFF84274641}"/>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13</a:t>
            </a:fld>
            <a:endParaRPr lang="en-US" dirty="0"/>
          </a:p>
        </p:txBody>
      </p:sp>
      <p:sp>
        <p:nvSpPr>
          <p:cNvPr id="9" name="TextBox 8">
            <a:extLst>
              <a:ext uri="{FF2B5EF4-FFF2-40B4-BE49-F238E27FC236}">
                <a16:creationId xmlns:a16="http://schemas.microsoft.com/office/drawing/2014/main" id="{42A942DA-D68D-6420-1315-51139615AAB7}"/>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3A7B70FA-4136-C8CE-5040-AF3B6DE8B15B}"/>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3BF4FC29-1C6A-B346-D21B-D1175F3E1190}"/>
              </a:ext>
            </a:extLst>
          </p:cNvPr>
          <p:cNvSpPr txBox="1"/>
          <p:nvPr/>
        </p:nvSpPr>
        <p:spPr>
          <a:xfrm>
            <a:off x="1899745" y="699730"/>
            <a:ext cx="7906407" cy="507831"/>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OBSERVATIONS OF EXISTING SOLUTIONS</a:t>
            </a:r>
          </a:p>
        </p:txBody>
      </p:sp>
      <p:sp>
        <p:nvSpPr>
          <p:cNvPr id="16" name="TextBox 15">
            <a:extLst>
              <a:ext uri="{FF2B5EF4-FFF2-40B4-BE49-F238E27FC236}">
                <a16:creationId xmlns:a16="http://schemas.microsoft.com/office/drawing/2014/main" id="{EEC54B84-EB1A-F37A-03DB-8DAB03E54859}"/>
              </a:ext>
            </a:extLst>
          </p:cNvPr>
          <p:cNvSpPr txBox="1"/>
          <p:nvPr/>
        </p:nvSpPr>
        <p:spPr>
          <a:xfrm>
            <a:off x="676516" y="1726305"/>
            <a:ext cx="10600920" cy="4401205"/>
          </a:xfrm>
          <a:prstGeom prst="rect">
            <a:avLst/>
          </a:prstGeom>
          <a:noFill/>
        </p:spPr>
        <p:txBody>
          <a:bodyPr wrap="square">
            <a:spAutoFit/>
          </a:bodyPr>
          <a:lstStyle/>
          <a:p>
            <a:pPr marL="342900" indent="-342900">
              <a:buFont typeface="Arial" panose="020B0604020202020204" pitchFamily="34" charset="0"/>
              <a:buChar char="•"/>
            </a:pPr>
            <a:r>
              <a:rPr lang="en-US" sz="2000" dirty="0"/>
              <a:t>Limited to facial input; performance drops under poor lighting or low-quality cameras.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Computationally intensive; requires sequential emotion data which may not always be available.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Fixed input structure; lacks flexibility for diverse real-world scenarios.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Resource-heavy; some inputs are impractical for everyday users.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Ignores other real-time contextual factors such as weather, location, or dynamic changes.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High complexity; prone to overfitting and difficult to deploy for real-time applications.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No hybrid approach combining emotion, contextual information, and user language preference for better personalization.</a:t>
            </a:r>
          </a:p>
        </p:txBody>
      </p:sp>
      <p:pic>
        <p:nvPicPr>
          <p:cNvPr id="4098" name="Picture 2">
            <a:extLst>
              <a:ext uri="{FF2B5EF4-FFF2-40B4-BE49-F238E27FC236}">
                <a16:creationId xmlns:a16="http://schemas.microsoft.com/office/drawing/2014/main" id="{188C666D-D0FE-6D67-1227-E005D3A7CE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032400"/>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F7DCE-CFE9-A58B-C006-D041E59C9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F58F1-344F-C687-C824-FEC83F169CE3}"/>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2E92719-74D4-79EE-E82D-FB9F14DF6D30}"/>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CCF59B1F-A188-2436-7691-778EC165A7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6963"/>
            <a:ext cx="12192000" cy="6858000"/>
          </a:xfrm>
          <a:prstGeom prst="rect">
            <a:avLst/>
          </a:prstGeom>
        </p:spPr>
      </p:pic>
      <p:sp>
        <p:nvSpPr>
          <p:cNvPr id="5" name="Footer Placeholder 4">
            <a:extLst>
              <a:ext uri="{FF2B5EF4-FFF2-40B4-BE49-F238E27FC236}">
                <a16:creationId xmlns:a16="http://schemas.microsoft.com/office/drawing/2014/main" id="{651E5646-5ADB-B65B-FFAD-2D8DBD34F6C0}"/>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048772A9-CC4B-3029-39AB-8CEDC2FEBEA7}"/>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14</a:t>
            </a:fld>
            <a:endParaRPr lang="en-US" dirty="0"/>
          </a:p>
        </p:txBody>
      </p:sp>
      <p:sp>
        <p:nvSpPr>
          <p:cNvPr id="9" name="TextBox 8">
            <a:extLst>
              <a:ext uri="{FF2B5EF4-FFF2-40B4-BE49-F238E27FC236}">
                <a16:creationId xmlns:a16="http://schemas.microsoft.com/office/drawing/2014/main" id="{73B852E1-737A-F408-5B73-7D1C915B469B}"/>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FF14BE6F-F086-0081-1E2F-56566FF6BB1C}"/>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6A7BF094-EAAD-9B8D-B30A-09AEB3EC41D3}"/>
              </a:ext>
            </a:extLst>
          </p:cNvPr>
          <p:cNvSpPr txBox="1"/>
          <p:nvPr/>
        </p:nvSpPr>
        <p:spPr>
          <a:xfrm>
            <a:off x="4204116" y="713207"/>
            <a:ext cx="4237703"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PROBLEM STATEMENT</a:t>
            </a:r>
          </a:p>
        </p:txBody>
      </p:sp>
      <p:sp>
        <p:nvSpPr>
          <p:cNvPr id="16" name="TextBox 15">
            <a:extLst>
              <a:ext uri="{FF2B5EF4-FFF2-40B4-BE49-F238E27FC236}">
                <a16:creationId xmlns:a16="http://schemas.microsoft.com/office/drawing/2014/main" id="{390ABDA3-611F-386C-638B-28241FD442FF}"/>
              </a:ext>
            </a:extLst>
          </p:cNvPr>
          <p:cNvSpPr txBox="1"/>
          <p:nvPr/>
        </p:nvSpPr>
        <p:spPr>
          <a:xfrm>
            <a:off x="730585" y="1476755"/>
            <a:ext cx="10426156" cy="1938992"/>
          </a:xfrm>
          <a:prstGeom prst="rect">
            <a:avLst/>
          </a:prstGeom>
          <a:noFill/>
        </p:spPr>
        <p:txBody>
          <a:bodyPr wrap="square">
            <a:spAutoFit/>
          </a:bodyPr>
          <a:lstStyle/>
          <a:p>
            <a:pPr algn="just"/>
            <a:r>
              <a:rPr lang="en-US" sz="2000" dirty="0"/>
              <a:t>Most existing music recommendation systems rely on static user data and cannot understand the listener’s real-time emotions or environment, leading to generic and unsuitable suggestions. Despite advancements in emotion and context recognition, there is still no unified framework that integrates facial emotion analysis, scene understanding, and contextual factors like weather or location. </a:t>
            </a:r>
            <a:r>
              <a:rPr lang="en-US" sz="2000" dirty="0" err="1"/>
              <a:t>Muzly</a:t>
            </a:r>
            <a:r>
              <a:rPr lang="en-US" sz="2000" dirty="0"/>
              <a:t> aims to address this gap by developing an intelligent, context-aware system that provides adaptive and emotionally aligned music recommendations.</a:t>
            </a:r>
            <a:endParaRPr lang="en-US" sz="2400" dirty="0"/>
          </a:p>
        </p:txBody>
      </p:sp>
      <p:pic>
        <p:nvPicPr>
          <p:cNvPr id="4098" name="Picture 2">
            <a:extLst>
              <a:ext uri="{FF2B5EF4-FFF2-40B4-BE49-F238E27FC236}">
                <a16:creationId xmlns:a16="http://schemas.microsoft.com/office/drawing/2014/main" id="{DB3EBEAB-3032-5512-F373-79EE349936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47334"/>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F2E4D-E37A-32D2-A23D-DFEB2E5D5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96C43-2589-390E-6733-C36B6597A5A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4E68A705-C8ED-DBB2-3BE8-53F61124E3FE}"/>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4473F12F-133C-9303-DEA0-34A05DF1D5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4846"/>
            <a:ext cx="12192000" cy="6858000"/>
          </a:xfrm>
          <a:prstGeom prst="rect">
            <a:avLst/>
          </a:prstGeom>
        </p:spPr>
      </p:pic>
      <p:sp>
        <p:nvSpPr>
          <p:cNvPr id="5" name="Footer Placeholder 4">
            <a:extLst>
              <a:ext uri="{FF2B5EF4-FFF2-40B4-BE49-F238E27FC236}">
                <a16:creationId xmlns:a16="http://schemas.microsoft.com/office/drawing/2014/main" id="{7E21759E-9DE9-495C-C6B3-67CC0C185571}"/>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31A53740-4A0B-7F46-8DE3-AB1804BEB826}"/>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15</a:t>
            </a:fld>
            <a:endParaRPr lang="en-US" dirty="0"/>
          </a:p>
        </p:txBody>
      </p:sp>
      <p:sp>
        <p:nvSpPr>
          <p:cNvPr id="9" name="TextBox 8">
            <a:extLst>
              <a:ext uri="{FF2B5EF4-FFF2-40B4-BE49-F238E27FC236}">
                <a16:creationId xmlns:a16="http://schemas.microsoft.com/office/drawing/2014/main" id="{31A3BD25-9A39-0049-37A4-E481FFA00F19}"/>
              </a:ext>
            </a:extLst>
          </p:cNvPr>
          <p:cNvSpPr txBox="1"/>
          <p:nvPr/>
        </p:nvSpPr>
        <p:spPr>
          <a:xfrm>
            <a:off x="354005" y="336552"/>
            <a:ext cx="9858517" cy="584775"/>
          </a:xfrm>
          <a:prstGeom prst="rect">
            <a:avLst/>
          </a:prstGeom>
          <a:noFill/>
        </p:spPr>
        <p:txBody>
          <a:bodyPr wrap="square" rtlCol="0">
            <a:spAutoFit/>
          </a:bodyPr>
          <a:lstStyle/>
          <a:p>
            <a:r>
              <a:rPr lang="en-IN" sz="3200" b="1" dirty="0">
                <a:solidFill>
                  <a:srgbClr val="FF0000"/>
                </a:solidFill>
              </a:rPr>
              <a:t>Process flow</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E5045717-1C53-151D-EC9D-0092A872B3B5}"/>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pic>
        <p:nvPicPr>
          <p:cNvPr id="6146" name="Picture 2">
            <a:extLst>
              <a:ext uri="{FF2B5EF4-FFF2-40B4-BE49-F238E27FC236}">
                <a16:creationId xmlns:a16="http://schemas.microsoft.com/office/drawing/2014/main" id="{7385C2A8-7EFA-C996-B4DD-9524CCCE71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0264" y="336552"/>
            <a:ext cx="981288" cy="78581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61ADAD3A-5A5B-DD6D-7822-FA49D1DE9E86}"/>
              </a:ext>
            </a:extLst>
          </p:cNvPr>
          <p:cNvPicPr>
            <a:picLocks noChangeAspect="1"/>
          </p:cNvPicPr>
          <p:nvPr/>
        </p:nvPicPr>
        <p:blipFill>
          <a:blip r:embed="rId5"/>
          <a:stretch>
            <a:fillRect/>
          </a:stretch>
        </p:blipFill>
        <p:spPr>
          <a:xfrm>
            <a:off x="2702560" y="465082"/>
            <a:ext cx="6289040" cy="5853165"/>
          </a:xfrm>
          <a:prstGeom prst="rect">
            <a:avLst/>
          </a:prstGeom>
        </p:spPr>
      </p:pic>
    </p:spTree>
    <p:extLst>
      <p:ext uri="{BB962C8B-B14F-4D97-AF65-F5344CB8AC3E}">
        <p14:creationId xmlns:p14="http://schemas.microsoft.com/office/powerpoint/2010/main" val="3648082041"/>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9ECFC-AEE2-D2B4-0A66-072A329FE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4D788-2D62-CFB9-7CB7-3016A392563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2156802-AF2F-321E-5193-41C9E74833A3}"/>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7DD3C7A5-0E25-76F3-66DA-94E0B3A3E4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548B3391-3EF3-1CAC-153D-9D9C92869B2B}"/>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6AEF8AEC-AF0E-1165-900D-E64B88DBDE14}"/>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16</a:t>
            </a:fld>
            <a:endParaRPr lang="en-US" dirty="0"/>
          </a:p>
        </p:txBody>
      </p:sp>
      <p:sp>
        <p:nvSpPr>
          <p:cNvPr id="9" name="TextBox 8">
            <a:extLst>
              <a:ext uri="{FF2B5EF4-FFF2-40B4-BE49-F238E27FC236}">
                <a16:creationId xmlns:a16="http://schemas.microsoft.com/office/drawing/2014/main" id="{FF7FD8AB-045A-878F-4A76-2F08AACA0772}"/>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2FC4CA17-FB2B-EC38-AAC2-2A21BD7F231B}"/>
              </a:ext>
            </a:extLst>
          </p:cNvPr>
          <p:cNvSpPr txBox="1"/>
          <p:nvPr/>
        </p:nvSpPr>
        <p:spPr>
          <a:xfrm>
            <a:off x="4107329" y="257451"/>
            <a:ext cx="4447391" cy="523220"/>
          </a:xfrm>
          <a:prstGeom prst="rect">
            <a:avLst/>
          </a:prstGeom>
          <a:noFill/>
        </p:spPr>
        <p:txBody>
          <a:bodyPr wrap="squar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DATA COLLECTION</a:t>
            </a:r>
          </a:p>
        </p:txBody>
      </p:sp>
      <p:sp>
        <p:nvSpPr>
          <p:cNvPr id="7" name="Footer Placeholder 4">
            <a:extLst>
              <a:ext uri="{FF2B5EF4-FFF2-40B4-BE49-F238E27FC236}">
                <a16:creationId xmlns:a16="http://schemas.microsoft.com/office/drawing/2014/main" id="{DA761065-386E-A759-F21C-D1D521F02A91}"/>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26D20AE7-CABB-1C31-53B8-0E1FCD14DE43}"/>
              </a:ext>
            </a:extLst>
          </p:cNvPr>
          <p:cNvSpPr txBox="1"/>
          <p:nvPr/>
        </p:nvSpPr>
        <p:spPr>
          <a:xfrm>
            <a:off x="449092" y="1122363"/>
            <a:ext cx="11185860" cy="4985980"/>
          </a:xfrm>
          <a:prstGeom prst="rect">
            <a:avLst/>
          </a:prstGeom>
          <a:noFill/>
        </p:spPr>
        <p:txBody>
          <a:bodyPr wrap="square">
            <a:spAutoFit/>
          </a:bodyPr>
          <a:lstStyle/>
          <a:p>
            <a:pPr lvl="0"/>
            <a:r>
              <a:rPr lang="en-IN" sz="2000" b="1" dirty="0"/>
              <a:t>Facial Emotion Dataset (FER2013)</a:t>
            </a:r>
          </a:p>
          <a:p>
            <a:pPr marL="285750" lvl="0" indent="-285750" algn="just">
              <a:buFont typeface="Arial" panose="020B0604020202020204" pitchFamily="34" charset="0"/>
              <a:buChar char="•"/>
            </a:pPr>
            <a:r>
              <a:rPr lang="en-US" sz="2000" dirty="0"/>
              <a:t>The FER2013 dataset, available on </a:t>
            </a:r>
            <a:r>
              <a:rPr lang="en-US" sz="2000" b="1" dirty="0"/>
              <a:t>Kaggle</a:t>
            </a:r>
            <a:r>
              <a:rPr lang="en-US" sz="2000" dirty="0"/>
              <a:t>, is widely used for training emotion detection models. </a:t>
            </a:r>
          </a:p>
          <a:p>
            <a:pPr marL="285750" lvl="0" indent="-285750" algn="just">
              <a:buFont typeface="Arial" panose="020B0604020202020204" pitchFamily="34" charset="0"/>
              <a:buChar char="•"/>
            </a:pPr>
            <a:r>
              <a:rPr lang="en-US" sz="2000" dirty="0"/>
              <a:t>It contains </a:t>
            </a:r>
            <a:r>
              <a:rPr lang="en-US" sz="2000" b="1" dirty="0"/>
              <a:t>35,887 grayscale facial images</a:t>
            </a:r>
            <a:r>
              <a:rPr lang="en-US" sz="2000" dirty="0"/>
              <a:t> of size 48×48 pixels, each labeled with one of </a:t>
            </a:r>
            <a:r>
              <a:rPr lang="en-US" sz="2000" b="1" dirty="0"/>
              <a:t>seven basic emotions</a:t>
            </a:r>
            <a:r>
              <a:rPr lang="en-US" sz="2000" dirty="0"/>
              <a:t>: happy, sad, angry, disgust, fear, surprise, and neutral. </a:t>
            </a:r>
          </a:p>
          <a:p>
            <a:pPr marL="285750" lvl="0" indent="-285750" algn="just">
              <a:buFont typeface="Arial" panose="020B0604020202020204" pitchFamily="34" charset="0"/>
              <a:buChar char="•"/>
            </a:pPr>
            <a:r>
              <a:rPr lang="en-US" sz="2000" dirty="0"/>
              <a:t>The dataset is split into </a:t>
            </a:r>
            <a:r>
              <a:rPr lang="en-US" sz="2000" b="1" dirty="0"/>
              <a:t>training, validation, and test sets</a:t>
            </a:r>
            <a:r>
              <a:rPr lang="en-US" sz="2000" dirty="0"/>
              <a:t>, with 28,709 images for training, 3,589 for validation, and 3,589 for testing. </a:t>
            </a:r>
          </a:p>
          <a:p>
            <a:pPr lvl="0" algn="just"/>
            <a:endParaRPr lang="en-US" sz="2000" dirty="0"/>
          </a:p>
          <a:p>
            <a:pPr lvl="0"/>
            <a:r>
              <a:rPr lang="en-IN" sz="2000" b="1" dirty="0"/>
              <a:t>Custom Song Dataset</a:t>
            </a:r>
            <a:br>
              <a:rPr lang="en-IN" sz="2000" dirty="0"/>
            </a:br>
            <a:r>
              <a:rPr lang="en-IN" sz="2000" dirty="0"/>
              <a:t>A custom CSV file is created to map songs with specific emotional and contextual attributes. </a:t>
            </a:r>
          </a:p>
          <a:p>
            <a:pPr lvl="0"/>
            <a:r>
              <a:rPr lang="en-IN" sz="2000" dirty="0"/>
              <a:t>Each record includes:</a:t>
            </a:r>
          </a:p>
          <a:p>
            <a:pPr marL="285750" lvl="0" indent="-285750">
              <a:buFont typeface="Arial" panose="020B0604020202020204" pitchFamily="34" charset="0"/>
              <a:buChar char="•"/>
            </a:pPr>
            <a:r>
              <a:rPr lang="en-IN" sz="2000" dirty="0"/>
              <a:t>Song Title and Artist</a:t>
            </a:r>
          </a:p>
          <a:p>
            <a:pPr marL="285750" lvl="0" indent="-285750">
              <a:buFont typeface="Arial" panose="020B0604020202020204" pitchFamily="34" charset="0"/>
              <a:buChar char="•"/>
            </a:pPr>
            <a:r>
              <a:rPr lang="en-IN" sz="2000" dirty="0"/>
              <a:t>Emotion Label (happy, sad, calm, energetic, etc.)</a:t>
            </a:r>
          </a:p>
          <a:p>
            <a:pPr marL="285750" lvl="0" indent="-285750">
              <a:buFont typeface="Arial" panose="020B0604020202020204" pitchFamily="34" charset="0"/>
              <a:buChar char="•"/>
            </a:pPr>
            <a:r>
              <a:rPr lang="en-IN" sz="2000" dirty="0"/>
              <a:t>Context/Scene (party, romantic, travel, relaxation, etc.)</a:t>
            </a:r>
          </a:p>
          <a:p>
            <a:pPr marL="285750" lvl="0" indent="-285750">
              <a:buFont typeface="Arial" panose="020B0604020202020204" pitchFamily="34" charset="0"/>
              <a:buChar char="•"/>
            </a:pPr>
            <a:r>
              <a:rPr lang="en-IN" sz="2000" dirty="0"/>
              <a:t>Climate/Weather (rainy, sunny, cloudy, etc.)</a:t>
            </a:r>
          </a:p>
          <a:p>
            <a:pPr marL="285750" lvl="0" indent="-285750">
              <a:buFont typeface="Arial" panose="020B0604020202020204" pitchFamily="34" charset="0"/>
              <a:buChar char="•"/>
            </a:pPr>
            <a:r>
              <a:rPr lang="en-IN" sz="2000" dirty="0"/>
              <a:t>Location Type (urban, beach, mountain, indoor, etc.)</a:t>
            </a:r>
          </a:p>
          <a:p>
            <a:pPr marL="285750" lvl="0" indent="-285750">
              <a:buFont typeface="Arial" panose="020B0604020202020204" pitchFamily="34" charset="0"/>
              <a:buChar char="•"/>
            </a:pPr>
            <a:r>
              <a:rPr lang="en-IN" sz="2000" dirty="0"/>
              <a:t>Language (English, Hindi, Tamil, etc.)</a:t>
            </a:r>
          </a:p>
        </p:txBody>
      </p:sp>
      <p:pic>
        <p:nvPicPr>
          <p:cNvPr id="7170" name="Picture 2">
            <a:extLst>
              <a:ext uri="{FF2B5EF4-FFF2-40B4-BE49-F238E27FC236}">
                <a16:creationId xmlns:a16="http://schemas.microsoft.com/office/drawing/2014/main" id="{9470BC9A-A5E4-9B86-A60F-1F66E8E24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2924025"/>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E7958-4014-964B-030D-D3E55DAA6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3ED40-E163-D210-6358-1E839DD57B35}"/>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22D4E2A-41F5-1F90-A672-0E0B212A5E5B}"/>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7AC36FDD-AAE3-E00A-E96D-82CDC24B64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073B5090-669F-E8C3-B9D6-3BFB962D0C90}"/>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06F87F42-59A1-C372-5F50-2BF3D5D8B772}"/>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17</a:t>
            </a:fld>
            <a:endParaRPr lang="en-US" dirty="0"/>
          </a:p>
        </p:txBody>
      </p:sp>
      <p:sp>
        <p:nvSpPr>
          <p:cNvPr id="9" name="TextBox 8">
            <a:extLst>
              <a:ext uri="{FF2B5EF4-FFF2-40B4-BE49-F238E27FC236}">
                <a16:creationId xmlns:a16="http://schemas.microsoft.com/office/drawing/2014/main" id="{8FB3B311-2BB6-A19F-ABFB-13571E14008C}"/>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836D9FD-D8E3-B2AE-D39E-1AC9679DE6BC}"/>
              </a:ext>
            </a:extLst>
          </p:cNvPr>
          <p:cNvSpPr txBox="1"/>
          <p:nvPr/>
        </p:nvSpPr>
        <p:spPr>
          <a:xfrm>
            <a:off x="4107329" y="257451"/>
            <a:ext cx="4447391" cy="523220"/>
          </a:xfrm>
          <a:prstGeom prst="rect">
            <a:avLst/>
          </a:prstGeom>
          <a:noFill/>
        </p:spPr>
        <p:txBody>
          <a:bodyPr wrap="square" rtlCol="0">
            <a:spAutoFit/>
          </a:bodyPr>
          <a:lstStyle/>
          <a:p>
            <a:r>
              <a:rPr lang="en-IN" sz="2800" b="1" dirty="0">
                <a:solidFill>
                  <a:srgbClr val="FF0000"/>
                </a:solidFill>
              </a:rPr>
              <a:t>DATA PREPROCESSING</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2A5AE8EA-7E7A-C73E-8544-53E0D99E304A}"/>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08D2B94C-2B5C-8DCB-6B66-95797C5F41ED}"/>
              </a:ext>
            </a:extLst>
          </p:cNvPr>
          <p:cNvSpPr txBox="1"/>
          <p:nvPr/>
        </p:nvSpPr>
        <p:spPr>
          <a:xfrm>
            <a:off x="449092" y="1122363"/>
            <a:ext cx="11931552" cy="5078313"/>
          </a:xfrm>
          <a:prstGeom prst="rect">
            <a:avLst/>
          </a:prstGeom>
          <a:noFill/>
        </p:spPr>
        <p:txBody>
          <a:bodyPr wrap="square">
            <a:spAutoFit/>
          </a:bodyPr>
          <a:lstStyle/>
          <a:p>
            <a:endParaRPr lang="en-IN" sz="2000" dirty="0"/>
          </a:p>
          <a:p>
            <a:r>
              <a:rPr lang="en-IN" sz="2000" b="1" dirty="0"/>
              <a:t>Image Data Preprocessing</a:t>
            </a:r>
          </a:p>
          <a:p>
            <a:endParaRPr lang="en-IN" sz="2000" dirty="0"/>
          </a:p>
          <a:p>
            <a:pPr marL="285750" indent="-285750">
              <a:buFont typeface="Arial" panose="020B0604020202020204" pitchFamily="34" charset="0"/>
              <a:buChar char="•"/>
            </a:pPr>
            <a:r>
              <a:rPr lang="en-IN" sz="2000" b="1" dirty="0"/>
              <a:t>Grayscale Conversion:</a:t>
            </a:r>
            <a:r>
              <a:rPr lang="en-IN" sz="2000" dirty="0"/>
              <a:t> Reduce complexity, retain intensity </a:t>
            </a:r>
          </a:p>
          <a:p>
            <a:pPr marL="285750" indent="-285750">
              <a:buFont typeface="Arial" panose="020B0604020202020204" pitchFamily="34" charset="0"/>
              <a:buChar char="•"/>
            </a:pPr>
            <a:r>
              <a:rPr lang="en-IN" sz="2000" b="1" dirty="0"/>
              <a:t>Rescaling/Normalization:</a:t>
            </a:r>
            <a:r>
              <a:rPr lang="en-IN" sz="2000" dirty="0"/>
              <a:t> Pixel values scaled [0,1] for faster training</a:t>
            </a:r>
          </a:p>
          <a:p>
            <a:pPr marL="285750" indent="-285750">
              <a:buFont typeface="Arial" panose="020B0604020202020204" pitchFamily="34" charset="0"/>
              <a:buChar char="•"/>
            </a:pPr>
            <a:r>
              <a:rPr lang="en-IN" sz="2000" b="1" dirty="0"/>
              <a:t>Data Augmentation:</a:t>
            </a:r>
            <a:r>
              <a:rPr lang="en-IN" sz="2000" dirty="0"/>
              <a:t> Rotation ±15°, width/height shift 10%, zoom ±10%, shear, horizontal flip</a:t>
            </a:r>
          </a:p>
          <a:p>
            <a:pPr marL="285750" indent="-285750">
              <a:buFont typeface="Arial" panose="020B0604020202020204" pitchFamily="34" charset="0"/>
              <a:buChar char="•"/>
            </a:pPr>
            <a:r>
              <a:rPr lang="en-IN" sz="2000" b="1" dirty="0"/>
              <a:t>Train/Validation Split:</a:t>
            </a:r>
            <a:r>
              <a:rPr lang="en-IN" sz="2000" dirty="0"/>
              <a:t> 90% train, 10% validation</a:t>
            </a:r>
          </a:p>
          <a:p>
            <a:pPr marL="285750" indent="-285750">
              <a:buFont typeface="Arial" panose="020B0604020202020204" pitchFamily="34" charset="0"/>
              <a:buChar char="•"/>
            </a:pPr>
            <a:r>
              <a:rPr lang="en-IN" sz="2000" b="1" dirty="0"/>
              <a:t>Batching &amp; Shuffling:</a:t>
            </a:r>
            <a:r>
              <a:rPr lang="en-IN" sz="2000" dirty="0"/>
              <a:t> Batch size = 32, shuffle=True</a:t>
            </a:r>
          </a:p>
          <a:p>
            <a:endParaRPr lang="en-IN" sz="2000" dirty="0"/>
          </a:p>
          <a:p>
            <a:r>
              <a:rPr lang="en-IN" sz="2000" b="1" dirty="0"/>
              <a:t>Song Metadata Preprocessing</a:t>
            </a:r>
          </a:p>
          <a:p>
            <a:endParaRPr lang="en-IN" sz="2000" dirty="0"/>
          </a:p>
          <a:p>
            <a:pPr marL="285750" indent="-285750">
              <a:buFont typeface="Arial" panose="020B0604020202020204" pitchFamily="34" charset="0"/>
              <a:buChar char="•"/>
            </a:pPr>
            <a:r>
              <a:rPr lang="en-IN" sz="2000" b="1" dirty="0"/>
              <a:t>Handling Missing Values:</a:t>
            </a:r>
            <a:r>
              <a:rPr lang="en-IN" sz="2000" dirty="0"/>
              <a:t> Fill or remove incomplete records</a:t>
            </a:r>
          </a:p>
          <a:p>
            <a:pPr marL="285750" indent="-285750">
              <a:buFont typeface="Arial" panose="020B0604020202020204" pitchFamily="34" charset="0"/>
              <a:buChar char="•"/>
            </a:pPr>
            <a:r>
              <a:rPr lang="en-IN" sz="2000" b="1" dirty="0"/>
              <a:t>Standardizing Categorical Columns:</a:t>
            </a:r>
            <a:r>
              <a:rPr lang="en-IN" sz="2000" dirty="0"/>
              <a:t> Lowercase &amp; strip spaces</a:t>
            </a:r>
          </a:p>
          <a:p>
            <a:pPr marL="285750" indent="-285750">
              <a:buFont typeface="Arial" panose="020B0604020202020204" pitchFamily="34" charset="0"/>
              <a:buChar char="•"/>
            </a:pPr>
            <a:r>
              <a:rPr lang="en-IN" sz="2000" b="1" dirty="0"/>
              <a:t>Encoding Categorical Data:</a:t>
            </a:r>
            <a:r>
              <a:rPr lang="en-IN" sz="2000" dirty="0"/>
              <a:t> One-hot or label encoding</a:t>
            </a:r>
          </a:p>
          <a:p>
            <a:pPr marL="285750" indent="-285750">
              <a:buFont typeface="Arial" panose="020B0604020202020204" pitchFamily="34" charset="0"/>
              <a:buChar char="•"/>
            </a:pPr>
            <a:r>
              <a:rPr lang="en-IN" sz="2000" b="1" dirty="0"/>
              <a:t>Feature Selection:</a:t>
            </a:r>
            <a:r>
              <a:rPr lang="en-IN" sz="2000" dirty="0"/>
              <a:t> Keep emotion, context, language, climate, location; remove unnecessary columns</a:t>
            </a:r>
          </a:p>
          <a:p>
            <a:pPr marL="342900" indent="-342900">
              <a:buFont typeface="Arial" panose="020B0604020202020204" pitchFamily="34" charset="0"/>
              <a:buChar char="•"/>
            </a:pPr>
            <a:endParaRPr lang="en-US" sz="2400" dirty="0"/>
          </a:p>
        </p:txBody>
      </p:sp>
      <p:pic>
        <p:nvPicPr>
          <p:cNvPr id="7170" name="Picture 2">
            <a:extLst>
              <a:ext uri="{FF2B5EF4-FFF2-40B4-BE49-F238E27FC236}">
                <a16:creationId xmlns:a16="http://schemas.microsoft.com/office/drawing/2014/main" id="{7F2574DE-B989-6F1B-1977-087F7CA2FE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4248136"/>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ACD51-F03B-0A2A-1FFB-83317B4C6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ED297-D5A0-7018-0C91-55C27157871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A8C6E85-ABF3-0B8A-9B12-76BE4F581AF9}"/>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F73769E0-90CE-45AE-00E9-98BCC0500C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1460"/>
            <a:ext cx="12192000" cy="6858000"/>
          </a:xfrm>
          <a:prstGeom prst="rect">
            <a:avLst/>
          </a:prstGeom>
        </p:spPr>
      </p:pic>
      <p:sp>
        <p:nvSpPr>
          <p:cNvPr id="5" name="Footer Placeholder 4">
            <a:extLst>
              <a:ext uri="{FF2B5EF4-FFF2-40B4-BE49-F238E27FC236}">
                <a16:creationId xmlns:a16="http://schemas.microsoft.com/office/drawing/2014/main" id="{3F0CEF8A-C0A4-767A-0755-EE4B64992DAB}"/>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3E8165D1-79A3-8CD0-00AD-C70783F9D01B}"/>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18</a:t>
            </a:fld>
            <a:endParaRPr lang="en-US" dirty="0"/>
          </a:p>
        </p:txBody>
      </p:sp>
      <p:sp>
        <p:nvSpPr>
          <p:cNvPr id="9" name="TextBox 8">
            <a:extLst>
              <a:ext uri="{FF2B5EF4-FFF2-40B4-BE49-F238E27FC236}">
                <a16:creationId xmlns:a16="http://schemas.microsoft.com/office/drawing/2014/main" id="{CFE87D18-3636-A79A-940F-047CE5C42FF5}"/>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2FE2345-DE83-FCDC-0FA5-5E9C41731687}"/>
              </a:ext>
            </a:extLst>
          </p:cNvPr>
          <p:cNvSpPr txBox="1"/>
          <p:nvPr/>
        </p:nvSpPr>
        <p:spPr>
          <a:xfrm>
            <a:off x="2025869" y="354315"/>
            <a:ext cx="6520897" cy="523220"/>
          </a:xfrm>
          <a:prstGeom prst="rect">
            <a:avLst/>
          </a:prstGeom>
          <a:noFill/>
        </p:spPr>
        <p:txBody>
          <a:bodyPr wrap="square" rtlCol="0">
            <a:spAutoFit/>
          </a:bodyPr>
          <a:lstStyle/>
          <a:p>
            <a:pPr algn="just"/>
            <a:r>
              <a:rPr lang="en-IN" sz="2800" b="1" dirty="0">
                <a:solidFill>
                  <a:srgbClr val="FF0000"/>
                </a:solidFill>
              </a:rPr>
              <a:t>Facial Emotion Recognition (FER) Model</a:t>
            </a:r>
          </a:p>
        </p:txBody>
      </p:sp>
      <p:sp>
        <p:nvSpPr>
          <p:cNvPr id="7" name="Footer Placeholder 4">
            <a:extLst>
              <a:ext uri="{FF2B5EF4-FFF2-40B4-BE49-F238E27FC236}">
                <a16:creationId xmlns:a16="http://schemas.microsoft.com/office/drawing/2014/main" id="{952C42EA-D960-DF1E-EF55-C9976F46C2BB}"/>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5C53F4D9-6F20-ACA9-EE29-AA2422B84837}"/>
              </a:ext>
            </a:extLst>
          </p:cNvPr>
          <p:cNvSpPr txBox="1"/>
          <p:nvPr/>
        </p:nvSpPr>
        <p:spPr>
          <a:xfrm>
            <a:off x="430405" y="1514289"/>
            <a:ext cx="11500628" cy="4093428"/>
          </a:xfrm>
          <a:prstGeom prst="rect">
            <a:avLst/>
          </a:prstGeom>
          <a:noFill/>
        </p:spPr>
        <p:txBody>
          <a:bodyPr wrap="square">
            <a:spAutoFit/>
          </a:bodyPr>
          <a:lstStyle/>
          <a:p>
            <a:pPr marL="285750" indent="-285750">
              <a:buFont typeface="Arial" panose="020B0604020202020204" pitchFamily="34" charset="0"/>
              <a:buChar char="•"/>
            </a:pPr>
            <a:r>
              <a:rPr lang="en-IN" sz="2000" b="1" dirty="0"/>
              <a:t>Input Processing: </a:t>
            </a:r>
            <a:r>
              <a:rPr lang="en-US" sz="2000" dirty="0"/>
              <a:t>The system uses 48×48 grayscale facial images as input for emotion detection.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IN" sz="2000" b="1" dirty="0"/>
              <a:t>Feature Extraction: </a:t>
            </a:r>
            <a:r>
              <a:rPr lang="en-US" sz="2000" dirty="0"/>
              <a:t>Convolutional layers extract facial features using ReLU, batch normalization, and </a:t>
            </a:r>
            <a:r>
              <a:rPr lang="en-US" sz="2000" dirty="0" err="1"/>
              <a:t>MaxPooling</a:t>
            </a:r>
            <a:r>
              <a:rPr lang="en-US" sz="2000" dirty="0"/>
              <a: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IN" sz="2000" b="1" dirty="0"/>
              <a:t>Regularization &amp; Flattening: </a:t>
            </a:r>
            <a:r>
              <a:rPr lang="en-US" sz="2000" dirty="0"/>
              <a:t>Dropout prevents overfitting, and a Flatten layer prepares features for classification.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IN" sz="2000" b="1" dirty="0"/>
              <a:t>Classification with Dense + </a:t>
            </a:r>
            <a:r>
              <a:rPr lang="en-IN" sz="2000" b="1" dirty="0" err="1"/>
              <a:t>Softmax</a:t>
            </a:r>
            <a:r>
              <a:rPr lang="en-IN" sz="2000" b="1" dirty="0"/>
              <a:t>: </a:t>
            </a:r>
            <a:r>
              <a:rPr lang="en-US" sz="2000" dirty="0"/>
              <a:t>Dense layers process the extracted features, and </a:t>
            </a:r>
            <a:r>
              <a:rPr lang="en-US" sz="2000" dirty="0" err="1"/>
              <a:t>Softmax</a:t>
            </a:r>
            <a:r>
              <a:rPr lang="en-US" sz="2000" dirty="0"/>
              <a:t> outputs emotion probabilities.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IN" sz="2000" b="1" dirty="0"/>
              <a:t>Training &amp; Output: </a:t>
            </a:r>
            <a:r>
              <a:rPr lang="en-US" sz="2000" dirty="0"/>
              <a:t>The model is trained with categorical cross-entropy and Adam, and predicts the emotion with the highest probability.</a:t>
            </a:r>
          </a:p>
        </p:txBody>
      </p:sp>
      <p:pic>
        <p:nvPicPr>
          <p:cNvPr id="7170" name="Picture 2">
            <a:extLst>
              <a:ext uri="{FF2B5EF4-FFF2-40B4-BE49-F238E27FC236}">
                <a16:creationId xmlns:a16="http://schemas.microsoft.com/office/drawing/2014/main" id="{5C366E8B-1B65-55A8-C27B-1C9F06365A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3200117"/>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F7F0A-5285-45C1-BFED-FB96DCC4B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5CC379-AF61-07DF-E814-F91D23F7750E}"/>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33E1EF5-463D-5898-D98E-B7B582631E0C}"/>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8F2A8EF9-7DED-07FA-D468-959CD810BF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1460"/>
            <a:ext cx="12192000" cy="6858000"/>
          </a:xfrm>
          <a:prstGeom prst="rect">
            <a:avLst/>
          </a:prstGeom>
        </p:spPr>
      </p:pic>
      <p:sp>
        <p:nvSpPr>
          <p:cNvPr id="5" name="Footer Placeholder 4">
            <a:extLst>
              <a:ext uri="{FF2B5EF4-FFF2-40B4-BE49-F238E27FC236}">
                <a16:creationId xmlns:a16="http://schemas.microsoft.com/office/drawing/2014/main" id="{E7E95BC4-F6A1-9CBF-1D82-D375DC58D1C4}"/>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DE9B3892-42E0-95F5-B9EA-A1FBFD195D92}"/>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19</a:t>
            </a:fld>
            <a:endParaRPr lang="en-US" dirty="0"/>
          </a:p>
        </p:txBody>
      </p:sp>
      <p:sp>
        <p:nvSpPr>
          <p:cNvPr id="9" name="TextBox 8">
            <a:extLst>
              <a:ext uri="{FF2B5EF4-FFF2-40B4-BE49-F238E27FC236}">
                <a16:creationId xmlns:a16="http://schemas.microsoft.com/office/drawing/2014/main" id="{8956021B-6FD2-E7EF-79CC-F6A7BAD1168F}"/>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A6E0C88-0B6A-41DA-CD21-5B67AAAF94D5}"/>
              </a:ext>
            </a:extLst>
          </p:cNvPr>
          <p:cNvSpPr txBox="1"/>
          <p:nvPr/>
        </p:nvSpPr>
        <p:spPr>
          <a:xfrm>
            <a:off x="3031571" y="351888"/>
            <a:ext cx="5517931" cy="523220"/>
          </a:xfrm>
          <a:prstGeom prst="rect">
            <a:avLst/>
          </a:prstGeom>
          <a:noFill/>
        </p:spPr>
        <p:txBody>
          <a:bodyPr wrap="square" rtlCol="0">
            <a:spAutoFit/>
          </a:bodyPr>
          <a:lstStyle/>
          <a:p>
            <a:pPr algn="just"/>
            <a:r>
              <a:rPr lang="en-IN" sz="2800" b="1" dirty="0">
                <a:solidFill>
                  <a:srgbClr val="FF0000"/>
                </a:solidFill>
              </a:rPr>
              <a:t>Facial Emotion Model Architecture</a:t>
            </a:r>
          </a:p>
        </p:txBody>
      </p:sp>
      <p:sp>
        <p:nvSpPr>
          <p:cNvPr id="7" name="Footer Placeholder 4">
            <a:extLst>
              <a:ext uri="{FF2B5EF4-FFF2-40B4-BE49-F238E27FC236}">
                <a16:creationId xmlns:a16="http://schemas.microsoft.com/office/drawing/2014/main" id="{26CA146F-C41B-27D7-4B21-A88E2352B3D6}"/>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pic>
        <p:nvPicPr>
          <p:cNvPr id="7170" name="Picture 2">
            <a:extLst>
              <a:ext uri="{FF2B5EF4-FFF2-40B4-BE49-F238E27FC236}">
                <a16:creationId xmlns:a16="http://schemas.microsoft.com/office/drawing/2014/main" id="{E902ED89-D955-711D-F4B1-6C4BFBC92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554437E-6543-9C07-D8ED-B3C2E33A31FF}"/>
              </a:ext>
            </a:extLst>
          </p:cNvPr>
          <p:cNvPicPr>
            <a:picLocks noChangeAspect="1"/>
          </p:cNvPicPr>
          <p:nvPr/>
        </p:nvPicPr>
        <p:blipFill>
          <a:blip r:embed="rId4"/>
          <a:stretch>
            <a:fillRect/>
          </a:stretch>
        </p:blipFill>
        <p:spPr>
          <a:xfrm>
            <a:off x="708152" y="1406015"/>
            <a:ext cx="10164770" cy="4392045"/>
          </a:xfrm>
          <a:prstGeom prst="rect">
            <a:avLst/>
          </a:prstGeom>
        </p:spPr>
      </p:pic>
    </p:spTree>
    <p:extLst>
      <p:ext uri="{BB962C8B-B14F-4D97-AF65-F5344CB8AC3E}">
        <p14:creationId xmlns:p14="http://schemas.microsoft.com/office/powerpoint/2010/main" val="218184688"/>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92285-DD29-3D8E-3334-E414F3582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C3D47-850B-C8CD-052B-EC8CAC2919D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A7FF6D1-5630-219D-2278-7FA77FD17EFB}"/>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CF083061-47E7-47A0-7221-8AE3FC107F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DD18E81B-B0F8-D215-91CD-F3E2EF143259}"/>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9190C141-4B35-76FD-B653-E5F42755B2A5}"/>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20</a:t>
            </a:fld>
            <a:endParaRPr lang="en-US" dirty="0"/>
          </a:p>
        </p:txBody>
      </p:sp>
      <p:sp>
        <p:nvSpPr>
          <p:cNvPr id="9" name="TextBox 8">
            <a:extLst>
              <a:ext uri="{FF2B5EF4-FFF2-40B4-BE49-F238E27FC236}">
                <a16:creationId xmlns:a16="http://schemas.microsoft.com/office/drawing/2014/main" id="{49A66CEE-FD24-5996-4CBB-58A79ABDB2EB}"/>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18DC306-B3FD-3C42-60A7-EA76B42176C4}"/>
              </a:ext>
            </a:extLst>
          </p:cNvPr>
          <p:cNvSpPr txBox="1"/>
          <p:nvPr/>
        </p:nvSpPr>
        <p:spPr>
          <a:xfrm>
            <a:off x="3418689" y="314906"/>
            <a:ext cx="5761885" cy="523220"/>
          </a:xfrm>
          <a:prstGeom prst="rect">
            <a:avLst/>
          </a:prstGeom>
          <a:noFill/>
        </p:spPr>
        <p:txBody>
          <a:bodyPr wrap="square" rtlCol="0">
            <a:spAutoFit/>
          </a:bodyPr>
          <a:lstStyle/>
          <a:p>
            <a:r>
              <a:rPr lang="en-IN" sz="2800" b="1" dirty="0">
                <a:solidFill>
                  <a:srgbClr val="FF0000"/>
                </a:solidFill>
              </a:rPr>
              <a:t>MUSIC RECOMMENDATION ENGINE</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323AE015-CDB6-2D79-C52F-F3B89320E464}"/>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DEA75031-7441-01CC-550A-6E45C630B289}"/>
              </a:ext>
            </a:extLst>
          </p:cNvPr>
          <p:cNvSpPr txBox="1"/>
          <p:nvPr/>
        </p:nvSpPr>
        <p:spPr>
          <a:xfrm>
            <a:off x="365009" y="1084357"/>
            <a:ext cx="10302991" cy="5909310"/>
          </a:xfrm>
          <a:prstGeom prst="rect">
            <a:avLst/>
          </a:prstGeom>
          <a:noFill/>
        </p:spPr>
        <p:txBody>
          <a:bodyPr wrap="square">
            <a:spAutoFit/>
          </a:bodyPr>
          <a:lstStyle/>
          <a:p>
            <a:pPr marL="285750" lvl="0" indent="-285750">
              <a:buFont typeface="Arial" panose="020B0604020202020204" pitchFamily="34" charset="0"/>
              <a:buChar char="•"/>
            </a:pPr>
            <a:r>
              <a:rPr lang="en-US" b="1" dirty="0"/>
              <a:t>Emotion</a:t>
            </a:r>
            <a:r>
              <a:rPr lang="en-US" dirty="0"/>
              <a:t> detected using the FER model from facial expressions.</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b="1" dirty="0"/>
              <a:t>Context/Scene</a:t>
            </a:r>
            <a:r>
              <a:rPr lang="en-US" dirty="0"/>
              <a:t> analyzed with CLIP</a:t>
            </a:r>
            <a:r>
              <a:rPr lang="en-IN" b="1" dirty="0"/>
              <a:t>(Contrastive Language–Image Pretraining)</a:t>
            </a:r>
            <a:r>
              <a:rPr lang="en-IN" dirty="0"/>
              <a:t> </a:t>
            </a:r>
            <a:r>
              <a:rPr lang="en-US" dirty="0"/>
              <a:t>, and </a:t>
            </a:r>
            <a:r>
              <a:rPr lang="en-US" b="1" dirty="0"/>
              <a:t>weather</a:t>
            </a:r>
            <a:r>
              <a:rPr lang="en-US" dirty="0"/>
              <a:t> fetched from </a:t>
            </a:r>
            <a:r>
              <a:rPr lang="en-US" dirty="0" err="1"/>
              <a:t>OpenWeather</a:t>
            </a:r>
            <a:r>
              <a:rPr lang="en-US" dirty="0"/>
              <a:t>.</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b="1" dirty="0"/>
              <a:t>Location</a:t>
            </a:r>
            <a:r>
              <a:rPr lang="en-US" dirty="0"/>
              <a:t> obtained via </a:t>
            </a:r>
            <a:r>
              <a:rPr lang="en-US" dirty="0" err="1"/>
              <a:t>IPinfo</a:t>
            </a:r>
            <a:r>
              <a:rPr lang="en-US" dirty="0"/>
              <a:t> to determine preferred </a:t>
            </a:r>
            <a:r>
              <a:rPr lang="en-US" b="1" dirty="0"/>
              <a:t>language</a:t>
            </a:r>
            <a:r>
              <a:rPr lang="en-US" dirty="0"/>
              <a:t>, then songs are recommended.</a:t>
            </a:r>
          </a:p>
          <a:p>
            <a:pPr marL="285750" lvl="0" indent="-285750">
              <a:buFont typeface="Arial" panose="020B0604020202020204" pitchFamily="34" charset="0"/>
              <a:buChar char="•"/>
            </a:pPr>
            <a:endParaRPr lang="en-IN" b="1" dirty="0"/>
          </a:p>
          <a:p>
            <a:pPr marL="285750" lvl="0" indent="-285750">
              <a:buFont typeface="Arial" panose="020B0604020202020204" pitchFamily="34" charset="0"/>
              <a:buChar char="•"/>
            </a:pPr>
            <a:r>
              <a:rPr lang="en-IN" b="1" dirty="0"/>
              <a:t>Context-Aware Scoring : </a:t>
            </a:r>
            <a:r>
              <a:rPr lang="en-IN" dirty="0"/>
              <a:t>Multiply each feature by a </a:t>
            </a:r>
            <a:r>
              <a:rPr lang="en-IN" b="1" dirty="0"/>
              <a:t>weight factor</a:t>
            </a:r>
            <a:r>
              <a:rPr lang="en-IN" dirty="0"/>
              <a:t> to reflect its </a:t>
            </a:r>
          </a:p>
          <a:p>
            <a:endParaRPr lang="en-IN" dirty="0"/>
          </a:p>
          <a:p>
            <a:endParaRPr lang="en-IN" dirty="0"/>
          </a:p>
          <a:p>
            <a:endParaRPr lang="en-IN" dirty="0"/>
          </a:p>
          <a:p>
            <a:endParaRPr lang="en-IN" dirty="0"/>
          </a:p>
          <a:p>
            <a:endParaRPr lang="en-IN" dirty="0"/>
          </a:p>
          <a:p>
            <a:endParaRPr lang="en-IN" dirty="0"/>
          </a:p>
          <a:p>
            <a:endParaRPr lang="en-IN" dirty="0"/>
          </a:p>
          <a:p>
            <a:pPr marL="285750" lvl="0" indent="-285750">
              <a:buFont typeface="Arial" panose="020B0604020202020204" pitchFamily="34" charset="0"/>
              <a:buChar char="•"/>
            </a:pPr>
            <a:r>
              <a:rPr lang="en-US" b="1" dirty="0"/>
              <a:t>Ranking Layer: </a:t>
            </a:r>
            <a:r>
              <a:rPr lang="en-US" dirty="0"/>
              <a:t>Songs are ranked based on final similarity scores.</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b="1" dirty="0"/>
              <a:t>Top N </a:t>
            </a:r>
            <a:r>
              <a:rPr lang="en-US" dirty="0"/>
              <a:t>Recommendations displayed as song cards with name, artist, language, and mood.</a:t>
            </a:r>
            <a:endParaRPr lang="en-IN" dirty="0"/>
          </a:p>
          <a:p>
            <a:pPr lvl="1"/>
            <a:endParaRPr lang="en-IN" dirty="0"/>
          </a:p>
          <a:p>
            <a:endParaRPr lang="en-IN" dirty="0"/>
          </a:p>
          <a:p>
            <a:endParaRPr lang="en-IN" dirty="0"/>
          </a:p>
        </p:txBody>
      </p:sp>
      <p:pic>
        <p:nvPicPr>
          <p:cNvPr id="7170" name="Picture 2">
            <a:extLst>
              <a:ext uri="{FF2B5EF4-FFF2-40B4-BE49-F238E27FC236}">
                <a16:creationId xmlns:a16="http://schemas.microsoft.com/office/drawing/2014/main" id="{62B1F82C-8408-77DD-4AC4-DAA34A9FBE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4D917C98-3E66-7FCF-C6E5-962B159626F7}"/>
              </a:ext>
            </a:extLst>
          </p:cNvPr>
          <p:cNvPicPr>
            <a:picLocks noChangeAspect="1"/>
          </p:cNvPicPr>
          <p:nvPr/>
        </p:nvPicPr>
        <p:blipFill>
          <a:blip r:embed="rId5"/>
          <a:stretch>
            <a:fillRect/>
          </a:stretch>
        </p:blipFill>
        <p:spPr>
          <a:xfrm>
            <a:off x="2387166" y="3473865"/>
            <a:ext cx="7112993" cy="1440241"/>
          </a:xfrm>
          <a:prstGeom prst="rect">
            <a:avLst/>
          </a:prstGeom>
        </p:spPr>
      </p:pic>
    </p:spTree>
    <p:extLst>
      <p:ext uri="{BB962C8B-B14F-4D97-AF65-F5344CB8AC3E}">
        <p14:creationId xmlns:p14="http://schemas.microsoft.com/office/powerpoint/2010/main" val="1539649352"/>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9524F-C490-D24E-44A0-1713255D4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AE1F1-1F32-331A-99F3-EF26EE103646}"/>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BB6055D8-67B4-8DB4-DB82-338E96D9C4AD}"/>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34E9C7A4-F697-9437-4D85-D0EC1FE898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D621F57C-F531-DC9A-1B79-7ABCF01DCF08}"/>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E9810CE1-0CFE-0900-50BB-9BFA683BF7C4}"/>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21</a:t>
            </a:fld>
            <a:endParaRPr lang="en-US" dirty="0"/>
          </a:p>
        </p:txBody>
      </p:sp>
      <p:sp>
        <p:nvSpPr>
          <p:cNvPr id="9" name="TextBox 8">
            <a:extLst>
              <a:ext uri="{FF2B5EF4-FFF2-40B4-BE49-F238E27FC236}">
                <a16:creationId xmlns:a16="http://schemas.microsoft.com/office/drawing/2014/main" id="{E3B5CB9D-260E-27F4-ABF9-46C2DA168325}"/>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D86FB55-7554-7EFB-9DD2-1858A6CC41E8}"/>
              </a:ext>
            </a:extLst>
          </p:cNvPr>
          <p:cNvSpPr txBox="1"/>
          <p:nvPr/>
        </p:nvSpPr>
        <p:spPr>
          <a:xfrm>
            <a:off x="4099375" y="507068"/>
            <a:ext cx="4447391" cy="523220"/>
          </a:xfrm>
          <a:prstGeom prst="rect">
            <a:avLst/>
          </a:prstGeom>
          <a:noFill/>
        </p:spPr>
        <p:txBody>
          <a:bodyPr wrap="square" rtlCol="0">
            <a:spAutoFit/>
          </a:bodyPr>
          <a:lstStyle/>
          <a:p>
            <a:r>
              <a:rPr lang="en-IN" sz="2800" b="1" dirty="0">
                <a:solidFill>
                  <a:srgbClr val="FF0000"/>
                </a:solidFill>
              </a:rPr>
              <a:t>MODEL EVALUATION</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C548DC59-2631-4E27-BD0C-C143C045ABE6}"/>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A5E9C236-B115-2856-CBD6-15574F4408BD}"/>
              </a:ext>
            </a:extLst>
          </p:cNvPr>
          <p:cNvSpPr txBox="1"/>
          <p:nvPr/>
        </p:nvSpPr>
        <p:spPr>
          <a:xfrm>
            <a:off x="260448" y="1041862"/>
            <a:ext cx="11931552" cy="2862322"/>
          </a:xfrm>
          <a:prstGeom prst="rect">
            <a:avLst/>
          </a:prstGeom>
          <a:noFill/>
        </p:spPr>
        <p:txBody>
          <a:bodyPr wrap="square">
            <a:spAutoFit/>
          </a:bodyPr>
          <a:lstStyle/>
          <a:p>
            <a:endParaRPr lang="en-IN" dirty="0"/>
          </a:p>
          <a:p>
            <a:pPr marL="342900" indent="-342900">
              <a:buFont typeface="Arial" panose="020B0604020202020204" pitchFamily="34" charset="0"/>
              <a:buChar char="•"/>
            </a:pPr>
            <a:r>
              <a:rPr lang="en-IN" b="1" dirty="0"/>
              <a:t>Accuracy:</a:t>
            </a:r>
            <a:r>
              <a:rPr lang="en-IN" dirty="0"/>
              <a:t> Measures the percentage of correctly predicted emotions from test images.</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a:t>Precision:</a:t>
            </a:r>
            <a:r>
              <a:rPr lang="en-IN" dirty="0"/>
              <a:t> Measures the proportion of correct predictions among all predictions for each emotion.</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a:t>Recall:</a:t>
            </a:r>
            <a:r>
              <a:rPr lang="en-IN" dirty="0"/>
              <a:t> Measures how many actual emotion instances were correctly identified.</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a:t>F1-Score:</a:t>
            </a:r>
            <a:r>
              <a:rPr lang="en-IN" dirty="0"/>
              <a:t> Harmonic mean of precision and recall, balancing false positives and false negatives.</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a:t>Confusion Matrix:</a:t>
            </a:r>
            <a:r>
              <a:rPr lang="en-IN" dirty="0"/>
              <a:t> Shows the distribution of predicted vs. actual emotions to identify misclassifications.</a:t>
            </a:r>
          </a:p>
        </p:txBody>
      </p:sp>
      <p:pic>
        <p:nvPicPr>
          <p:cNvPr id="7170" name="Picture 2">
            <a:extLst>
              <a:ext uri="{FF2B5EF4-FFF2-40B4-BE49-F238E27FC236}">
                <a16:creationId xmlns:a16="http://schemas.microsoft.com/office/drawing/2014/main" id="{1BB4C52B-E071-1322-7449-C5242E8BC2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2922" y="322591"/>
            <a:ext cx="1058111" cy="8473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CBEEA310-9652-D64A-511A-46DE0705A0F1}"/>
              </a:ext>
            </a:extLst>
          </p:cNvPr>
          <p:cNvPicPr>
            <a:picLocks noChangeAspect="1"/>
          </p:cNvPicPr>
          <p:nvPr/>
        </p:nvPicPr>
        <p:blipFill>
          <a:blip r:embed="rId4"/>
          <a:stretch>
            <a:fillRect/>
          </a:stretch>
        </p:blipFill>
        <p:spPr>
          <a:xfrm>
            <a:off x="561296" y="4004849"/>
            <a:ext cx="4333875" cy="857250"/>
          </a:xfrm>
          <a:prstGeom prst="rect">
            <a:avLst/>
          </a:prstGeom>
        </p:spPr>
      </p:pic>
      <p:pic>
        <p:nvPicPr>
          <p:cNvPr id="19" name="Picture 18">
            <a:extLst>
              <a:ext uri="{FF2B5EF4-FFF2-40B4-BE49-F238E27FC236}">
                <a16:creationId xmlns:a16="http://schemas.microsoft.com/office/drawing/2014/main" id="{20739065-F6FA-FD67-5C41-A1192D7B76E6}"/>
              </a:ext>
            </a:extLst>
          </p:cNvPr>
          <p:cNvPicPr>
            <a:picLocks noChangeAspect="1"/>
          </p:cNvPicPr>
          <p:nvPr/>
        </p:nvPicPr>
        <p:blipFill>
          <a:blip r:embed="rId5"/>
          <a:stretch>
            <a:fillRect/>
          </a:stretch>
        </p:blipFill>
        <p:spPr>
          <a:xfrm>
            <a:off x="5519078" y="3913981"/>
            <a:ext cx="3629025" cy="685800"/>
          </a:xfrm>
          <a:prstGeom prst="rect">
            <a:avLst/>
          </a:prstGeom>
        </p:spPr>
      </p:pic>
      <p:pic>
        <p:nvPicPr>
          <p:cNvPr id="20" name="Picture 19">
            <a:extLst>
              <a:ext uri="{FF2B5EF4-FFF2-40B4-BE49-F238E27FC236}">
                <a16:creationId xmlns:a16="http://schemas.microsoft.com/office/drawing/2014/main" id="{C639E6CD-B37A-060F-BB49-AD861BB7CAA5}"/>
              </a:ext>
            </a:extLst>
          </p:cNvPr>
          <p:cNvPicPr>
            <a:picLocks noChangeAspect="1"/>
          </p:cNvPicPr>
          <p:nvPr/>
        </p:nvPicPr>
        <p:blipFill>
          <a:blip r:embed="rId6"/>
          <a:stretch>
            <a:fillRect/>
          </a:stretch>
        </p:blipFill>
        <p:spPr>
          <a:xfrm>
            <a:off x="5766727" y="5162947"/>
            <a:ext cx="3133725" cy="847725"/>
          </a:xfrm>
          <a:prstGeom prst="rect">
            <a:avLst/>
          </a:prstGeom>
        </p:spPr>
      </p:pic>
      <p:pic>
        <p:nvPicPr>
          <p:cNvPr id="21" name="Picture 20">
            <a:extLst>
              <a:ext uri="{FF2B5EF4-FFF2-40B4-BE49-F238E27FC236}">
                <a16:creationId xmlns:a16="http://schemas.microsoft.com/office/drawing/2014/main" id="{302C2829-F088-C1C3-380E-843AEB807198}"/>
              </a:ext>
            </a:extLst>
          </p:cNvPr>
          <p:cNvPicPr>
            <a:picLocks noChangeAspect="1"/>
          </p:cNvPicPr>
          <p:nvPr/>
        </p:nvPicPr>
        <p:blipFill>
          <a:blip r:embed="rId7"/>
          <a:stretch>
            <a:fillRect/>
          </a:stretch>
        </p:blipFill>
        <p:spPr>
          <a:xfrm>
            <a:off x="489858" y="5189123"/>
            <a:ext cx="4476750" cy="942975"/>
          </a:xfrm>
          <a:prstGeom prst="rect">
            <a:avLst/>
          </a:prstGeom>
        </p:spPr>
      </p:pic>
    </p:spTree>
    <p:extLst>
      <p:ext uri="{BB962C8B-B14F-4D97-AF65-F5344CB8AC3E}">
        <p14:creationId xmlns:p14="http://schemas.microsoft.com/office/powerpoint/2010/main" val="2835470842"/>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3FC72-58FE-6AE9-34DF-7C4AC42F7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46103-826B-2C73-B8A3-24C7CB9C7C0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CB92069-8ADA-F4E3-CE0F-94D87AA1C30D}"/>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CB568215-ED51-8F38-1A0B-C95129AA5D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C45CE57A-82DC-C807-CABB-A6D176908891}"/>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82DD4460-C919-0E8B-A983-DE2701B21B68}"/>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22</a:t>
            </a:fld>
            <a:endParaRPr lang="en-US" dirty="0"/>
          </a:p>
        </p:txBody>
      </p:sp>
      <p:sp>
        <p:nvSpPr>
          <p:cNvPr id="9" name="TextBox 8">
            <a:extLst>
              <a:ext uri="{FF2B5EF4-FFF2-40B4-BE49-F238E27FC236}">
                <a16:creationId xmlns:a16="http://schemas.microsoft.com/office/drawing/2014/main" id="{6592FFC6-8FEC-5DFA-B886-C9EAACC1ADC1}"/>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7CB60C3F-B6FF-BABC-4BD9-DAC04CDB9E10}"/>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43750A4B-8BB6-A9F7-90F4-18F73695BAD3}"/>
              </a:ext>
            </a:extLst>
          </p:cNvPr>
          <p:cNvSpPr txBox="1"/>
          <p:nvPr/>
        </p:nvSpPr>
        <p:spPr>
          <a:xfrm>
            <a:off x="4910401" y="713207"/>
            <a:ext cx="1896800" cy="523220"/>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RESULTS</a:t>
            </a:r>
          </a:p>
        </p:txBody>
      </p:sp>
      <p:sp>
        <p:nvSpPr>
          <p:cNvPr id="16" name="TextBox 15">
            <a:extLst>
              <a:ext uri="{FF2B5EF4-FFF2-40B4-BE49-F238E27FC236}">
                <a16:creationId xmlns:a16="http://schemas.microsoft.com/office/drawing/2014/main" id="{E1D799BD-1F0D-E39B-7182-8CB9AFF5CE09}"/>
              </a:ext>
            </a:extLst>
          </p:cNvPr>
          <p:cNvSpPr txBox="1"/>
          <p:nvPr/>
        </p:nvSpPr>
        <p:spPr>
          <a:xfrm>
            <a:off x="609132" y="1576360"/>
            <a:ext cx="10973735" cy="3139321"/>
          </a:xfrm>
          <a:prstGeom prst="rect">
            <a:avLst/>
          </a:prstGeom>
          <a:noFill/>
        </p:spPr>
        <p:txBody>
          <a:bodyPr wrap="square">
            <a:spAutoFit/>
          </a:bodyPr>
          <a:lstStyle/>
          <a:p>
            <a:pPr marL="285750" indent="-285750" algn="just">
              <a:buFont typeface="Arial" panose="020B0604020202020204" pitchFamily="34" charset="0"/>
              <a:buChar char="•"/>
            </a:pPr>
            <a:r>
              <a:rPr lang="en-IN" dirty="0"/>
              <a:t>The training and validation performance curves were monitored throughout the learning process to ensure proper convergence and prevent overfitting. </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A </a:t>
            </a:r>
            <a:r>
              <a:rPr lang="en-IN" b="1" dirty="0"/>
              <a:t>confusion matrix</a:t>
            </a:r>
            <a:r>
              <a:rPr lang="en-IN" dirty="0"/>
              <a:t> was used to visualize the model’s predictions and identify which emotions were most frequently misclassified.</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The evaluation demonstrated that the model could reliably detect the majority of emotions, providing accurate input for the music recommendation engine. </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Additionally, the system was integrated into a </a:t>
            </a:r>
            <a:r>
              <a:rPr lang="en-IN" b="1" dirty="0" err="1"/>
              <a:t>Streamlit</a:t>
            </a:r>
            <a:r>
              <a:rPr lang="en-IN" b="1" dirty="0"/>
              <a:t> UI</a:t>
            </a:r>
            <a:r>
              <a:rPr lang="en-IN" dirty="0"/>
              <a:t>, allowing real-time emotion detection and music recommendations with an interactive and user-friendly interface.</a:t>
            </a:r>
            <a:endParaRPr lang="en-IN" sz="2000" dirty="0"/>
          </a:p>
        </p:txBody>
      </p:sp>
      <p:pic>
        <p:nvPicPr>
          <p:cNvPr id="4098" name="Picture 2">
            <a:extLst>
              <a:ext uri="{FF2B5EF4-FFF2-40B4-BE49-F238E27FC236}">
                <a16:creationId xmlns:a16="http://schemas.microsoft.com/office/drawing/2014/main" id="{723FBC69-72F8-8BE5-1961-C77BA05C6F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171604"/>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4F962-DEDF-DBBD-C42B-5DBD3FC74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A42A7-A56F-9657-11FB-E2403526B764}"/>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C3CFF1A-7EB4-0A67-4946-6C4938CEEA63}"/>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EC6BF42A-96BC-E75D-4CB2-794B00F59D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7722D4F6-B93D-C759-C387-40AB9ACA7210}"/>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FE5F69E8-88BC-B9F3-CFD3-8EF8CECC3A1F}"/>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23</a:t>
            </a:fld>
            <a:endParaRPr lang="en-US" dirty="0"/>
          </a:p>
        </p:txBody>
      </p:sp>
      <p:sp>
        <p:nvSpPr>
          <p:cNvPr id="9" name="TextBox 8">
            <a:extLst>
              <a:ext uri="{FF2B5EF4-FFF2-40B4-BE49-F238E27FC236}">
                <a16:creationId xmlns:a16="http://schemas.microsoft.com/office/drawing/2014/main" id="{3AB90427-BECB-30FB-A530-7C4362F4BFD4}"/>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D9070CE5-0B8C-B268-C5E3-DC7621139246}"/>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967CB8B9-5F5B-0E02-CA29-A2E763DB976E}"/>
              </a:ext>
            </a:extLst>
          </p:cNvPr>
          <p:cNvSpPr txBox="1"/>
          <p:nvPr/>
        </p:nvSpPr>
        <p:spPr>
          <a:xfrm>
            <a:off x="3848244" y="378465"/>
            <a:ext cx="4909500" cy="507831"/>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CONFUSION MATRIX</a:t>
            </a:r>
          </a:p>
        </p:txBody>
      </p:sp>
      <p:pic>
        <p:nvPicPr>
          <p:cNvPr id="4098" name="Picture 2">
            <a:extLst>
              <a:ext uri="{FF2B5EF4-FFF2-40B4-BE49-F238E27FC236}">
                <a16:creationId xmlns:a16="http://schemas.microsoft.com/office/drawing/2014/main" id="{9FA1D4DB-AB25-278D-9D93-5F44F10EB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7324B72-AE84-43C5-324E-F86CB8044BCF}"/>
              </a:ext>
            </a:extLst>
          </p:cNvPr>
          <p:cNvPicPr>
            <a:picLocks noChangeAspect="1"/>
          </p:cNvPicPr>
          <p:nvPr/>
        </p:nvPicPr>
        <p:blipFill>
          <a:blip r:embed="rId4"/>
          <a:stretch>
            <a:fillRect/>
          </a:stretch>
        </p:blipFill>
        <p:spPr>
          <a:xfrm>
            <a:off x="1524000" y="1138010"/>
            <a:ext cx="8140075" cy="4834231"/>
          </a:xfrm>
          <a:prstGeom prst="rect">
            <a:avLst/>
          </a:prstGeom>
        </p:spPr>
      </p:pic>
    </p:spTree>
    <p:extLst>
      <p:ext uri="{BB962C8B-B14F-4D97-AF65-F5344CB8AC3E}">
        <p14:creationId xmlns:p14="http://schemas.microsoft.com/office/powerpoint/2010/main" val="773952124"/>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107F3-6F4F-738C-08E0-B8AFA23648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B511B-AC34-D965-A3BC-23A5BA7135B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4A3981A-EDA4-41AC-5956-CD0C9C904A73}"/>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D8ACBCC9-576F-67B2-3CEC-10AECF56BD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8C18B677-6A50-4F91-21E5-F6708C460A85}"/>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B8637F45-255A-7851-E8FB-867C6041ED0E}"/>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24</a:t>
            </a:fld>
            <a:endParaRPr lang="en-US" dirty="0"/>
          </a:p>
        </p:txBody>
      </p:sp>
      <p:sp>
        <p:nvSpPr>
          <p:cNvPr id="9" name="TextBox 8">
            <a:extLst>
              <a:ext uri="{FF2B5EF4-FFF2-40B4-BE49-F238E27FC236}">
                <a16:creationId xmlns:a16="http://schemas.microsoft.com/office/drawing/2014/main" id="{580755E6-130B-A475-9B8D-C1B019717B4E}"/>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CDA8A8F7-DE53-1EAF-D999-8CCF207622EF}"/>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pic>
        <p:nvPicPr>
          <p:cNvPr id="4098" name="Picture 2">
            <a:extLst>
              <a:ext uri="{FF2B5EF4-FFF2-40B4-BE49-F238E27FC236}">
                <a16:creationId xmlns:a16="http://schemas.microsoft.com/office/drawing/2014/main" id="{E41A2037-4F8F-6D18-B327-5938D9D5C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078BA35-0F17-181F-7812-E40B8AEBD29C}"/>
              </a:ext>
            </a:extLst>
          </p:cNvPr>
          <p:cNvSpPr txBox="1"/>
          <p:nvPr/>
        </p:nvSpPr>
        <p:spPr>
          <a:xfrm>
            <a:off x="3697076" y="349419"/>
            <a:ext cx="4824186" cy="507831"/>
          </a:xfrm>
          <a:prstGeom prst="rect">
            <a:avLst/>
          </a:prstGeom>
          <a:noFill/>
        </p:spPr>
        <p:txBody>
          <a:bodyPr wrap="square">
            <a:spAutoFit/>
          </a:bodyPr>
          <a:lstStyle/>
          <a:p>
            <a:r>
              <a:rPr lang="en-IN" sz="2700" b="1">
                <a:solidFill>
                  <a:srgbClr val="FF0000"/>
                </a:solidFill>
                <a:latin typeface="Times New Roman" panose="02020603050405020304" pitchFamily="18" charset="0"/>
                <a:cs typeface="Times New Roman" panose="02020603050405020304" pitchFamily="18" charset="0"/>
              </a:rPr>
              <a:t>PERFORMANCE ANALYSIS</a:t>
            </a:r>
            <a:endParaRPr lang="en-IN" sz="2700" dirty="0">
              <a:solidFill>
                <a:srgbClr val="FF0000"/>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E10BEC0-949A-7FBE-2C3B-0F948DF1B70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53833" y="1396937"/>
            <a:ext cx="7608408" cy="4751535"/>
          </a:xfrm>
          <a:prstGeom prst="rect">
            <a:avLst/>
          </a:prstGeom>
          <a:noFill/>
          <a:ln>
            <a:noFill/>
          </a:ln>
        </p:spPr>
      </p:pic>
    </p:spTree>
    <p:extLst>
      <p:ext uri="{BB962C8B-B14F-4D97-AF65-F5344CB8AC3E}">
        <p14:creationId xmlns:p14="http://schemas.microsoft.com/office/powerpoint/2010/main" val="2331311691"/>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8FC94-786D-0BF3-F7AF-325EC718F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E69A3-0E54-0BC7-0C73-F71F5F43C71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D12C141B-7EB9-C6ED-E4AE-9DA7BC0A7E64}"/>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F5C5A98F-E4E0-3BE9-97F2-5BC8B0CE6C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85074AC8-C950-19FC-FF15-EA4BBD5D4E15}"/>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8B9BEEA8-9F60-C277-079F-5D7C3D9A2A6E}"/>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25</a:t>
            </a:fld>
            <a:endParaRPr lang="en-US" dirty="0"/>
          </a:p>
        </p:txBody>
      </p:sp>
      <p:sp>
        <p:nvSpPr>
          <p:cNvPr id="9" name="TextBox 8">
            <a:extLst>
              <a:ext uri="{FF2B5EF4-FFF2-40B4-BE49-F238E27FC236}">
                <a16:creationId xmlns:a16="http://schemas.microsoft.com/office/drawing/2014/main" id="{0A21DE85-2B00-BD8B-3A0E-6CE64A90B4E5}"/>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35783312-A6DE-28A5-1BD7-7BDF91321153}"/>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AF661DEB-8C50-3D9C-EFA6-DC4C429B53B4}"/>
              </a:ext>
            </a:extLst>
          </p:cNvPr>
          <p:cNvSpPr txBox="1"/>
          <p:nvPr/>
        </p:nvSpPr>
        <p:spPr>
          <a:xfrm>
            <a:off x="4904534" y="273233"/>
            <a:ext cx="2288746" cy="507831"/>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UI RESULTS</a:t>
            </a:r>
          </a:p>
        </p:txBody>
      </p:sp>
      <p:pic>
        <p:nvPicPr>
          <p:cNvPr id="4098" name="Picture 2">
            <a:extLst>
              <a:ext uri="{FF2B5EF4-FFF2-40B4-BE49-F238E27FC236}">
                <a16:creationId xmlns:a16="http://schemas.microsoft.com/office/drawing/2014/main" id="{43631165-E841-19A1-1C33-824E57E1CF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4B46F4EF-194D-AD91-5DFE-242F3076AFD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05281" y="786538"/>
            <a:ext cx="7863254" cy="2313305"/>
          </a:xfrm>
          <a:prstGeom prst="rect">
            <a:avLst/>
          </a:prstGeom>
          <a:noFill/>
          <a:ln>
            <a:noFill/>
          </a:ln>
        </p:spPr>
      </p:pic>
      <p:pic>
        <p:nvPicPr>
          <p:cNvPr id="12" name="Picture 11">
            <a:extLst>
              <a:ext uri="{FF2B5EF4-FFF2-40B4-BE49-F238E27FC236}">
                <a16:creationId xmlns:a16="http://schemas.microsoft.com/office/drawing/2014/main" id="{D0C2819C-9F1C-E1B0-9646-7F050EB8EB6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95121" y="3099843"/>
            <a:ext cx="7863254" cy="3218405"/>
          </a:xfrm>
          <a:prstGeom prst="rect">
            <a:avLst/>
          </a:prstGeom>
          <a:noFill/>
          <a:ln>
            <a:noFill/>
          </a:ln>
        </p:spPr>
      </p:pic>
    </p:spTree>
    <p:extLst>
      <p:ext uri="{BB962C8B-B14F-4D97-AF65-F5344CB8AC3E}">
        <p14:creationId xmlns:p14="http://schemas.microsoft.com/office/powerpoint/2010/main" val="1689129537"/>
      </p:ext>
    </p:extLst>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2E5DB-6491-337C-EF7C-4B14A531D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24B95-81EE-2809-5162-5488C39B7DE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AF51864-248A-B9D3-54FA-7274EA7C4743}"/>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5863E519-424A-81AA-BA50-ED93C451B8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D979F48F-9511-7FCD-8670-812C347460F7}"/>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C90F2FED-4F51-F4DF-8408-A2F11F737DAC}"/>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26</a:t>
            </a:fld>
            <a:endParaRPr lang="en-US" dirty="0"/>
          </a:p>
        </p:txBody>
      </p:sp>
      <p:sp>
        <p:nvSpPr>
          <p:cNvPr id="9" name="TextBox 8">
            <a:extLst>
              <a:ext uri="{FF2B5EF4-FFF2-40B4-BE49-F238E27FC236}">
                <a16:creationId xmlns:a16="http://schemas.microsoft.com/office/drawing/2014/main" id="{51F56464-D531-FF8F-1BF7-04546B2612EF}"/>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93C75C7D-BA5F-3F26-B83A-EC8138BADF2D}"/>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B911DA06-2C9F-715D-09D9-A3D9A24211F6}"/>
              </a:ext>
            </a:extLst>
          </p:cNvPr>
          <p:cNvSpPr txBox="1"/>
          <p:nvPr/>
        </p:nvSpPr>
        <p:spPr>
          <a:xfrm>
            <a:off x="4169903" y="587693"/>
            <a:ext cx="2688097" cy="507831"/>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CONCLUSION</a:t>
            </a:r>
          </a:p>
        </p:txBody>
      </p:sp>
      <p:sp>
        <p:nvSpPr>
          <p:cNvPr id="16" name="TextBox 15">
            <a:extLst>
              <a:ext uri="{FF2B5EF4-FFF2-40B4-BE49-F238E27FC236}">
                <a16:creationId xmlns:a16="http://schemas.microsoft.com/office/drawing/2014/main" id="{A210C881-C1FE-00F6-686B-9311C7A9FB4C}"/>
              </a:ext>
            </a:extLst>
          </p:cNvPr>
          <p:cNvSpPr txBox="1"/>
          <p:nvPr/>
        </p:nvSpPr>
        <p:spPr>
          <a:xfrm>
            <a:off x="639856" y="1214438"/>
            <a:ext cx="10051606" cy="3600986"/>
          </a:xfrm>
          <a:prstGeom prst="rect">
            <a:avLst/>
          </a:prstGeom>
          <a:noFill/>
        </p:spPr>
        <p:txBody>
          <a:bodyPr wrap="square">
            <a:spAutoFit/>
          </a:bodyPr>
          <a:lstStyle/>
          <a:p>
            <a:pPr algn="just"/>
            <a:br>
              <a:rPr lang="en-US" sz="2000" dirty="0"/>
            </a:br>
            <a:r>
              <a:rPr lang="en-US" sz="2000" dirty="0" err="1"/>
              <a:t>Muzly</a:t>
            </a:r>
            <a:r>
              <a:rPr lang="en-US" sz="2000" dirty="0"/>
              <a:t> presents a powerful AI-driven solution for delivering highly personalized music recommendations by seamlessly integrating facial emotion recognition, scene analysis, and contextual data. By leveraging a CNN-based emotion detection model along with environmental cues and user preferences, the system provides accurate, real-time music suggestions tailored to the listener’s current mood and surroundings. Through its interactive interface and adaptive recommendation process, </a:t>
            </a:r>
            <a:r>
              <a:rPr lang="en-US" sz="2000" dirty="0" err="1"/>
              <a:t>Muzly</a:t>
            </a:r>
            <a:r>
              <a:rPr lang="en-US" sz="2000" dirty="0"/>
              <a:t> enhances user engagement and delivers a more dynamic, immersive, and meaningful music-listening experience.</a:t>
            </a:r>
          </a:p>
          <a:p>
            <a:pPr algn="just"/>
            <a:br>
              <a:rPr lang="en-US" sz="2400" dirty="0"/>
            </a:br>
            <a:endParaRPr lang="en-US" sz="2400" dirty="0"/>
          </a:p>
          <a:p>
            <a:pPr algn="just"/>
            <a:endParaRPr lang="en-US" sz="2000" dirty="0"/>
          </a:p>
        </p:txBody>
      </p:sp>
      <p:pic>
        <p:nvPicPr>
          <p:cNvPr id="4098" name="Picture 2">
            <a:extLst>
              <a:ext uri="{FF2B5EF4-FFF2-40B4-BE49-F238E27FC236}">
                <a16:creationId xmlns:a16="http://schemas.microsoft.com/office/drawing/2014/main" id="{3BB9511D-C441-932F-50D0-8B55AB808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918840"/>
      </p:ext>
    </p:extLst>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E986D-DCAA-2A15-4F7B-EA70C8401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AD71A-DE67-193E-FB24-5C9322FC901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ADA7BE3-D7F6-B613-3799-125152AA2E3E}"/>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0A4F3391-9466-7318-5678-778BE256D1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5E2C56CC-2367-0387-8F5D-DAA582666F95}"/>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7ACED295-986A-C4C1-E00D-7B3B3A7D803A}"/>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27</a:t>
            </a:fld>
            <a:endParaRPr lang="en-US" dirty="0"/>
          </a:p>
        </p:txBody>
      </p:sp>
      <p:sp>
        <p:nvSpPr>
          <p:cNvPr id="9" name="TextBox 8">
            <a:extLst>
              <a:ext uri="{FF2B5EF4-FFF2-40B4-BE49-F238E27FC236}">
                <a16:creationId xmlns:a16="http://schemas.microsoft.com/office/drawing/2014/main" id="{02BD53A7-8A85-A10E-F73E-222DF1CCD601}"/>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962E8708-301C-2681-DBB9-81DEEE3B52E6}"/>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4" name="TextBox 13">
            <a:extLst>
              <a:ext uri="{FF2B5EF4-FFF2-40B4-BE49-F238E27FC236}">
                <a16:creationId xmlns:a16="http://schemas.microsoft.com/office/drawing/2014/main" id="{7EB062D1-3170-F07F-B01A-FD3CFD9E69F9}"/>
              </a:ext>
            </a:extLst>
          </p:cNvPr>
          <p:cNvSpPr txBox="1"/>
          <p:nvPr/>
        </p:nvSpPr>
        <p:spPr>
          <a:xfrm>
            <a:off x="4633710" y="527800"/>
            <a:ext cx="2924580" cy="507831"/>
          </a:xfrm>
          <a:prstGeom prst="rect">
            <a:avLst/>
          </a:prstGeom>
          <a:noFill/>
        </p:spPr>
        <p:txBody>
          <a:bodyPr wrap="square">
            <a:spAutoFit/>
          </a:bodyPr>
          <a:lstStyle/>
          <a:p>
            <a:r>
              <a:rPr lang="en-IN" sz="2700" b="1" dirty="0">
                <a:solidFill>
                  <a:srgbClr val="FF0000"/>
                </a:solidFill>
                <a:latin typeface="Times New Roman" panose="02020603050405020304" pitchFamily="18" charset="0"/>
                <a:cs typeface="Times New Roman" panose="02020603050405020304" pitchFamily="18" charset="0"/>
              </a:rPr>
              <a:t>FUTURE WORK</a:t>
            </a:r>
          </a:p>
        </p:txBody>
      </p:sp>
      <p:sp>
        <p:nvSpPr>
          <p:cNvPr id="16" name="TextBox 15">
            <a:extLst>
              <a:ext uri="{FF2B5EF4-FFF2-40B4-BE49-F238E27FC236}">
                <a16:creationId xmlns:a16="http://schemas.microsoft.com/office/drawing/2014/main" id="{D4C45323-E8C9-6A5E-3730-F1CB3EC8C3FE}"/>
              </a:ext>
            </a:extLst>
          </p:cNvPr>
          <p:cNvSpPr txBox="1"/>
          <p:nvPr/>
        </p:nvSpPr>
        <p:spPr>
          <a:xfrm>
            <a:off x="639856" y="1214438"/>
            <a:ext cx="10426156" cy="4093428"/>
          </a:xfrm>
          <a:prstGeom prst="rect">
            <a:avLst/>
          </a:prstGeom>
          <a:noFill/>
        </p:spPr>
        <p:txBody>
          <a:bodyPr wrap="square">
            <a:spAutoFit/>
          </a:bodyPr>
          <a:lstStyle/>
          <a:p>
            <a:pPr algn="just"/>
            <a:br>
              <a:rPr lang="en-US" sz="2000" dirty="0"/>
            </a:br>
            <a:endParaRPr lang="en-US" sz="2000" dirty="0"/>
          </a:p>
          <a:p>
            <a:pPr marL="342900" indent="-342900" algn="just">
              <a:buFont typeface="Arial" panose="020B0604020202020204" pitchFamily="34" charset="0"/>
              <a:buChar char="•"/>
            </a:pPr>
            <a:r>
              <a:rPr lang="en-US" sz="2000" dirty="0"/>
              <a:t>Support live camera feeds for real-time emotion detection and continuous recommendations.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Optimize the system for faster performance and mobile deployment.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Expand the song database with more multilingual tracks.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Incorporate collaborative filtering to leverage user listening history.</a:t>
            </a:r>
          </a:p>
          <a:p>
            <a:pPr algn="just"/>
            <a:endParaRPr lang="en-US" sz="2000" dirty="0"/>
          </a:p>
          <a:p>
            <a:pPr marL="342900" indent="-342900" algn="just">
              <a:buFont typeface="Arial" panose="020B0604020202020204" pitchFamily="34" charset="0"/>
              <a:buChar char="•"/>
            </a:pPr>
            <a:r>
              <a:rPr lang="en-US" sz="2000" dirty="0"/>
              <a:t>Integrate additional modalities like voice or text-based sentiment analysis.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Implement adaptive learning to refine recommendations based on feedback and preferences.</a:t>
            </a:r>
          </a:p>
        </p:txBody>
      </p:sp>
      <p:pic>
        <p:nvPicPr>
          <p:cNvPr id="4098" name="Picture 2">
            <a:extLst>
              <a:ext uri="{FF2B5EF4-FFF2-40B4-BE49-F238E27FC236}">
                <a16:creationId xmlns:a16="http://schemas.microsoft.com/office/drawing/2014/main" id="{EDFD2137-783E-E6F9-0530-1960C64A3C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1462" y="253565"/>
            <a:ext cx="1259627" cy="1008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9316271"/>
      </p:ext>
    </p:extLst>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9BCC0-278F-F8ED-9261-05D4F56FD6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04DCB-4318-89EB-4792-A584D1D97B53}"/>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D84E8566-7368-7DEB-83D9-48CD120A87DE}"/>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id="{B2A2A1B5-8E8F-95E0-6644-71E4E13E00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9080"/>
            <a:ext cx="12192000" cy="6858000"/>
          </a:xfrm>
          <a:prstGeom prst="rect">
            <a:avLst/>
          </a:prstGeom>
        </p:spPr>
      </p:pic>
      <p:sp>
        <p:nvSpPr>
          <p:cNvPr id="5" name="Footer Placeholder 4">
            <a:extLst>
              <a:ext uri="{FF2B5EF4-FFF2-40B4-BE49-F238E27FC236}">
                <a16:creationId xmlns:a16="http://schemas.microsoft.com/office/drawing/2014/main" id="{C42384ED-62BE-0691-D570-7628032846DB}"/>
              </a:ext>
            </a:extLst>
          </p:cNvPr>
          <p:cNvSpPr>
            <a:spLocks noGrp="1"/>
          </p:cNvSpPr>
          <p:nvPr>
            <p:ph type="ftr" sz="quarter" idx="11"/>
          </p:nvPr>
        </p:nvSpPr>
        <p:spPr>
          <a:xfrm>
            <a:off x="6414868" y="6318249"/>
            <a:ext cx="5466470" cy="365125"/>
          </a:xfrm>
        </p:spPr>
        <p:txBody>
          <a:bodyPr/>
          <a:lstStyle/>
          <a:p>
            <a:r>
              <a:rPr lang="en-GB" sz="1400" b="1" dirty="0">
                <a:solidFill>
                  <a:schemeClr val="accent1">
                    <a:lumMod val="50000"/>
                  </a:schemeClr>
                </a:solidFill>
                <a:latin typeface="CamberW04-Bold" panose="01000000000000000000" pitchFamily="2" charset="0"/>
              </a:rPr>
              <a:t>KPR</a:t>
            </a:r>
            <a:r>
              <a:rPr lang="en-GB" b="1" dirty="0">
                <a:solidFill>
                  <a:schemeClr val="accent1">
                    <a:lumMod val="50000"/>
                  </a:schemeClr>
                </a:solidFill>
              </a:rPr>
              <a:t> Institute of Engineering and Technology, Coimbatore, Tamil Nadu, India</a:t>
            </a:r>
            <a:r>
              <a:rPr lang="en-GB" b="1" dirty="0">
                <a:solidFill>
                  <a:schemeClr val="tx1"/>
                </a:solidFill>
              </a:rPr>
              <a:t> </a:t>
            </a:r>
            <a:r>
              <a:rPr lang="en-GB" dirty="0"/>
              <a:t>                                </a:t>
            </a:r>
            <a:endParaRPr lang="en-US" dirty="0"/>
          </a:p>
        </p:txBody>
      </p:sp>
      <p:sp>
        <p:nvSpPr>
          <p:cNvPr id="6" name="Slide Number Placeholder 5">
            <a:extLst>
              <a:ext uri="{FF2B5EF4-FFF2-40B4-BE49-F238E27FC236}">
                <a16:creationId xmlns:a16="http://schemas.microsoft.com/office/drawing/2014/main" id="{95F5A9D7-4AA1-2578-8FC1-87F0FAE23987}"/>
              </a:ext>
            </a:extLst>
          </p:cNvPr>
          <p:cNvSpPr>
            <a:spLocks noGrp="1"/>
          </p:cNvSpPr>
          <p:nvPr>
            <p:ph type="sldNum" sz="quarter" idx="12"/>
          </p:nvPr>
        </p:nvSpPr>
        <p:spPr>
          <a:xfrm>
            <a:off x="6696222" y="6318250"/>
            <a:ext cx="5185116" cy="365125"/>
          </a:xfrm>
        </p:spPr>
        <p:txBody>
          <a:bodyPr/>
          <a:lstStyle/>
          <a:p>
            <a:fld id="{4CA2BD28-9D1D-4795-9FB6-B4806A8D172B}" type="slidenum">
              <a:rPr lang="en-US" smtClean="0"/>
              <a:t>28</a:t>
            </a:fld>
            <a:endParaRPr lang="en-US" dirty="0"/>
          </a:p>
        </p:txBody>
      </p:sp>
      <p:sp>
        <p:nvSpPr>
          <p:cNvPr id="9" name="TextBox 8">
            <a:extLst>
              <a:ext uri="{FF2B5EF4-FFF2-40B4-BE49-F238E27FC236}">
                <a16:creationId xmlns:a16="http://schemas.microsoft.com/office/drawing/2014/main" id="{DEFB3C29-9CE6-9964-65D3-34ED853D52C7}"/>
              </a:ext>
            </a:extLst>
          </p:cNvPr>
          <p:cNvSpPr txBox="1"/>
          <p:nvPr/>
        </p:nvSpPr>
        <p:spPr>
          <a:xfrm>
            <a:off x="1014405" y="390170"/>
            <a:ext cx="9858517" cy="538609"/>
          </a:xfrm>
          <a:prstGeom prst="rect">
            <a:avLst/>
          </a:prstGeom>
          <a:noFill/>
        </p:spPr>
        <p:txBody>
          <a:bodyPr wrap="square" rtlCol="0">
            <a:spAutoFit/>
          </a:bodyPr>
          <a:lstStyle/>
          <a:p>
            <a:pPr algn="ctr"/>
            <a:endParaRPr lang="en-US" sz="2900" b="1" dirty="0">
              <a:solidFill>
                <a:srgbClr val="2D4E90"/>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3FCCC381-1255-1C9C-495E-C14C20DAB1D9}"/>
              </a:ext>
            </a:extLst>
          </p:cNvPr>
          <p:cNvSpPr>
            <a:spLocks noGrp="1"/>
          </p:cNvSpPr>
          <p:nvPr/>
        </p:nvSpPr>
        <p:spPr>
          <a:xfrm>
            <a:off x="260448" y="6318249"/>
            <a:ext cx="546647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GB" sz="1400" b="1" dirty="0">
                <a:solidFill>
                  <a:schemeClr val="accent1">
                    <a:lumMod val="50000"/>
                  </a:schemeClr>
                </a:solidFill>
                <a:latin typeface="CamberW04-Bold" panose="01000000000000000000" pitchFamily="2" charset="0"/>
              </a:rPr>
              <a:t>2025-2026 ( ODD SEM ) </a:t>
            </a:r>
            <a:endParaRPr lang="en-IN" altLang="en-GB" dirty="0"/>
          </a:p>
        </p:txBody>
      </p:sp>
      <p:sp>
        <p:nvSpPr>
          <p:cNvPr id="13" name="TextBox 12">
            <a:extLst>
              <a:ext uri="{FF2B5EF4-FFF2-40B4-BE49-F238E27FC236}">
                <a16:creationId xmlns:a16="http://schemas.microsoft.com/office/drawing/2014/main" id="{852B5015-87E0-FC42-EF88-ABAA1A22AADD}"/>
              </a:ext>
            </a:extLst>
          </p:cNvPr>
          <p:cNvSpPr txBox="1"/>
          <p:nvPr/>
        </p:nvSpPr>
        <p:spPr>
          <a:xfrm>
            <a:off x="2291545" y="2184323"/>
            <a:ext cx="7608910" cy="2123658"/>
          </a:xfrm>
          <a:prstGeom prst="rect">
            <a:avLst/>
          </a:prstGeom>
          <a:noFill/>
        </p:spPr>
        <p:txBody>
          <a:bodyPr wrap="square">
            <a:spAutoFit/>
          </a:bodyPr>
          <a:lstStyle/>
          <a:p>
            <a:pPr algn="ctr"/>
            <a:r>
              <a:rPr lang="en-IN" altLang="en-US" sz="6600" b="1" dirty="0">
                <a:solidFill>
                  <a:srgbClr val="FF0000"/>
                </a:solidFill>
                <a:latin typeface="Stencil" panose="040409050D0802020404" pitchFamily="82" charset="0"/>
                <a:cs typeface="Times New Roman" panose="02020603050405020304" pitchFamily="18" charset="0"/>
              </a:rPr>
              <a:t>Thank </a:t>
            </a:r>
          </a:p>
          <a:p>
            <a:pPr algn="ctr"/>
            <a:r>
              <a:rPr lang="en-IN" altLang="en-US" sz="6600" b="1" dirty="0">
                <a:solidFill>
                  <a:srgbClr val="FF0000"/>
                </a:solidFill>
                <a:latin typeface="Stencil" panose="040409050D0802020404" pitchFamily="82" charset="0"/>
                <a:cs typeface="Times New Roman" panose="02020603050405020304" pitchFamily="18" charset="0"/>
              </a:rPr>
              <a:t>you</a:t>
            </a:r>
            <a:endParaRPr lang="en-US" sz="6600" b="1" dirty="0">
              <a:solidFill>
                <a:srgbClr val="FF0000"/>
              </a:solidFill>
              <a:latin typeface="Stencil" panose="040409050D0802020404" pitchFamily="82" charset="0"/>
              <a:cs typeface="Times New Roman" panose="02020603050405020304" pitchFamily="18" charset="0"/>
            </a:endParaRPr>
          </a:p>
        </p:txBody>
      </p:sp>
      <p:pic>
        <p:nvPicPr>
          <p:cNvPr id="8194" name="Picture 2">
            <a:extLst>
              <a:ext uri="{FF2B5EF4-FFF2-40B4-BE49-F238E27FC236}">
                <a16:creationId xmlns:a16="http://schemas.microsoft.com/office/drawing/2014/main" id="{47B45F37-C77B-38A2-9112-A80847BD2D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9943" y="269798"/>
            <a:ext cx="1064647" cy="852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9333884"/>
      </p:ext>
    </p:extLst>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1549</TotalTime>
  <Words>3195</Words>
  <Application>Microsoft Office PowerPoint</Application>
  <PresentationFormat>Widescreen</PresentationFormat>
  <Paragraphs>303</Paragraphs>
  <Slides>28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Calibri Light</vt:lpstr>
      <vt:lpstr>CamberW04-Bold</vt:lpstr>
      <vt:lpstr>Stencil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Murugan B</cp:lastModifiedBy>
  <cp:revision>68</cp:revision>
  <dcterms:created xsi:type="dcterms:W3CDTF">2025-07-22T07:15:14Z</dcterms:created>
  <dcterms:modified xsi:type="dcterms:W3CDTF">2025-12-05T15:39:02Z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E3DCC298639546AABD4E8EDA9A7F87E9_13</vt:lpwstr>
  </property>
  <property fmtid="{D5CDD505-2E9C-101B-9397-08002B2CF9AE}" pid="3" name="KSOProductBuildVer">
    <vt:lpwstr>1033-12.2.0.21931</vt:lpwstr>
  </property>
</Properties>
</file>