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1"/>
  </p:notesMasterIdLst>
  <p:sldIdLst>
    <p:sldId id="256" r:id="rId2"/>
    <p:sldId id="257" r:id="rId3"/>
    <p:sldId id="295" r:id="rId4"/>
    <p:sldId id="304" r:id="rId5"/>
    <p:sldId id="296" r:id="rId6"/>
    <p:sldId id="297" r:id="rId7"/>
    <p:sldId id="298" r:id="rId8"/>
    <p:sldId id="299" r:id="rId9"/>
    <p:sldId id="300" r:id="rId10"/>
    <p:sldId id="301" r:id="rId11"/>
    <p:sldId id="302" r:id="rId12"/>
    <p:sldId id="303" r:id="rId13"/>
    <p:sldId id="270" r:id="rId14"/>
    <p:sldId id="271" r:id="rId15"/>
    <p:sldId id="259" r:id="rId16"/>
    <p:sldId id="275" r:id="rId17"/>
    <p:sldId id="294" r:id="rId18"/>
    <p:sldId id="280" r:id="rId19"/>
    <p:sldId id="276" r:id="rId20"/>
    <p:sldId id="293" r:id="rId21"/>
    <p:sldId id="277" r:id="rId22"/>
    <p:sldId id="278" r:id="rId23"/>
    <p:sldId id="272" r:id="rId24"/>
    <p:sldId id="291" r:id="rId25"/>
    <p:sldId id="292" r:id="rId26"/>
    <p:sldId id="273" r:id="rId27"/>
    <p:sldId id="274" r:id="rId28"/>
    <p:sldId id="279" r:id="rId29"/>
    <p:sldId id="262" r:id="rId30"/>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86076" autoAdjust="0"/>
  </p:normalViewPr>
  <p:slideViewPr>
    <p:cSldViewPr snapToGrid="0">
      <p:cViewPr>
        <p:scale>
          <a:sx n="75" d="100"/>
          <a:sy n="75" d="100"/>
        </p:scale>
        <p:origin x="950" y="3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FEE16-3E37-4D94-83B3-8623DB7ABC29}" type="datetimeFigureOut">
              <a:rPr lang="en-IN" smtClean="0"/>
              <a:t>02-04-2026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8AE109-6817-4B16-9064-45998B1607AF}"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8AE109-6817-4B16-9064-45998B1607AF}" type="slidenum">
              <a:rPr lang="en-IN" smtClean="0"/>
              <a:t>1</a:t>
            </a:fld>
            <a:endParaRPr lang="en-IN"/>
          </a:p>
        </p:txBody>
      </p:sp>
    </p:spTree>
    <p:extLst>
      <p:ext uri="{BB962C8B-B14F-4D97-AF65-F5344CB8AC3E}">
        <p14:creationId xmlns:p14="http://schemas.microsoft.com/office/powerpoint/2010/main" val="419364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8AE109-6817-4B16-9064-45998B1607AF}" type="slidenum">
              <a:rPr lang="en-IN" smtClean="0"/>
              <a:t>5</a:t>
            </a:fld>
            <a:endParaRPr lang="en-IN"/>
          </a:p>
        </p:txBody>
      </p:sp>
    </p:spTree>
    <p:extLst>
      <p:ext uri="{BB962C8B-B14F-4D97-AF65-F5344CB8AC3E}">
        <p14:creationId xmlns:p14="http://schemas.microsoft.com/office/powerpoint/2010/main" val="4194118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8AE109-6817-4B16-9064-45998B1607AF}" type="slidenum">
              <a:rPr lang="en-IN" smtClean="0"/>
              <a:t>15</a:t>
            </a:fld>
            <a:endParaRPr lang="en-IN"/>
          </a:p>
        </p:txBody>
      </p:sp>
    </p:spTree>
    <p:extLst>
      <p:ext uri="{BB962C8B-B14F-4D97-AF65-F5344CB8AC3E}">
        <p14:creationId xmlns:p14="http://schemas.microsoft.com/office/powerpoint/2010/main" val="4000536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8AE109-6817-4B16-9064-45998B1607AF}" type="slidenum">
              <a:rPr lang="en-IN" smtClean="0"/>
              <a:t>18</a:t>
            </a:fld>
            <a:endParaRPr lang="en-IN"/>
          </a:p>
        </p:txBody>
      </p:sp>
    </p:spTree>
    <p:extLst>
      <p:ext uri="{BB962C8B-B14F-4D97-AF65-F5344CB8AC3E}">
        <p14:creationId xmlns:p14="http://schemas.microsoft.com/office/powerpoint/2010/main" val="137564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8AE109-6817-4B16-9064-45998B1607AF}" type="slidenum">
              <a:rPr lang="en-IN" smtClean="0"/>
              <a:t>21</a:t>
            </a:fld>
            <a:endParaRPr lang="en-IN"/>
          </a:p>
        </p:txBody>
      </p:sp>
    </p:spTree>
    <p:extLst>
      <p:ext uri="{BB962C8B-B14F-4D97-AF65-F5344CB8AC3E}">
        <p14:creationId xmlns:p14="http://schemas.microsoft.com/office/powerpoint/2010/main" val="1153110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8AE109-6817-4B16-9064-45998B1607AF}" type="slidenum">
              <a:rPr lang="en-IN" smtClean="0"/>
              <a:t>26</a:t>
            </a:fld>
            <a:endParaRPr lang="en-IN"/>
          </a:p>
        </p:txBody>
      </p:sp>
    </p:spTree>
    <p:extLst>
      <p:ext uri="{BB962C8B-B14F-4D97-AF65-F5344CB8AC3E}">
        <p14:creationId xmlns:p14="http://schemas.microsoft.com/office/powerpoint/2010/main" val="2568806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95EAFB9-E748-4959-99B0-EC499F888DCB}" type="datetime1">
              <a:rPr lang="en-IN" smtClean="0"/>
              <a:t>02-04-2026</a:t>
            </a:fld>
            <a:endParaRPr lang="en-IN"/>
          </a:p>
        </p:txBody>
      </p:sp>
      <p:sp>
        <p:nvSpPr>
          <p:cNvPr id="5" name="Footer Placeholder 4"/>
          <p:cNvSpPr>
            <a:spLocks noGrp="1"/>
          </p:cNvSpPr>
          <p:nvPr>
            <p:ph type="ftr" sz="quarter" idx="11"/>
          </p:nvPr>
        </p:nvSpPr>
        <p:spPr/>
        <p:txBody>
          <a:bodyPr/>
          <a:lstStyle/>
          <a:p>
            <a:r>
              <a:rPr lang="en-US"/>
              <a:t>KPR Institute of Engineering and Technology, Coimbatore, Tamil Nadu, India                                 </a:t>
            </a:r>
            <a:endParaRPr lang="en-IN"/>
          </a:p>
        </p:txBody>
      </p:sp>
      <p:sp>
        <p:nvSpPr>
          <p:cNvPr id="6" name="Slide Number Placeholder 5"/>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6E4BC88-DFD1-4B06-B97B-7F4D95E5BA53}" type="datetime1">
              <a:rPr lang="en-IN" smtClean="0"/>
              <a:t>02-04-2026</a:t>
            </a:fld>
            <a:endParaRPr lang="en-IN"/>
          </a:p>
        </p:txBody>
      </p:sp>
      <p:sp>
        <p:nvSpPr>
          <p:cNvPr id="5" name="Footer Placeholder 4"/>
          <p:cNvSpPr>
            <a:spLocks noGrp="1"/>
          </p:cNvSpPr>
          <p:nvPr>
            <p:ph type="ftr" sz="quarter" idx="11"/>
          </p:nvPr>
        </p:nvSpPr>
        <p:spPr/>
        <p:txBody>
          <a:bodyPr/>
          <a:lstStyle/>
          <a:p>
            <a:r>
              <a:rPr lang="en-US"/>
              <a:t>KPR Institute of Engineering and Technology, Coimbatore, Tamil Nadu, India                                 </a:t>
            </a:r>
            <a:endParaRPr lang="en-IN"/>
          </a:p>
        </p:txBody>
      </p:sp>
      <p:sp>
        <p:nvSpPr>
          <p:cNvPr id="6" name="Slide Number Placeholder 5"/>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7A1CD5-093E-4E1C-A523-31D0491A46D8}" type="datetime1">
              <a:rPr lang="en-IN" smtClean="0"/>
              <a:t>02-04-2026</a:t>
            </a:fld>
            <a:endParaRPr lang="en-IN"/>
          </a:p>
        </p:txBody>
      </p:sp>
      <p:sp>
        <p:nvSpPr>
          <p:cNvPr id="5" name="Footer Placeholder 4"/>
          <p:cNvSpPr>
            <a:spLocks noGrp="1"/>
          </p:cNvSpPr>
          <p:nvPr>
            <p:ph type="ftr" sz="quarter" idx="11"/>
          </p:nvPr>
        </p:nvSpPr>
        <p:spPr/>
        <p:txBody>
          <a:bodyPr/>
          <a:lstStyle/>
          <a:p>
            <a:r>
              <a:rPr lang="en-US"/>
              <a:t>KPR Institute of Engineering and Technology, Coimbatore, Tamil Nadu, India                                 </a:t>
            </a:r>
            <a:endParaRPr lang="en-IN"/>
          </a:p>
        </p:txBody>
      </p:sp>
      <p:sp>
        <p:nvSpPr>
          <p:cNvPr id="6" name="Slide Number Placeholder 5"/>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49A23C8-E071-4F0E-8C5E-DD6F35CF1DF3}" type="datetime1">
              <a:rPr lang="en-IN" smtClean="0"/>
              <a:t>02-04-2026</a:t>
            </a:fld>
            <a:endParaRPr lang="en-IN"/>
          </a:p>
        </p:txBody>
      </p:sp>
      <p:sp>
        <p:nvSpPr>
          <p:cNvPr id="6" name="Footer Placeholder 5"/>
          <p:cNvSpPr>
            <a:spLocks noGrp="1"/>
          </p:cNvSpPr>
          <p:nvPr>
            <p:ph type="ftr" sz="quarter" idx="11"/>
          </p:nvPr>
        </p:nvSpPr>
        <p:spPr/>
        <p:txBody>
          <a:bodyPr/>
          <a:lstStyle/>
          <a:p>
            <a:r>
              <a:rPr lang="en-US"/>
              <a:t>KPR Institute of Engineering and Technology, Coimbatore, Tamil Nadu, India                                 </a:t>
            </a:r>
            <a:endParaRPr lang="en-IN"/>
          </a:p>
        </p:txBody>
      </p:sp>
      <p:sp>
        <p:nvSpPr>
          <p:cNvPr id="7" name="Slide Number Placeholder 6"/>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5279788-3E7F-4762-9E18-C0BE18CEB7C4}" type="datetime1">
              <a:rPr lang="en-IN" smtClean="0"/>
              <a:t>02-04-2026</a:t>
            </a:fld>
            <a:endParaRPr lang="en-IN"/>
          </a:p>
        </p:txBody>
      </p:sp>
      <p:sp>
        <p:nvSpPr>
          <p:cNvPr id="8" name="Footer Placeholder 7"/>
          <p:cNvSpPr>
            <a:spLocks noGrp="1"/>
          </p:cNvSpPr>
          <p:nvPr>
            <p:ph type="ftr" sz="quarter" idx="11"/>
          </p:nvPr>
        </p:nvSpPr>
        <p:spPr/>
        <p:txBody>
          <a:bodyPr/>
          <a:lstStyle/>
          <a:p>
            <a:r>
              <a:rPr lang="en-US"/>
              <a:t>KPR Institute of Engineering and Technology, Coimbatore, Tamil Nadu, India                                 </a:t>
            </a:r>
            <a:endParaRPr lang="en-IN"/>
          </a:p>
        </p:txBody>
      </p:sp>
      <p:sp>
        <p:nvSpPr>
          <p:cNvPr id="9" name="Slide Number Placeholder 8"/>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C5FA426-BEB7-472F-8249-22638D92CBE6}" type="datetime1">
              <a:rPr lang="en-IN" smtClean="0"/>
              <a:t>02-04-2026</a:t>
            </a:fld>
            <a:endParaRPr lang="en-IN"/>
          </a:p>
        </p:txBody>
      </p:sp>
      <p:sp>
        <p:nvSpPr>
          <p:cNvPr id="4" name="Footer Placeholder 3"/>
          <p:cNvSpPr>
            <a:spLocks noGrp="1"/>
          </p:cNvSpPr>
          <p:nvPr>
            <p:ph type="ftr" sz="quarter" idx="11"/>
          </p:nvPr>
        </p:nvSpPr>
        <p:spPr/>
        <p:txBody>
          <a:bodyPr/>
          <a:lstStyle/>
          <a:p>
            <a:r>
              <a:rPr lang="en-US"/>
              <a:t>KPR Institute of Engineering and Technology, Coimbatore, Tamil Nadu, India                                 </a:t>
            </a:r>
            <a:endParaRPr lang="en-IN"/>
          </a:p>
        </p:txBody>
      </p:sp>
      <p:sp>
        <p:nvSpPr>
          <p:cNvPr id="5" name="Slide Number Placeholder 4"/>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53BB7D-F34C-4240-89B5-56D0053A2B0C}" type="datetime1">
              <a:rPr lang="en-IN" smtClean="0"/>
              <a:t>02-04-2026</a:t>
            </a:fld>
            <a:endParaRPr lang="en-IN"/>
          </a:p>
        </p:txBody>
      </p:sp>
      <p:sp>
        <p:nvSpPr>
          <p:cNvPr id="3" name="Footer Placeholder 2"/>
          <p:cNvSpPr>
            <a:spLocks noGrp="1"/>
          </p:cNvSpPr>
          <p:nvPr>
            <p:ph type="ftr" sz="quarter" idx="11"/>
          </p:nvPr>
        </p:nvSpPr>
        <p:spPr/>
        <p:txBody>
          <a:bodyPr/>
          <a:lstStyle/>
          <a:p>
            <a:r>
              <a:rPr lang="en-US"/>
              <a:t>KPR Institute of Engineering and Technology, Coimbatore, Tamil Nadu, India                                 </a:t>
            </a:r>
            <a:endParaRPr lang="en-IN"/>
          </a:p>
        </p:txBody>
      </p:sp>
      <p:sp>
        <p:nvSpPr>
          <p:cNvPr id="4" name="Slide Number Placeholder 3"/>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45378C-8AB1-4EF5-9679-A13B64E09273}" type="datetime1">
              <a:rPr lang="en-IN" smtClean="0"/>
              <a:t>02-04-2026</a:t>
            </a:fld>
            <a:endParaRPr lang="en-IN"/>
          </a:p>
        </p:txBody>
      </p:sp>
      <p:sp>
        <p:nvSpPr>
          <p:cNvPr id="6" name="Footer Placeholder 5"/>
          <p:cNvSpPr>
            <a:spLocks noGrp="1"/>
          </p:cNvSpPr>
          <p:nvPr>
            <p:ph type="ftr" sz="quarter" idx="11"/>
          </p:nvPr>
        </p:nvSpPr>
        <p:spPr/>
        <p:txBody>
          <a:bodyPr/>
          <a:lstStyle/>
          <a:p>
            <a:r>
              <a:rPr lang="en-US"/>
              <a:t>KPR Institute of Engineering and Technology, Coimbatore, Tamil Nadu, India                                 </a:t>
            </a:r>
            <a:endParaRPr lang="en-IN"/>
          </a:p>
        </p:txBody>
      </p:sp>
      <p:sp>
        <p:nvSpPr>
          <p:cNvPr id="7" name="Slide Number Placeholder 6"/>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6C85D2-BCD6-4A84-A116-0C50DA52F90B}" type="datetime1">
              <a:rPr lang="en-IN" smtClean="0"/>
              <a:t>02-04-2026</a:t>
            </a:fld>
            <a:endParaRPr lang="en-IN"/>
          </a:p>
        </p:txBody>
      </p:sp>
      <p:sp>
        <p:nvSpPr>
          <p:cNvPr id="6" name="Footer Placeholder 5"/>
          <p:cNvSpPr>
            <a:spLocks noGrp="1"/>
          </p:cNvSpPr>
          <p:nvPr>
            <p:ph type="ftr" sz="quarter" idx="11"/>
          </p:nvPr>
        </p:nvSpPr>
        <p:spPr/>
        <p:txBody>
          <a:bodyPr/>
          <a:lstStyle/>
          <a:p>
            <a:r>
              <a:rPr lang="en-US"/>
              <a:t>KPR Institute of Engineering and Technology, Coimbatore, Tamil Nadu, India                                 </a:t>
            </a:r>
            <a:endParaRPr lang="en-IN"/>
          </a:p>
        </p:txBody>
      </p:sp>
      <p:sp>
        <p:nvSpPr>
          <p:cNvPr id="7" name="Slide Number Placeholder 6"/>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F7B3475-804F-4E03-8725-9E8143CC1520}" type="datetime1">
              <a:rPr lang="en-IN" smtClean="0"/>
              <a:t>02-04-2026</a:t>
            </a:fld>
            <a:endParaRPr lang="en-IN"/>
          </a:p>
        </p:txBody>
      </p:sp>
      <p:sp>
        <p:nvSpPr>
          <p:cNvPr id="5" name="Footer Placeholder 4"/>
          <p:cNvSpPr>
            <a:spLocks noGrp="1"/>
          </p:cNvSpPr>
          <p:nvPr>
            <p:ph type="ftr" sz="quarter" idx="11"/>
          </p:nvPr>
        </p:nvSpPr>
        <p:spPr/>
        <p:txBody>
          <a:bodyPr/>
          <a:lstStyle/>
          <a:p>
            <a:r>
              <a:rPr lang="en-US"/>
              <a:t>KPR Institute of Engineering and Technology, Coimbatore, Tamil Nadu, India                                 </a:t>
            </a:r>
            <a:endParaRPr lang="en-IN"/>
          </a:p>
        </p:txBody>
      </p:sp>
      <p:sp>
        <p:nvSpPr>
          <p:cNvPr id="6" name="Slide Number Placeholder 5"/>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953D4E8-3890-4EA9-92F8-C6E75521BB07}" type="datetime1">
              <a:rPr lang="en-IN" smtClean="0"/>
              <a:t>02-04-2026</a:t>
            </a:fld>
            <a:endParaRPr lang="en-IN"/>
          </a:p>
        </p:txBody>
      </p:sp>
      <p:sp>
        <p:nvSpPr>
          <p:cNvPr id="5" name="Footer Placeholder 4"/>
          <p:cNvSpPr>
            <a:spLocks noGrp="1"/>
          </p:cNvSpPr>
          <p:nvPr>
            <p:ph type="ftr" sz="quarter" idx="11"/>
          </p:nvPr>
        </p:nvSpPr>
        <p:spPr/>
        <p:txBody>
          <a:bodyPr/>
          <a:lstStyle/>
          <a:p>
            <a:r>
              <a:rPr lang="en-US"/>
              <a:t>KPR Institute of Engineering and Technology, Coimbatore, Tamil Nadu, India                                 </a:t>
            </a:r>
            <a:endParaRPr lang="en-IN"/>
          </a:p>
        </p:txBody>
      </p:sp>
      <p:sp>
        <p:nvSpPr>
          <p:cNvPr id="6" name="Slide Number Placeholder 5"/>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D61200-D5E0-4E9A-9EF8-3A5F9C7FA50E}" type="datetime1">
              <a:rPr lang="en-IN" smtClean="0"/>
              <a:t>02-04-2026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KPR Institute of Engineering and Technology, Coimbatore, Tamil Nadu, India                                 </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5959C8-B6F0-45AD-A47C-DA667F5A291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11" y="105713"/>
            <a:ext cx="12192000" cy="6858000"/>
          </a:xfrm>
          <a:prstGeom prst="rect">
            <a:avLst/>
          </a:prstGeom>
        </p:spPr>
      </p:pic>
      <p:sp>
        <p:nvSpPr>
          <p:cNvPr id="5" name="Footer Placeholder 4"/>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p:cNvSpPr>
            <a:spLocks noGrp="1"/>
          </p:cNvSpPr>
          <p:nvPr>
            <p:ph type="sldNum" sz="quarter" idx="12"/>
          </p:nvPr>
        </p:nvSpPr>
        <p:spPr>
          <a:xfrm>
            <a:off x="6696222" y="6318250"/>
            <a:ext cx="5185116" cy="365125"/>
          </a:xfrm>
        </p:spPr>
        <p:txBody>
          <a:bodyPr/>
          <a:lstStyle/>
          <a:p>
            <a:fld id="{4CA2BD28-9D1D-4795-9FB6-B4806A8D172B}" type="slidenum">
              <a:rPr lang="en-US" smtClean="0"/>
              <a:t>1</a:t>
            </a:fld>
            <a:endParaRPr lang="en-US" dirty="0"/>
          </a:p>
        </p:txBody>
      </p:sp>
      <p:sp>
        <p:nvSpPr>
          <p:cNvPr id="9" name="TextBox 8"/>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1229462" y="2159908"/>
            <a:ext cx="8994912" cy="1933606"/>
          </a:xfrm>
          <a:prstGeom prst="rect">
            <a:avLst/>
          </a:prstGeom>
          <a:noFill/>
        </p:spPr>
        <p:txBody>
          <a:bodyPr wrap="square" rtlCol="0">
            <a:spAutoFit/>
          </a:bodyPr>
          <a:lstStyle/>
          <a:p>
            <a:pPr algn="ctr">
              <a:lnSpc>
                <a:spcPct val="150000"/>
              </a:lnSpc>
            </a:pPr>
            <a:r>
              <a:rPr lang="en-US" sz="2800" dirty="0"/>
              <a:t>A Multimodal Context-Aware Music Recommendation System Using CNN and CLIP</a:t>
            </a:r>
          </a:p>
          <a:p>
            <a:pPr algn="ctr">
              <a:lnSpc>
                <a:spcPct val="150000"/>
              </a:lnSpc>
            </a:pPr>
            <a:r>
              <a:rPr lang="en-US" sz="2700" b="1" dirty="0">
                <a:solidFill>
                  <a:srgbClr val="FF0000"/>
                </a:solidFill>
                <a:latin typeface="Times New Roman" panose="02020603050405020304" pitchFamily="18" charset="0"/>
                <a:cs typeface="Times New Roman" panose="02020603050405020304" pitchFamily="18" charset="0"/>
              </a:rPr>
              <a:t>Domain : Computer vision</a:t>
            </a:r>
          </a:p>
        </p:txBody>
      </p:sp>
      <p:sp>
        <p:nvSpPr>
          <p:cNvPr id="11" name="TextBox 10"/>
          <p:cNvSpPr txBox="1"/>
          <p:nvPr/>
        </p:nvSpPr>
        <p:spPr>
          <a:xfrm>
            <a:off x="602730" y="4482636"/>
            <a:ext cx="5000567" cy="1569660"/>
          </a:xfrm>
          <a:prstGeom prst="rect">
            <a:avLst/>
          </a:prstGeom>
          <a:noFill/>
        </p:spPr>
        <p:txBody>
          <a:bodyPr wrap="square" rtlCol="0">
            <a:spAutoFit/>
          </a:bodyPr>
          <a:lstStyle/>
          <a:p>
            <a:r>
              <a:rPr lang="en-US" sz="2400" b="1" dirty="0">
                <a:solidFill>
                  <a:srgbClr val="2D4E90"/>
                </a:solidFill>
                <a:latin typeface="Times New Roman" panose="02020603050405020304" pitchFamily="18" charset="0"/>
                <a:cs typeface="Times New Roman" panose="02020603050405020304" pitchFamily="18" charset="0"/>
              </a:rPr>
              <a:t>TEAM MEMBERS : </a:t>
            </a:r>
          </a:p>
          <a:p>
            <a:endParaRPr lang="en-US" sz="2400" b="1" dirty="0">
              <a:solidFill>
                <a:srgbClr val="2D4E90"/>
              </a:solidFill>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22AM038 - MURUGAN B</a:t>
            </a:r>
          </a:p>
          <a:p>
            <a:r>
              <a:rPr lang="en-US" sz="2400" b="1" dirty="0">
                <a:latin typeface="Times New Roman" panose="02020603050405020304" pitchFamily="18" charset="0"/>
                <a:cs typeface="Times New Roman" panose="02020603050405020304" pitchFamily="18" charset="0"/>
              </a:rPr>
              <a:t>22AM067 - VIDHYA S</a:t>
            </a:r>
          </a:p>
        </p:txBody>
      </p:sp>
      <p:sp>
        <p:nvSpPr>
          <p:cNvPr id="12" name="TextBox 11"/>
          <p:cNvSpPr txBox="1"/>
          <p:nvPr/>
        </p:nvSpPr>
        <p:spPr>
          <a:xfrm>
            <a:off x="7117786" y="4226490"/>
            <a:ext cx="5000567" cy="2246769"/>
          </a:xfrm>
          <a:prstGeom prst="rect">
            <a:avLst/>
          </a:prstGeom>
          <a:noFill/>
        </p:spPr>
        <p:txBody>
          <a:bodyPr wrap="square" rtlCol="0">
            <a:spAutoFit/>
          </a:bodyPr>
          <a:lstStyle/>
          <a:p>
            <a:r>
              <a:rPr lang="en-US" sz="2400" b="1" dirty="0">
                <a:solidFill>
                  <a:srgbClr val="2D4E90"/>
                </a:solidFill>
                <a:latin typeface="Times New Roman" panose="02020603050405020304" pitchFamily="18" charset="0"/>
                <a:cs typeface="Times New Roman" panose="02020603050405020304" pitchFamily="18" charset="0"/>
              </a:rPr>
              <a:t>Batch no: 213</a:t>
            </a:r>
          </a:p>
          <a:p>
            <a:endParaRPr lang="en-US" sz="2400" b="1" dirty="0">
              <a:solidFill>
                <a:srgbClr val="2D4E90"/>
              </a:solidFill>
              <a:latin typeface="Times New Roman" panose="02020603050405020304" pitchFamily="18" charset="0"/>
              <a:cs typeface="Times New Roman" panose="02020603050405020304" pitchFamily="18" charset="0"/>
            </a:endParaRPr>
          </a:p>
          <a:p>
            <a:r>
              <a:rPr lang="en-US" sz="2400" b="1" dirty="0">
                <a:solidFill>
                  <a:srgbClr val="2D4E90"/>
                </a:solidFill>
                <a:latin typeface="Times New Roman" panose="02020603050405020304" pitchFamily="18" charset="0"/>
                <a:cs typeface="Times New Roman" panose="02020603050405020304" pitchFamily="18" charset="0"/>
              </a:rPr>
              <a:t>Supervisor :</a:t>
            </a:r>
          </a:p>
          <a:p>
            <a:r>
              <a:rPr lang="en-US" sz="2000" b="1" dirty="0">
                <a:latin typeface="Times New Roman" panose="02020603050405020304" pitchFamily="18" charset="0"/>
                <a:cs typeface="Times New Roman" panose="02020603050405020304" pitchFamily="18" charset="0"/>
              </a:rPr>
              <a:t>Dr. BALAMURUGAN A, PROFESSOR</a:t>
            </a:r>
          </a:p>
          <a:p>
            <a:r>
              <a:rPr lang="en-IN" sz="2400" b="1" dirty="0">
                <a:latin typeface="Times New Roman" panose="02020603050405020304" pitchFamily="18" charset="0"/>
                <a:cs typeface="Times New Roman" panose="02020603050405020304" pitchFamily="18" charset="0"/>
              </a:rPr>
              <a:t>Computer Science &amp; Engineering</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7" name="Footer Placeholder 4"/>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pic>
        <p:nvPicPr>
          <p:cNvPr id="2056" name="Picture 8">
            <a:extLst>
              <a:ext uri="{FF2B5EF4-FFF2-40B4-BE49-F238E27FC236}">
                <a16:creationId xmlns:a16="http://schemas.microsoft.com/office/drawing/2014/main" id="{66FB1A73-9BFE-A9B7-28F3-F61C5634BD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80058" y="324057"/>
            <a:ext cx="1112135" cy="89059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146B2627-45B4-7CE4-C753-F58883537F24}"/>
              </a:ext>
            </a:extLst>
          </p:cNvPr>
          <p:cNvPicPr>
            <a:picLocks noChangeAspect="1"/>
          </p:cNvPicPr>
          <p:nvPr/>
        </p:nvPicPr>
        <p:blipFill>
          <a:blip r:embed="rId5"/>
          <a:stretch>
            <a:fillRect/>
          </a:stretch>
        </p:blipFill>
        <p:spPr>
          <a:xfrm>
            <a:off x="2830499" y="444425"/>
            <a:ext cx="5889757" cy="1841026"/>
          </a:xfrm>
          <a:prstGeom prst="rect">
            <a:avLst/>
          </a:prstGeom>
        </p:spPr>
      </p:pic>
    </p:spTree>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DDA1F-7CD1-7018-537F-C3C2AC804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743BE-EE6C-37E2-DE26-D870B6C11D5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A660BD2A-619A-8C4C-6281-C6F4814DC9F8}"/>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0BD2A86E-050F-4F6E-3485-6C98A66B9C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E62440B8-B630-8B28-C48C-BA55CF474168}"/>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00D468AC-8394-7945-A131-B7FFC3257DA2}"/>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a:t>
            </a:fld>
            <a:endParaRPr lang="en-US" dirty="0"/>
          </a:p>
        </p:txBody>
      </p:sp>
      <p:sp>
        <p:nvSpPr>
          <p:cNvPr id="9" name="TextBox 8">
            <a:extLst>
              <a:ext uri="{FF2B5EF4-FFF2-40B4-BE49-F238E27FC236}">
                <a16:creationId xmlns:a16="http://schemas.microsoft.com/office/drawing/2014/main" id="{A1685DFA-34F0-4FA0-A7FF-7982DFFA12A7}"/>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BA8C5DDE-F4F0-5A3E-CD68-A6EE33CC64FA}"/>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sp>
        <p:nvSpPr>
          <p:cNvPr id="14" name="TextBox 13">
            <a:extLst>
              <a:ext uri="{FF2B5EF4-FFF2-40B4-BE49-F238E27FC236}">
                <a16:creationId xmlns:a16="http://schemas.microsoft.com/office/drawing/2014/main" id="{41F6365C-436A-D2F1-1E40-FB29AC095416}"/>
              </a:ext>
            </a:extLst>
          </p:cNvPr>
          <p:cNvSpPr txBox="1"/>
          <p:nvPr/>
        </p:nvSpPr>
        <p:spPr>
          <a:xfrm>
            <a:off x="4636823" y="699730"/>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OBJECTIVES</a:t>
            </a:r>
          </a:p>
        </p:txBody>
      </p:sp>
      <p:sp>
        <p:nvSpPr>
          <p:cNvPr id="16" name="TextBox 15">
            <a:extLst>
              <a:ext uri="{FF2B5EF4-FFF2-40B4-BE49-F238E27FC236}">
                <a16:creationId xmlns:a16="http://schemas.microsoft.com/office/drawing/2014/main" id="{18AEB8B9-EBC4-A3D1-B25C-CB95AE63FEF5}"/>
              </a:ext>
            </a:extLst>
          </p:cNvPr>
          <p:cNvSpPr txBox="1"/>
          <p:nvPr/>
        </p:nvSpPr>
        <p:spPr>
          <a:xfrm>
            <a:off x="1061465" y="1783957"/>
            <a:ext cx="9629997" cy="2862322"/>
          </a:xfrm>
          <a:prstGeom prst="rect">
            <a:avLst/>
          </a:prstGeom>
          <a:noFill/>
        </p:spPr>
        <p:txBody>
          <a:bodyPr wrap="square">
            <a:spAutoFit/>
          </a:bodyPr>
          <a:lstStyle/>
          <a:p>
            <a:pPr marL="285750" indent="-285750">
              <a:buFont typeface="Arial" panose="020B0604020202020204" pitchFamily="34" charset="0"/>
              <a:buChar char="•"/>
            </a:pPr>
            <a:r>
              <a:rPr lang="en-US" sz="2000" dirty="0"/>
              <a:t>Overcome irrelevant music suggestions on streaming platforms.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Recognize the user’s mood through facial emotion detection.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Understand the user’s environment using scene and weather analysis.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Recommend songs that match the user’s mood and surroundings.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Enhance the user’s music experience through personalization.</a:t>
            </a:r>
          </a:p>
        </p:txBody>
      </p:sp>
      <p:pic>
        <p:nvPicPr>
          <p:cNvPr id="4098" name="Picture 2">
            <a:extLst>
              <a:ext uri="{FF2B5EF4-FFF2-40B4-BE49-F238E27FC236}">
                <a16:creationId xmlns:a16="http://schemas.microsoft.com/office/drawing/2014/main" id="{C2E5476B-7CD7-4297-B4C6-7164D5E0E2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39434"/>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A2B0A-E4FA-A45E-3BF9-012A78446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7379F-FC6C-AB16-7517-EDAAB4DB0253}"/>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BBF74835-203B-83C0-9F8B-C9AC8DD1A6AB}"/>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46BD8E57-F866-AA15-B0A6-159EAF9C58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 y="-5397"/>
            <a:ext cx="12192000" cy="6858000"/>
          </a:xfrm>
          <a:prstGeom prst="rect">
            <a:avLst/>
          </a:prstGeom>
        </p:spPr>
      </p:pic>
      <p:sp>
        <p:nvSpPr>
          <p:cNvPr id="5" name="Footer Placeholder 4">
            <a:extLst>
              <a:ext uri="{FF2B5EF4-FFF2-40B4-BE49-F238E27FC236}">
                <a16:creationId xmlns:a16="http://schemas.microsoft.com/office/drawing/2014/main" id="{A47CDD73-EE09-195C-9A11-C561582845D9}"/>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3EB24805-1746-4971-5E5D-2DFD18BFBFA2}"/>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3</a:t>
            </a:fld>
            <a:endParaRPr lang="en-US" dirty="0"/>
          </a:p>
        </p:txBody>
      </p:sp>
      <p:sp>
        <p:nvSpPr>
          <p:cNvPr id="9" name="TextBox 8">
            <a:extLst>
              <a:ext uri="{FF2B5EF4-FFF2-40B4-BE49-F238E27FC236}">
                <a16:creationId xmlns:a16="http://schemas.microsoft.com/office/drawing/2014/main" id="{B761C552-E5E2-1441-40F1-1265FB101F4B}"/>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B5975D28-05AB-5177-505A-BA153345D684}"/>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sp>
        <p:nvSpPr>
          <p:cNvPr id="14" name="TextBox 13">
            <a:extLst>
              <a:ext uri="{FF2B5EF4-FFF2-40B4-BE49-F238E27FC236}">
                <a16:creationId xmlns:a16="http://schemas.microsoft.com/office/drawing/2014/main" id="{9AEB1435-681E-CB9F-DB88-7051B9E9C7FF}"/>
              </a:ext>
            </a:extLst>
          </p:cNvPr>
          <p:cNvSpPr txBox="1"/>
          <p:nvPr/>
        </p:nvSpPr>
        <p:spPr>
          <a:xfrm>
            <a:off x="4323177" y="390169"/>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REASERCH</a:t>
            </a:r>
          </a:p>
        </p:txBody>
      </p:sp>
      <p:pic>
        <p:nvPicPr>
          <p:cNvPr id="4098" name="Picture 2">
            <a:extLst>
              <a:ext uri="{FF2B5EF4-FFF2-40B4-BE49-F238E27FC236}">
                <a16:creationId xmlns:a16="http://schemas.microsoft.com/office/drawing/2014/main" id="{3C49F5BA-0F3D-F4D6-D9F6-5992FBAF3F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0BAD872-C2B7-8CDE-346A-08394C7B62D6}"/>
              </a:ext>
            </a:extLst>
          </p:cNvPr>
          <p:cNvSpPr txBox="1"/>
          <p:nvPr/>
        </p:nvSpPr>
        <p:spPr>
          <a:xfrm>
            <a:off x="364335" y="1026079"/>
            <a:ext cx="11463327" cy="5122941"/>
          </a:xfrm>
          <a:prstGeom prst="rect">
            <a:avLst/>
          </a:prstGeom>
          <a:noFill/>
        </p:spPr>
        <p:txBody>
          <a:bodyPr wrap="square">
            <a:spAutoFit/>
          </a:bodyPr>
          <a:lstStyle/>
          <a:p>
            <a:pPr>
              <a:lnSpc>
                <a:spcPct val="150000"/>
              </a:lnSpc>
            </a:pPr>
            <a:r>
              <a:rPr lang="en-IN" sz="2000" b="1" dirty="0"/>
              <a:t>[1] </a:t>
            </a:r>
            <a:r>
              <a:rPr lang="en-IN" sz="2000" dirty="0"/>
              <a:t>M. M. Joseph, D. </a:t>
            </a:r>
            <a:r>
              <a:rPr lang="en-IN" sz="2000" dirty="0" err="1"/>
              <a:t>Treessa</a:t>
            </a:r>
            <a:r>
              <a:rPr lang="en-IN" sz="2000" dirty="0"/>
              <a:t> Varghese, L. </a:t>
            </a:r>
            <a:r>
              <a:rPr lang="en-IN" sz="2000" dirty="0" err="1"/>
              <a:t>Sadath</a:t>
            </a:r>
            <a:r>
              <a:rPr lang="en-IN" sz="2000" dirty="0"/>
              <a:t>, and V. P. Mishra, “Emotion Based Music Recommendation System,” in Proc. 2023 Int. Conf. Computational Intelligence and Knowledge Economy (ICCIKE), Dubai, UAE, 2023, pp. 505–510, </a:t>
            </a:r>
            <a:r>
              <a:rPr lang="en-IN" sz="2000" dirty="0" err="1"/>
              <a:t>doi</a:t>
            </a:r>
            <a:r>
              <a:rPr lang="en-IN" sz="2000" dirty="0"/>
              <a:t>: 10.1109/ICCIKE58312.2023.10131874. </a:t>
            </a:r>
          </a:p>
          <a:p>
            <a:pPr>
              <a:lnSpc>
                <a:spcPct val="150000"/>
              </a:lnSpc>
            </a:pPr>
            <a:r>
              <a:rPr lang="en-IN" sz="2000" b="1" dirty="0"/>
              <a:t>Observations :</a:t>
            </a:r>
          </a:p>
          <a:p>
            <a:pPr marL="285750" indent="-285750">
              <a:lnSpc>
                <a:spcPct val="150000"/>
              </a:lnSpc>
              <a:buFont typeface="Arial" panose="020B0604020202020204" pitchFamily="34" charset="0"/>
              <a:buChar char="•"/>
            </a:pPr>
            <a:r>
              <a:rPr lang="en-US" sz="2000" dirty="0"/>
              <a:t>Uses </a:t>
            </a:r>
            <a:r>
              <a:rPr lang="en-US" sz="2000" b="1" dirty="0"/>
              <a:t>facial emotion recognition</a:t>
            </a:r>
            <a:r>
              <a:rPr lang="en-US" sz="2000" dirty="0"/>
              <a:t> to detect user mood </a:t>
            </a:r>
          </a:p>
          <a:p>
            <a:pPr marL="285750" indent="-285750">
              <a:lnSpc>
                <a:spcPct val="150000"/>
              </a:lnSpc>
              <a:buFont typeface="Arial" panose="020B0604020202020204" pitchFamily="34" charset="0"/>
              <a:buChar char="•"/>
            </a:pPr>
            <a:r>
              <a:rPr lang="en-US" sz="2000" dirty="0"/>
              <a:t>Maps emotions (happy, sad, etc.) to music playlists </a:t>
            </a:r>
          </a:p>
          <a:p>
            <a:pPr marL="285750" indent="-285750">
              <a:lnSpc>
                <a:spcPct val="150000"/>
              </a:lnSpc>
              <a:buFont typeface="Arial" panose="020B0604020202020204" pitchFamily="34" charset="0"/>
              <a:buChar char="•"/>
            </a:pPr>
            <a:r>
              <a:rPr lang="en-US" sz="2000" dirty="0"/>
              <a:t>Enhances personalization compared to traditional systems </a:t>
            </a:r>
          </a:p>
          <a:p>
            <a:pPr marL="285750" indent="-285750">
              <a:lnSpc>
                <a:spcPct val="150000"/>
              </a:lnSpc>
              <a:buFont typeface="Arial" panose="020B0604020202020204" pitchFamily="34" charset="0"/>
              <a:buChar char="•"/>
            </a:pPr>
            <a:endParaRPr lang="en-US" sz="2000" dirty="0"/>
          </a:p>
          <a:p>
            <a:pPr>
              <a:lnSpc>
                <a:spcPct val="150000"/>
              </a:lnSpc>
            </a:pPr>
            <a:r>
              <a:rPr lang="en-US" sz="2000" b="1" dirty="0"/>
              <a:t>Key Limitation:</a:t>
            </a:r>
            <a:endParaRPr lang="en-US" sz="2000" dirty="0"/>
          </a:p>
          <a:p>
            <a:pPr marL="285750" indent="-285750">
              <a:lnSpc>
                <a:spcPct val="150000"/>
              </a:lnSpc>
              <a:buFont typeface="Arial" panose="020B0604020202020204" pitchFamily="34" charset="0"/>
              <a:buChar char="•"/>
            </a:pPr>
            <a:r>
              <a:rPr lang="en-US" sz="2000" dirty="0"/>
              <a:t>Depends only on facial expressions </a:t>
            </a:r>
          </a:p>
          <a:p>
            <a:pPr marL="285750" indent="-285750">
              <a:lnSpc>
                <a:spcPct val="150000"/>
              </a:lnSpc>
              <a:buFont typeface="Arial" panose="020B0604020202020204" pitchFamily="34" charset="0"/>
              <a:buChar char="•"/>
            </a:pPr>
            <a:r>
              <a:rPr lang="en-US" sz="2000" dirty="0"/>
              <a:t>Performance drops in poor lighting conditions</a:t>
            </a:r>
          </a:p>
        </p:txBody>
      </p:sp>
    </p:spTree>
    <p:extLst>
      <p:ext uri="{BB962C8B-B14F-4D97-AF65-F5344CB8AC3E}">
        <p14:creationId xmlns:p14="http://schemas.microsoft.com/office/powerpoint/2010/main" val="1831447257"/>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F9066-25AD-CBD0-4427-249AB750B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11841-066D-2C25-792D-C684CEF03789}"/>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4C16C056-4179-06F8-4643-B7D9A9E6A675}"/>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C498E6C0-AC62-5A49-9C51-728356BBFC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 y="-5397"/>
            <a:ext cx="12192000" cy="6858000"/>
          </a:xfrm>
          <a:prstGeom prst="rect">
            <a:avLst/>
          </a:prstGeom>
        </p:spPr>
      </p:pic>
      <p:sp>
        <p:nvSpPr>
          <p:cNvPr id="5" name="Footer Placeholder 4">
            <a:extLst>
              <a:ext uri="{FF2B5EF4-FFF2-40B4-BE49-F238E27FC236}">
                <a16:creationId xmlns:a16="http://schemas.microsoft.com/office/drawing/2014/main" id="{3E75E7E7-9EBF-A8B3-1BB5-7B8A6D39207B}"/>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119D40A1-2144-B1F4-47A3-3D293D2D5B4D}"/>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4</a:t>
            </a:fld>
            <a:endParaRPr lang="en-US" dirty="0"/>
          </a:p>
        </p:txBody>
      </p:sp>
      <p:sp>
        <p:nvSpPr>
          <p:cNvPr id="9" name="TextBox 8">
            <a:extLst>
              <a:ext uri="{FF2B5EF4-FFF2-40B4-BE49-F238E27FC236}">
                <a16:creationId xmlns:a16="http://schemas.microsoft.com/office/drawing/2014/main" id="{6AF0766A-79E0-C989-4B23-E60DB9A182CA}"/>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B1E4F180-0F0C-3FE7-FEFE-89355FD7B2EB}"/>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sp>
        <p:nvSpPr>
          <p:cNvPr id="14" name="TextBox 13">
            <a:extLst>
              <a:ext uri="{FF2B5EF4-FFF2-40B4-BE49-F238E27FC236}">
                <a16:creationId xmlns:a16="http://schemas.microsoft.com/office/drawing/2014/main" id="{77DCE4BA-0E2F-48DA-E985-8AD675075C1F}"/>
              </a:ext>
            </a:extLst>
          </p:cNvPr>
          <p:cNvSpPr txBox="1"/>
          <p:nvPr/>
        </p:nvSpPr>
        <p:spPr>
          <a:xfrm>
            <a:off x="4323177" y="390169"/>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REASERCH</a:t>
            </a:r>
          </a:p>
        </p:txBody>
      </p:sp>
      <p:pic>
        <p:nvPicPr>
          <p:cNvPr id="4098" name="Picture 2">
            <a:extLst>
              <a:ext uri="{FF2B5EF4-FFF2-40B4-BE49-F238E27FC236}">
                <a16:creationId xmlns:a16="http://schemas.microsoft.com/office/drawing/2014/main" id="{3849CB06-D4EC-715B-DE6B-04BEDE08F0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19F49B-F56B-57F5-2C9A-78A63F90FF0A}"/>
              </a:ext>
            </a:extLst>
          </p:cNvPr>
          <p:cNvSpPr txBox="1"/>
          <p:nvPr/>
        </p:nvSpPr>
        <p:spPr>
          <a:xfrm>
            <a:off x="364335" y="1026079"/>
            <a:ext cx="11463327" cy="4661276"/>
          </a:xfrm>
          <a:prstGeom prst="rect">
            <a:avLst/>
          </a:prstGeom>
          <a:noFill/>
        </p:spPr>
        <p:txBody>
          <a:bodyPr wrap="square">
            <a:spAutoFit/>
          </a:bodyPr>
          <a:lstStyle/>
          <a:p>
            <a:pPr>
              <a:lnSpc>
                <a:spcPct val="150000"/>
              </a:lnSpc>
            </a:pPr>
            <a:r>
              <a:rPr lang="en-IN" sz="2000" b="1" dirty="0"/>
              <a:t>[2] </a:t>
            </a:r>
            <a:r>
              <a:rPr lang="en-IN" sz="2000" dirty="0"/>
              <a:t>O. </a:t>
            </a:r>
            <a:r>
              <a:rPr lang="en-IN" sz="2000" dirty="0" err="1"/>
              <a:t>Chandraumakantham</a:t>
            </a:r>
            <a:r>
              <a:rPr lang="en-IN" sz="2000" dirty="0"/>
              <a:t>, N. Gowtham, M. Zakariah, and A. </a:t>
            </a:r>
            <a:r>
              <a:rPr lang="en-IN" sz="2000" dirty="0" err="1"/>
              <a:t>Almazyad</a:t>
            </a:r>
            <a:r>
              <a:rPr lang="en-IN" sz="2000" dirty="0"/>
              <a:t>, “Multimodal Emotion Recognition Using Feature Fusion: An </a:t>
            </a:r>
            <a:r>
              <a:rPr lang="en-IN" sz="2000" dirty="0" err="1"/>
              <a:t>LLMBased</a:t>
            </a:r>
            <a:r>
              <a:rPr lang="en-IN" sz="2000" dirty="0"/>
              <a:t> Approach,” IEEE Access, vol. 12, pp. 108052–108071, 2024, </a:t>
            </a:r>
            <a:r>
              <a:rPr lang="en-IN" sz="2000" dirty="0" err="1"/>
              <a:t>doi</a:t>
            </a:r>
            <a:r>
              <a:rPr lang="en-IN" sz="2000" dirty="0"/>
              <a:t>: 10.1109/ACCESS.2024.3425953.</a:t>
            </a:r>
          </a:p>
          <a:p>
            <a:pPr>
              <a:lnSpc>
                <a:spcPct val="150000"/>
              </a:lnSpc>
            </a:pPr>
            <a:r>
              <a:rPr lang="en-US" sz="2000" b="1" dirty="0"/>
              <a:t>Observations :</a:t>
            </a:r>
            <a:endParaRPr lang="en-US" sz="2000" dirty="0"/>
          </a:p>
          <a:p>
            <a:pPr marL="342900" indent="-342900">
              <a:lnSpc>
                <a:spcPct val="150000"/>
              </a:lnSpc>
              <a:buFont typeface="Arial" panose="020B0604020202020204" pitchFamily="34" charset="0"/>
              <a:buChar char="•"/>
            </a:pPr>
            <a:r>
              <a:rPr lang="en-US" sz="2000" dirty="0"/>
              <a:t>Uses multimodal inputs (text, image, audio) </a:t>
            </a:r>
          </a:p>
          <a:p>
            <a:pPr marL="342900" indent="-342900">
              <a:lnSpc>
                <a:spcPct val="150000"/>
              </a:lnSpc>
              <a:buFont typeface="Arial" panose="020B0604020202020204" pitchFamily="34" charset="0"/>
              <a:buChar char="•"/>
            </a:pPr>
            <a:r>
              <a:rPr lang="en-US" sz="2000" dirty="0"/>
              <a:t>Applies LLM-based feature fusion for emotion detection </a:t>
            </a:r>
          </a:p>
          <a:p>
            <a:pPr marL="342900" indent="-342900">
              <a:lnSpc>
                <a:spcPct val="150000"/>
              </a:lnSpc>
              <a:buFont typeface="Arial" panose="020B0604020202020204" pitchFamily="34" charset="0"/>
              <a:buChar char="•"/>
            </a:pPr>
            <a:r>
              <a:rPr lang="en-US" sz="2000" dirty="0"/>
              <a:t>Improves accuracy in understanding complex emotions </a:t>
            </a:r>
          </a:p>
          <a:p>
            <a:pPr>
              <a:lnSpc>
                <a:spcPct val="150000"/>
              </a:lnSpc>
            </a:pPr>
            <a:r>
              <a:rPr lang="en-US" sz="2000" b="1" dirty="0"/>
              <a:t>Key Limitation:</a:t>
            </a:r>
            <a:endParaRPr lang="en-US" sz="2000" dirty="0"/>
          </a:p>
          <a:p>
            <a:pPr marL="342900" indent="-342900">
              <a:lnSpc>
                <a:spcPct val="150000"/>
              </a:lnSpc>
              <a:buFont typeface="Arial" panose="020B0604020202020204" pitchFamily="34" charset="0"/>
              <a:buChar char="•"/>
            </a:pPr>
            <a:r>
              <a:rPr lang="en-US" sz="2000" dirty="0"/>
              <a:t>High computational complexity </a:t>
            </a:r>
          </a:p>
          <a:p>
            <a:pPr marL="342900" indent="-342900">
              <a:lnSpc>
                <a:spcPct val="150000"/>
              </a:lnSpc>
              <a:buFont typeface="Arial" panose="020B0604020202020204" pitchFamily="34" charset="0"/>
              <a:buChar char="•"/>
            </a:pPr>
            <a:r>
              <a:rPr lang="en-US" sz="2000" dirty="0"/>
              <a:t>Not suitable for real-time applications </a:t>
            </a:r>
          </a:p>
        </p:txBody>
      </p:sp>
    </p:spTree>
    <p:extLst>
      <p:ext uri="{BB962C8B-B14F-4D97-AF65-F5344CB8AC3E}">
        <p14:creationId xmlns:p14="http://schemas.microsoft.com/office/powerpoint/2010/main" val="3979006090"/>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6DE8-F209-69B4-9F62-6CF5BC592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9AEE4-6D63-5478-B443-9F88DF8DF33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8FD362F-24AF-1A9A-9628-F7A0BBD0177D}"/>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83178F45-8599-1861-379C-4AC3C1AB93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 y="-5397"/>
            <a:ext cx="12192000" cy="6858000"/>
          </a:xfrm>
          <a:prstGeom prst="rect">
            <a:avLst/>
          </a:prstGeom>
        </p:spPr>
      </p:pic>
      <p:sp>
        <p:nvSpPr>
          <p:cNvPr id="5" name="Footer Placeholder 4">
            <a:extLst>
              <a:ext uri="{FF2B5EF4-FFF2-40B4-BE49-F238E27FC236}">
                <a16:creationId xmlns:a16="http://schemas.microsoft.com/office/drawing/2014/main" id="{0D3CEB41-5843-C26F-ABD5-CC8FB3D4F223}"/>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51BDDD3C-F96F-7C1C-8ED5-6BEC45B2BCF4}"/>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5</a:t>
            </a:fld>
            <a:endParaRPr lang="en-US" dirty="0"/>
          </a:p>
        </p:txBody>
      </p:sp>
      <p:sp>
        <p:nvSpPr>
          <p:cNvPr id="9" name="TextBox 8">
            <a:extLst>
              <a:ext uri="{FF2B5EF4-FFF2-40B4-BE49-F238E27FC236}">
                <a16:creationId xmlns:a16="http://schemas.microsoft.com/office/drawing/2014/main" id="{8D91EDC3-4114-93F9-0973-26A81B154421}"/>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88901751-8598-B7F4-210A-5D11EC09E49C}"/>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sp>
        <p:nvSpPr>
          <p:cNvPr id="14" name="TextBox 13">
            <a:extLst>
              <a:ext uri="{FF2B5EF4-FFF2-40B4-BE49-F238E27FC236}">
                <a16:creationId xmlns:a16="http://schemas.microsoft.com/office/drawing/2014/main" id="{7D04E075-7B56-338B-C086-60639BCC9EDB}"/>
              </a:ext>
            </a:extLst>
          </p:cNvPr>
          <p:cNvSpPr txBox="1"/>
          <p:nvPr/>
        </p:nvSpPr>
        <p:spPr>
          <a:xfrm>
            <a:off x="4323177" y="390169"/>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REASERCH</a:t>
            </a:r>
          </a:p>
        </p:txBody>
      </p:sp>
      <p:pic>
        <p:nvPicPr>
          <p:cNvPr id="4098" name="Picture 2">
            <a:extLst>
              <a:ext uri="{FF2B5EF4-FFF2-40B4-BE49-F238E27FC236}">
                <a16:creationId xmlns:a16="http://schemas.microsoft.com/office/drawing/2014/main" id="{A7DDEA3F-9050-B4E9-EAC0-B677C03797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DCC644F-D84A-3D42-A063-8593D76D02C8}"/>
              </a:ext>
            </a:extLst>
          </p:cNvPr>
          <p:cNvSpPr txBox="1"/>
          <p:nvPr/>
        </p:nvSpPr>
        <p:spPr>
          <a:xfrm>
            <a:off x="364335" y="1026079"/>
            <a:ext cx="11463327" cy="4661276"/>
          </a:xfrm>
          <a:prstGeom prst="rect">
            <a:avLst/>
          </a:prstGeom>
          <a:noFill/>
        </p:spPr>
        <p:txBody>
          <a:bodyPr wrap="square">
            <a:spAutoFit/>
          </a:bodyPr>
          <a:lstStyle/>
          <a:p>
            <a:pPr>
              <a:lnSpc>
                <a:spcPct val="150000"/>
              </a:lnSpc>
            </a:pPr>
            <a:r>
              <a:rPr lang="en-IN" sz="2000" b="1" dirty="0"/>
              <a:t>[3] </a:t>
            </a:r>
            <a:r>
              <a:rPr lang="en-IN" sz="2000" dirty="0"/>
              <a:t>X. Wang, “Research on Music Intelligent Recommendation System Based on Spark Framework and Hybrid Algorithm,” in Proc. 2022 6th Asian Conf. Artificial Intelligence Technology (ACAIT), Changzhou, China, 2022, pp. 1–4, </a:t>
            </a:r>
            <a:r>
              <a:rPr lang="en-IN" sz="2000" dirty="0" err="1"/>
              <a:t>doi</a:t>
            </a:r>
            <a:r>
              <a:rPr lang="en-IN" sz="2000" dirty="0"/>
              <a:t>: 10.1109/ACAIT56212.2022.10138008.</a:t>
            </a:r>
          </a:p>
          <a:p>
            <a:pPr>
              <a:lnSpc>
                <a:spcPct val="150000"/>
              </a:lnSpc>
            </a:pPr>
            <a:r>
              <a:rPr lang="en-IN" sz="2000" b="1" dirty="0"/>
              <a:t>Observations :</a:t>
            </a:r>
            <a:endParaRPr lang="en-IN" sz="2000" dirty="0"/>
          </a:p>
          <a:p>
            <a:pPr marL="342900" indent="-342900">
              <a:lnSpc>
                <a:spcPct val="150000"/>
              </a:lnSpc>
              <a:buFont typeface="Arial" panose="020B0604020202020204" pitchFamily="34" charset="0"/>
              <a:buChar char="•"/>
            </a:pPr>
            <a:r>
              <a:rPr lang="en-IN" sz="2000" dirty="0"/>
              <a:t>Uses hybrid recommendation (collaborative + content-based) </a:t>
            </a:r>
          </a:p>
          <a:p>
            <a:pPr marL="342900" indent="-342900">
              <a:lnSpc>
                <a:spcPct val="150000"/>
              </a:lnSpc>
              <a:buFont typeface="Arial" panose="020B0604020202020204" pitchFamily="34" charset="0"/>
              <a:buChar char="•"/>
            </a:pPr>
            <a:r>
              <a:rPr lang="en-IN" sz="2000" dirty="0"/>
              <a:t>Implemented using Apache Spark </a:t>
            </a:r>
          </a:p>
          <a:p>
            <a:pPr marL="342900" indent="-342900">
              <a:lnSpc>
                <a:spcPct val="150000"/>
              </a:lnSpc>
              <a:buFont typeface="Arial" panose="020B0604020202020204" pitchFamily="34" charset="0"/>
              <a:buChar char="•"/>
            </a:pPr>
            <a:r>
              <a:rPr lang="en-IN" sz="2000" dirty="0"/>
              <a:t>Efficient for large-scale data processing </a:t>
            </a:r>
          </a:p>
          <a:p>
            <a:pPr>
              <a:lnSpc>
                <a:spcPct val="150000"/>
              </a:lnSpc>
            </a:pPr>
            <a:r>
              <a:rPr lang="en-IN" sz="2000" b="1" dirty="0"/>
              <a:t>Key Limitation:</a:t>
            </a:r>
            <a:endParaRPr lang="en-IN" sz="2000" dirty="0"/>
          </a:p>
          <a:p>
            <a:pPr marL="342900" indent="-342900">
              <a:lnSpc>
                <a:spcPct val="150000"/>
              </a:lnSpc>
              <a:buFont typeface="Arial" panose="020B0604020202020204" pitchFamily="34" charset="0"/>
              <a:buChar char="•"/>
            </a:pPr>
            <a:r>
              <a:rPr lang="en-IN" sz="2000" dirty="0"/>
              <a:t>Does not consider real-time emotion </a:t>
            </a:r>
          </a:p>
          <a:p>
            <a:pPr marL="342900" indent="-342900">
              <a:lnSpc>
                <a:spcPct val="150000"/>
              </a:lnSpc>
              <a:buFont typeface="Arial" panose="020B0604020202020204" pitchFamily="34" charset="0"/>
              <a:buChar char="•"/>
            </a:pPr>
            <a:r>
              <a:rPr lang="en-IN" sz="2000" dirty="0"/>
              <a:t>Lacks contextual awareness </a:t>
            </a:r>
          </a:p>
        </p:txBody>
      </p:sp>
    </p:spTree>
    <p:extLst>
      <p:ext uri="{BB962C8B-B14F-4D97-AF65-F5344CB8AC3E}">
        <p14:creationId xmlns:p14="http://schemas.microsoft.com/office/powerpoint/2010/main" val="2990112341"/>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C44B0-DD39-0E8C-0935-E4E5C8EC6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BEF5F-2CB7-A2BC-43BB-5142414EFF3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F3E57F5-821C-E47D-00E5-3FBB65BDF1D4}"/>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D276066F-8651-777D-1101-6AC00D2250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 y="-5397"/>
            <a:ext cx="12192000" cy="6858000"/>
          </a:xfrm>
          <a:prstGeom prst="rect">
            <a:avLst/>
          </a:prstGeom>
        </p:spPr>
      </p:pic>
      <p:sp>
        <p:nvSpPr>
          <p:cNvPr id="5" name="Footer Placeholder 4">
            <a:extLst>
              <a:ext uri="{FF2B5EF4-FFF2-40B4-BE49-F238E27FC236}">
                <a16:creationId xmlns:a16="http://schemas.microsoft.com/office/drawing/2014/main" id="{4B4F247D-B5CA-ADF6-0FDA-2B6629D39E76}"/>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F4B06376-E979-69F6-E216-DCC82D9D915F}"/>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6</a:t>
            </a:fld>
            <a:endParaRPr lang="en-US" dirty="0"/>
          </a:p>
        </p:txBody>
      </p:sp>
      <p:sp>
        <p:nvSpPr>
          <p:cNvPr id="9" name="TextBox 8">
            <a:extLst>
              <a:ext uri="{FF2B5EF4-FFF2-40B4-BE49-F238E27FC236}">
                <a16:creationId xmlns:a16="http://schemas.microsoft.com/office/drawing/2014/main" id="{7C333ED7-63B6-9B9B-7F2F-DD81D3F64C5A}"/>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C8478E6D-AFDE-F801-CDD5-C629E9092C18}"/>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sp>
        <p:nvSpPr>
          <p:cNvPr id="14" name="TextBox 13">
            <a:extLst>
              <a:ext uri="{FF2B5EF4-FFF2-40B4-BE49-F238E27FC236}">
                <a16:creationId xmlns:a16="http://schemas.microsoft.com/office/drawing/2014/main" id="{103382F9-19DD-CB79-EE71-B8659B56846F}"/>
              </a:ext>
            </a:extLst>
          </p:cNvPr>
          <p:cNvSpPr txBox="1"/>
          <p:nvPr/>
        </p:nvSpPr>
        <p:spPr>
          <a:xfrm>
            <a:off x="4323177" y="390169"/>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REASERCH</a:t>
            </a:r>
          </a:p>
        </p:txBody>
      </p:sp>
      <p:pic>
        <p:nvPicPr>
          <p:cNvPr id="4098" name="Picture 2">
            <a:extLst>
              <a:ext uri="{FF2B5EF4-FFF2-40B4-BE49-F238E27FC236}">
                <a16:creationId xmlns:a16="http://schemas.microsoft.com/office/drawing/2014/main" id="{40199AFA-DA3C-E55F-D67E-ACF88399D5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488B0E5-DA81-D44B-8E4F-6C18B1D910F5}"/>
              </a:ext>
            </a:extLst>
          </p:cNvPr>
          <p:cNvSpPr txBox="1"/>
          <p:nvPr/>
        </p:nvSpPr>
        <p:spPr>
          <a:xfrm>
            <a:off x="364335" y="1026079"/>
            <a:ext cx="11463327" cy="4661276"/>
          </a:xfrm>
          <a:prstGeom prst="rect">
            <a:avLst/>
          </a:prstGeom>
          <a:noFill/>
        </p:spPr>
        <p:txBody>
          <a:bodyPr wrap="square">
            <a:spAutoFit/>
          </a:bodyPr>
          <a:lstStyle/>
          <a:p>
            <a:pPr>
              <a:lnSpc>
                <a:spcPct val="150000"/>
              </a:lnSpc>
            </a:pPr>
            <a:r>
              <a:rPr lang="en-US" sz="2000" b="1" dirty="0"/>
              <a:t>[4] </a:t>
            </a:r>
            <a:r>
              <a:rPr lang="en-IN" sz="2000" dirty="0"/>
              <a:t> M. S. </a:t>
            </a:r>
            <a:r>
              <a:rPr lang="en-IN" sz="2000" dirty="0" err="1"/>
              <a:t>Guthula</a:t>
            </a:r>
            <a:r>
              <a:rPr lang="en-IN" sz="2000" dirty="0"/>
              <a:t> and M. Bordoloi, “Music Recommendation System Using Facial Detection Based Emotion Analysis,” in Proc. 2024 Int. Conf. Emerging Techniques in Computational Intelligence (ICETCI), Hyderabad, India, 2024, pp. 296–301, </a:t>
            </a:r>
            <a:r>
              <a:rPr lang="en-IN" sz="2000" dirty="0" err="1"/>
              <a:t>doi</a:t>
            </a:r>
            <a:r>
              <a:rPr lang="en-IN" sz="2000" dirty="0"/>
              <a:t>: 10.1109/ICETCI62771.2024.10704201.</a:t>
            </a:r>
            <a:r>
              <a:rPr lang="en-US" sz="2000" b="1" dirty="0"/>
              <a:t>)</a:t>
            </a:r>
          </a:p>
          <a:p>
            <a:pPr>
              <a:lnSpc>
                <a:spcPct val="150000"/>
              </a:lnSpc>
            </a:pPr>
            <a:r>
              <a:rPr lang="en-US" sz="2000" b="1" dirty="0"/>
              <a:t>Observations :</a:t>
            </a:r>
            <a:endParaRPr lang="en-US" sz="2000" dirty="0"/>
          </a:p>
          <a:p>
            <a:pPr marL="342900" indent="-342900">
              <a:lnSpc>
                <a:spcPct val="150000"/>
              </a:lnSpc>
              <a:buFont typeface="Arial" panose="020B0604020202020204" pitchFamily="34" charset="0"/>
              <a:buChar char="•"/>
            </a:pPr>
            <a:r>
              <a:rPr lang="en-US" sz="2000" dirty="0"/>
              <a:t>Uses facial detection for emotion recognition </a:t>
            </a:r>
          </a:p>
          <a:p>
            <a:pPr marL="342900" indent="-342900">
              <a:lnSpc>
                <a:spcPct val="150000"/>
              </a:lnSpc>
              <a:buFont typeface="Arial" panose="020B0604020202020204" pitchFamily="34" charset="0"/>
              <a:buChar char="•"/>
            </a:pPr>
            <a:r>
              <a:rPr lang="en-US" sz="2000" dirty="0"/>
              <a:t>Recommends music based on detected mood </a:t>
            </a:r>
          </a:p>
          <a:p>
            <a:pPr marL="342900" indent="-342900">
              <a:lnSpc>
                <a:spcPct val="150000"/>
              </a:lnSpc>
              <a:buFont typeface="Arial" panose="020B0604020202020204" pitchFamily="34" charset="0"/>
              <a:buChar char="•"/>
            </a:pPr>
            <a:r>
              <a:rPr lang="en-US" sz="2000" dirty="0"/>
              <a:t>Applies computer vision techniques </a:t>
            </a:r>
          </a:p>
          <a:p>
            <a:pPr>
              <a:lnSpc>
                <a:spcPct val="150000"/>
              </a:lnSpc>
            </a:pPr>
            <a:r>
              <a:rPr lang="en-US" sz="2000" b="1" dirty="0"/>
              <a:t>Key Limitation:</a:t>
            </a:r>
            <a:endParaRPr lang="en-US" sz="2000" dirty="0"/>
          </a:p>
          <a:p>
            <a:pPr marL="342900" indent="-342900">
              <a:lnSpc>
                <a:spcPct val="150000"/>
              </a:lnSpc>
              <a:buFont typeface="Arial" panose="020B0604020202020204" pitchFamily="34" charset="0"/>
              <a:buChar char="•"/>
            </a:pPr>
            <a:r>
              <a:rPr lang="en-US" sz="2000" dirty="0"/>
              <a:t>Limited to facial input only </a:t>
            </a:r>
          </a:p>
          <a:p>
            <a:pPr marL="342900" indent="-342900">
              <a:lnSpc>
                <a:spcPct val="150000"/>
              </a:lnSpc>
              <a:buFont typeface="Arial" panose="020B0604020202020204" pitchFamily="34" charset="0"/>
              <a:buChar char="•"/>
            </a:pPr>
            <a:r>
              <a:rPr lang="en-US" sz="2000" dirty="0"/>
              <a:t>Less effective in real-world conditions </a:t>
            </a:r>
          </a:p>
        </p:txBody>
      </p:sp>
    </p:spTree>
    <p:extLst>
      <p:ext uri="{BB962C8B-B14F-4D97-AF65-F5344CB8AC3E}">
        <p14:creationId xmlns:p14="http://schemas.microsoft.com/office/powerpoint/2010/main" val="3325753141"/>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5ABC3-3199-E194-07C9-23F3BDA3CD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43F5A-A42E-1FF0-16EE-3BAE0E502DE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91C2BC3F-22AF-F244-2EE9-235027FAE647}"/>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8CCD5ED9-9B13-C143-EB13-D12065085F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 y="-5397"/>
            <a:ext cx="12192000" cy="6858000"/>
          </a:xfrm>
          <a:prstGeom prst="rect">
            <a:avLst/>
          </a:prstGeom>
        </p:spPr>
      </p:pic>
      <p:sp>
        <p:nvSpPr>
          <p:cNvPr id="5" name="Footer Placeholder 4">
            <a:extLst>
              <a:ext uri="{FF2B5EF4-FFF2-40B4-BE49-F238E27FC236}">
                <a16:creationId xmlns:a16="http://schemas.microsoft.com/office/drawing/2014/main" id="{A1031FCB-8DA9-5711-64C8-33A2E023675E}"/>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D75FAC6E-FC24-C384-FBC4-65DE8489AD66}"/>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7</a:t>
            </a:fld>
            <a:endParaRPr lang="en-US" dirty="0"/>
          </a:p>
        </p:txBody>
      </p:sp>
      <p:sp>
        <p:nvSpPr>
          <p:cNvPr id="9" name="TextBox 8">
            <a:extLst>
              <a:ext uri="{FF2B5EF4-FFF2-40B4-BE49-F238E27FC236}">
                <a16:creationId xmlns:a16="http://schemas.microsoft.com/office/drawing/2014/main" id="{7B4A74A9-32F9-F946-C14E-DB47A41C46FE}"/>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C1152CC4-55AA-344F-0376-94DC7A528CD5}"/>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sp>
        <p:nvSpPr>
          <p:cNvPr id="14" name="TextBox 13">
            <a:extLst>
              <a:ext uri="{FF2B5EF4-FFF2-40B4-BE49-F238E27FC236}">
                <a16:creationId xmlns:a16="http://schemas.microsoft.com/office/drawing/2014/main" id="{8CAD72FB-A574-5432-9DA8-94F9EE446017}"/>
              </a:ext>
            </a:extLst>
          </p:cNvPr>
          <p:cNvSpPr txBox="1"/>
          <p:nvPr/>
        </p:nvSpPr>
        <p:spPr>
          <a:xfrm>
            <a:off x="4323177" y="390169"/>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REASERCH</a:t>
            </a:r>
          </a:p>
        </p:txBody>
      </p:sp>
      <p:pic>
        <p:nvPicPr>
          <p:cNvPr id="4098" name="Picture 2">
            <a:extLst>
              <a:ext uri="{FF2B5EF4-FFF2-40B4-BE49-F238E27FC236}">
                <a16:creationId xmlns:a16="http://schemas.microsoft.com/office/drawing/2014/main" id="{A5E6EDAE-6742-BEAD-2A1C-CC2D186624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F21159D-84FC-5ADD-0374-12BBAE8A2CB0}"/>
              </a:ext>
            </a:extLst>
          </p:cNvPr>
          <p:cNvSpPr txBox="1"/>
          <p:nvPr/>
        </p:nvSpPr>
        <p:spPr>
          <a:xfrm>
            <a:off x="364335" y="1026079"/>
            <a:ext cx="11463327" cy="4661276"/>
          </a:xfrm>
          <a:prstGeom prst="rect">
            <a:avLst/>
          </a:prstGeom>
          <a:noFill/>
        </p:spPr>
        <p:txBody>
          <a:bodyPr wrap="square">
            <a:spAutoFit/>
          </a:bodyPr>
          <a:lstStyle/>
          <a:p>
            <a:pPr>
              <a:lnSpc>
                <a:spcPct val="150000"/>
              </a:lnSpc>
            </a:pPr>
            <a:r>
              <a:rPr lang="en-IN" sz="2000" b="1" dirty="0"/>
              <a:t>[5] </a:t>
            </a:r>
            <a:r>
              <a:rPr lang="en-IN" sz="2000" dirty="0"/>
              <a:t>D. Zeng, “Design of a Music Recommendation System Based on Lookalike and K-means Algorithms,” in Proc. 2023 Int. Conf. Evolutionary Algorithms and Soft Computing Techniques (EASCT), Bengaluru, India, 2023, pp. 1–5, </a:t>
            </a:r>
            <a:r>
              <a:rPr lang="en-IN" sz="2000" dirty="0" err="1"/>
              <a:t>doi</a:t>
            </a:r>
            <a:r>
              <a:rPr lang="en-IN" sz="2000" dirty="0"/>
              <a:t>: 10.1109/EASCT59475.2023.10392352.</a:t>
            </a:r>
            <a:endParaRPr lang="en-IN" sz="2000" b="1" dirty="0"/>
          </a:p>
          <a:p>
            <a:pPr>
              <a:lnSpc>
                <a:spcPct val="150000"/>
              </a:lnSpc>
            </a:pPr>
            <a:r>
              <a:rPr lang="en-IN" sz="2000" b="1" dirty="0"/>
              <a:t>Observations :</a:t>
            </a:r>
            <a:endParaRPr lang="en-IN" sz="2000" dirty="0"/>
          </a:p>
          <a:p>
            <a:pPr marL="342900" indent="-342900">
              <a:lnSpc>
                <a:spcPct val="150000"/>
              </a:lnSpc>
              <a:buFont typeface="Arial" panose="020B0604020202020204" pitchFamily="34" charset="0"/>
              <a:buChar char="•"/>
            </a:pPr>
            <a:r>
              <a:rPr lang="en-IN" sz="2000" dirty="0"/>
              <a:t>Uses K-means clustering to group users </a:t>
            </a:r>
          </a:p>
          <a:p>
            <a:pPr marL="342900" indent="-342900">
              <a:lnSpc>
                <a:spcPct val="150000"/>
              </a:lnSpc>
              <a:buFont typeface="Arial" panose="020B0604020202020204" pitchFamily="34" charset="0"/>
              <a:buChar char="•"/>
            </a:pPr>
            <a:r>
              <a:rPr lang="en-IN" sz="2000" dirty="0"/>
              <a:t>Applies lookalike algorithm for recommendations </a:t>
            </a:r>
          </a:p>
          <a:p>
            <a:pPr marL="342900" indent="-342900">
              <a:lnSpc>
                <a:spcPct val="150000"/>
              </a:lnSpc>
              <a:buFont typeface="Arial" panose="020B0604020202020204" pitchFamily="34" charset="0"/>
              <a:buChar char="•"/>
            </a:pPr>
            <a:r>
              <a:rPr lang="en-IN" sz="2000" dirty="0"/>
              <a:t>Identifies similar user preferences </a:t>
            </a:r>
          </a:p>
          <a:p>
            <a:pPr>
              <a:lnSpc>
                <a:spcPct val="150000"/>
              </a:lnSpc>
            </a:pPr>
            <a:r>
              <a:rPr lang="en-IN" sz="2000" b="1" dirty="0"/>
              <a:t>Key Limitation:</a:t>
            </a:r>
            <a:endParaRPr lang="en-IN" sz="2000" dirty="0"/>
          </a:p>
          <a:p>
            <a:pPr marL="342900" indent="-342900">
              <a:lnSpc>
                <a:spcPct val="150000"/>
              </a:lnSpc>
              <a:buFont typeface="Arial" panose="020B0604020202020204" pitchFamily="34" charset="0"/>
              <a:buChar char="•"/>
            </a:pPr>
            <a:r>
              <a:rPr lang="en-IN" sz="2000" dirty="0"/>
              <a:t>No real-time adaptation </a:t>
            </a:r>
          </a:p>
          <a:p>
            <a:pPr marL="342900" indent="-342900">
              <a:lnSpc>
                <a:spcPct val="150000"/>
              </a:lnSpc>
              <a:buFont typeface="Arial" panose="020B0604020202020204" pitchFamily="34" charset="0"/>
              <a:buChar char="•"/>
            </a:pPr>
            <a:r>
              <a:rPr lang="en-IN" sz="2000" dirty="0"/>
              <a:t>Ignores emotional state </a:t>
            </a:r>
          </a:p>
        </p:txBody>
      </p:sp>
    </p:spTree>
    <p:extLst>
      <p:ext uri="{BB962C8B-B14F-4D97-AF65-F5344CB8AC3E}">
        <p14:creationId xmlns:p14="http://schemas.microsoft.com/office/powerpoint/2010/main" val="2021928518"/>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3953F-0038-1EB4-85C4-E7DCDA90D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E3E8E-7FFD-3915-6DA8-6CD49334C9CD}"/>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91E8AE2-BA68-7F39-FB9A-2D80B53CDAD8}"/>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CFDE912F-5BEE-26C2-AFCA-40BF82FD91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 y="-5397"/>
            <a:ext cx="12192000" cy="6858000"/>
          </a:xfrm>
          <a:prstGeom prst="rect">
            <a:avLst/>
          </a:prstGeom>
        </p:spPr>
      </p:pic>
      <p:sp>
        <p:nvSpPr>
          <p:cNvPr id="5" name="Footer Placeholder 4">
            <a:extLst>
              <a:ext uri="{FF2B5EF4-FFF2-40B4-BE49-F238E27FC236}">
                <a16:creationId xmlns:a16="http://schemas.microsoft.com/office/drawing/2014/main" id="{B5040957-E7AB-D567-35D1-7D322EF369D1}"/>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92207913-EFB5-3920-221B-1B818734E777}"/>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8</a:t>
            </a:fld>
            <a:endParaRPr lang="en-US" dirty="0"/>
          </a:p>
        </p:txBody>
      </p:sp>
      <p:sp>
        <p:nvSpPr>
          <p:cNvPr id="9" name="TextBox 8">
            <a:extLst>
              <a:ext uri="{FF2B5EF4-FFF2-40B4-BE49-F238E27FC236}">
                <a16:creationId xmlns:a16="http://schemas.microsoft.com/office/drawing/2014/main" id="{DE9FDFDB-B6CB-4C8C-B9A8-6E6E9266C6C8}"/>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EC214174-45F8-66B5-CA0F-5B12B4BAF81C}"/>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sp>
        <p:nvSpPr>
          <p:cNvPr id="14" name="TextBox 13">
            <a:extLst>
              <a:ext uri="{FF2B5EF4-FFF2-40B4-BE49-F238E27FC236}">
                <a16:creationId xmlns:a16="http://schemas.microsoft.com/office/drawing/2014/main" id="{830E9334-C15A-D975-8425-1066D0A2B95A}"/>
              </a:ext>
            </a:extLst>
          </p:cNvPr>
          <p:cNvSpPr txBox="1"/>
          <p:nvPr/>
        </p:nvSpPr>
        <p:spPr>
          <a:xfrm>
            <a:off x="4323177" y="390169"/>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REASERCH</a:t>
            </a:r>
          </a:p>
        </p:txBody>
      </p:sp>
      <p:pic>
        <p:nvPicPr>
          <p:cNvPr id="4098" name="Picture 2">
            <a:extLst>
              <a:ext uri="{FF2B5EF4-FFF2-40B4-BE49-F238E27FC236}">
                <a16:creationId xmlns:a16="http://schemas.microsoft.com/office/drawing/2014/main" id="{25EA3B0D-D215-ACC7-2C25-8AB8A88D5A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DAD9EA4-0BDE-CDC5-2384-5B0F173E1D2F}"/>
              </a:ext>
            </a:extLst>
          </p:cNvPr>
          <p:cNvSpPr txBox="1"/>
          <p:nvPr/>
        </p:nvSpPr>
        <p:spPr>
          <a:xfrm>
            <a:off x="364335" y="1026079"/>
            <a:ext cx="11463327" cy="4661276"/>
          </a:xfrm>
          <a:prstGeom prst="rect">
            <a:avLst/>
          </a:prstGeom>
          <a:noFill/>
        </p:spPr>
        <p:txBody>
          <a:bodyPr wrap="square">
            <a:spAutoFit/>
          </a:bodyPr>
          <a:lstStyle/>
          <a:p>
            <a:pPr>
              <a:lnSpc>
                <a:spcPct val="150000"/>
              </a:lnSpc>
            </a:pPr>
            <a:r>
              <a:rPr lang="en-IN" sz="2000" b="1" dirty="0"/>
              <a:t>[6] </a:t>
            </a:r>
            <a:r>
              <a:rPr lang="en-IN" sz="2000" dirty="0"/>
              <a:t>N. V. Durga Malleswari, K. Gayatri, K. Y. Sai Kumar, N. Likhita, P. K, and D. Bhattacharyya, “Music Recommendation System using Hybrid Approach,” in Proc. 2023 Second Int. Conf. Electronics and Renewable Systems (ICEARS), Tuticorin, India, 2023, pp. 1560–1564, </a:t>
            </a:r>
            <a:r>
              <a:rPr lang="en-IN" sz="2000" dirty="0" err="1"/>
              <a:t>doi</a:t>
            </a:r>
            <a:r>
              <a:rPr lang="en-IN" sz="2000" dirty="0"/>
              <a:t>: 10.1109/ICEARS56392.2023.10085059.</a:t>
            </a:r>
          </a:p>
          <a:p>
            <a:pPr>
              <a:lnSpc>
                <a:spcPct val="150000"/>
              </a:lnSpc>
            </a:pPr>
            <a:r>
              <a:rPr lang="en-IN" sz="2000" b="1" dirty="0"/>
              <a:t>Observations :</a:t>
            </a:r>
            <a:endParaRPr lang="en-IN" sz="2000" dirty="0"/>
          </a:p>
          <a:p>
            <a:pPr marL="342900" indent="-342900">
              <a:lnSpc>
                <a:spcPct val="150000"/>
              </a:lnSpc>
              <a:buFont typeface="Arial" panose="020B0604020202020204" pitchFamily="34" charset="0"/>
              <a:buChar char="•"/>
            </a:pPr>
            <a:r>
              <a:rPr lang="en-IN" sz="2000" dirty="0"/>
              <a:t>Combines multiple recommendation techniques </a:t>
            </a:r>
          </a:p>
          <a:p>
            <a:pPr marL="342900" indent="-342900">
              <a:lnSpc>
                <a:spcPct val="150000"/>
              </a:lnSpc>
              <a:buFont typeface="Arial" panose="020B0604020202020204" pitchFamily="34" charset="0"/>
              <a:buChar char="•"/>
            </a:pPr>
            <a:r>
              <a:rPr lang="en-IN" sz="2000" dirty="0"/>
              <a:t>Uses user history and preferences </a:t>
            </a:r>
          </a:p>
          <a:p>
            <a:pPr marL="342900" indent="-342900">
              <a:lnSpc>
                <a:spcPct val="150000"/>
              </a:lnSpc>
              <a:buFont typeface="Arial" panose="020B0604020202020204" pitchFamily="34" charset="0"/>
              <a:buChar char="•"/>
            </a:pPr>
            <a:r>
              <a:rPr lang="en-IN" sz="2000" dirty="0"/>
              <a:t>Improves recommendation accuracy </a:t>
            </a:r>
          </a:p>
          <a:p>
            <a:pPr>
              <a:lnSpc>
                <a:spcPct val="150000"/>
              </a:lnSpc>
            </a:pPr>
            <a:r>
              <a:rPr lang="en-IN" sz="2000" b="1" dirty="0"/>
              <a:t>Key Limitation:</a:t>
            </a:r>
            <a:endParaRPr lang="en-IN" sz="2000" dirty="0"/>
          </a:p>
          <a:p>
            <a:pPr marL="342900" indent="-342900">
              <a:lnSpc>
                <a:spcPct val="150000"/>
              </a:lnSpc>
              <a:buFont typeface="Arial" panose="020B0604020202020204" pitchFamily="34" charset="0"/>
              <a:buChar char="•"/>
            </a:pPr>
            <a:r>
              <a:rPr lang="en-IN" sz="2000" dirty="0"/>
              <a:t>Static recommendation approach </a:t>
            </a:r>
          </a:p>
          <a:p>
            <a:pPr marL="342900" indent="-342900">
              <a:lnSpc>
                <a:spcPct val="150000"/>
              </a:lnSpc>
              <a:buFont typeface="Arial" panose="020B0604020202020204" pitchFamily="34" charset="0"/>
              <a:buChar char="•"/>
            </a:pPr>
            <a:r>
              <a:rPr lang="en-IN" sz="2000" dirty="0"/>
              <a:t>No emotion or environmental context </a:t>
            </a:r>
          </a:p>
        </p:txBody>
      </p:sp>
    </p:spTree>
    <p:extLst>
      <p:ext uri="{BB962C8B-B14F-4D97-AF65-F5344CB8AC3E}">
        <p14:creationId xmlns:p14="http://schemas.microsoft.com/office/powerpoint/2010/main" val="3369905228"/>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95736-B667-947E-DF8D-5266B4900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82B45-015D-D419-EB67-053E208FE184}"/>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A0BF510-3B74-1159-0AD4-D3356FF9BB48}"/>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499BBDC7-EB91-78B0-2659-1BE83EE5AB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 y="-5397"/>
            <a:ext cx="12192000" cy="6858000"/>
          </a:xfrm>
          <a:prstGeom prst="rect">
            <a:avLst/>
          </a:prstGeom>
        </p:spPr>
      </p:pic>
      <p:sp>
        <p:nvSpPr>
          <p:cNvPr id="5" name="Footer Placeholder 4">
            <a:extLst>
              <a:ext uri="{FF2B5EF4-FFF2-40B4-BE49-F238E27FC236}">
                <a16:creationId xmlns:a16="http://schemas.microsoft.com/office/drawing/2014/main" id="{F890610B-8D4A-59A7-9457-07CCEC3B1129}"/>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071F2A86-CE25-5BC2-315E-0DDB9DA1A11B}"/>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9</a:t>
            </a:fld>
            <a:endParaRPr lang="en-US" dirty="0"/>
          </a:p>
        </p:txBody>
      </p:sp>
      <p:sp>
        <p:nvSpPr>
          <p:cNvPr id="9" name="TextBox 8">
            <a:extLst>
              <a:ext uri="{FF2B5EF4-FFF2-40B4-BE49-F238E27FC236}">
                <a16:creationId xmlns:a16="http://schemas.microsoft.com/office/drawing/2014/main" id="{C24131EE-A6AB-9438-ACBA-4573F5B9A080}"/>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91D1A2C2-BC70-BF5E-BBC7-E79780295F92}"/>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sp>
        <p:nvSpPr>
          <p:cNvPr id="14" name="TextBox 13">
            <a:extLst>
              <a:ext uri="{FF2B5EF4-FFF2-40B4-BE49-F238E27FC236}">
                <a16:creationId xmlns:a16="http://schemas.microsoft.com/office/drawing/2014/main" id="{24DC1BE3-4AF7-B2FC-051D-99C1CF4422B3}"/>
              </a:ext>
            </a:extLst>
          </p:cNvPr>
          <p:cNvSpPr txBox="1"/>
          <p:nvPr/>
        </p:nvSpPr>
        <p:spPr>
          <a:xfrm>
            <a:off x="4323177" y="390169"/>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REASERCH</a:t>
            </a:r>
          </a:p>
        </p:txBody>
      </p:sp>
      <p:pic>
        <p:nvPicPr>
          <p:cNvPr id="4098" name="Picture 2">
            <a:extLst>
              <a:ext uri="{FF2B5EF4-FFF2-40B4-BE49-F238E27FC236}">
                <a16:creationId xmlns:a16="http://schemas.microsoft.com/office/drawing/2014/main" id="{6E589611-1B8D-5647-1FB0-4524A09C46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3841D47-98D6-C6CD-55BE-2A1CB06B0CA6}"/>
              </a:ext>
            </a:extLst>
          </p:cNvPr>
          <p:cNvSpPr txBox="1"/>
          <p:nvPr/>
        </p:nvSpPr>
        <p:spPr>
          <a:xfrm>
            <a:off x="364335" y="1026079"/>
            <a:ext cx="11463327" cy="4661276"/>
          </a:xfrm>
          <a:prstGeom prst="rect">
            <a:avLst/>
          </a:prstGeom>
          <a:noFill/>
        </p:spPr>
        <p:txBody>
          <a:bodyPr wrap="square">
            <a:spAutoFit/>
          </a:bodyPr>
          <a:lstStyle/>
          <a:p>
            <a:pPr>
              <a:lnSpc>
                <a:spcPct val="150000"/>
              </a:lnSpc>
            </a:pPr>
            <a:r>
              <a:rPr lang="en-US" sz="2000" b="1" dirty="0"/>
              <a:t>[7] </a:t>
            </a:r>
            <a:r>
              <a:rPr lang="en-IN" sz="2000" dirty="0"/>
              <a:t>J. G. B. Vitorio and C. N. Silla, “Music Recommendation System for ´ Shared Environments,” in Proc. 2023 30th Int. Conf. Systems, Signals and Image Processing (IWSSIP), </a:t>
            </a:r>
            <a:r>
              <a:rPr lang="en-IN" sz="2000" dirty="0" err="1"/>
              <a:t>Ohrid</a:t>
            </a:r>
            <a:r>
              <a:rPr lang="en-IN" sz="2000" dirty="0"/>
              <a:t>, North Macedonia, 2023, pp. 1–5, </a:t>
            </a:r>
            <a:r>
              <a:rPr lang="en-IN" sz="2000" dirty="0" err="1"/>
              <a:t>doi</a:t>
            </a:r>
            <a:r>
              <a:rPr lang="en-IN" sz="2000" dirty="0"/>
              <a:t>: 10.1109/IWSSIP58668.2023.10180270.</a:t>
            </a:r>
          </a:p>
          <a:p>
            <a:pPr>
              <a:lnSpc>
                <a:spcPct val="150000"/>
              </a:lnSpc>
            </a:pPr>
            <a:r>
              <a:rPr lang="en-US" sz="2000" b="1" dirty="0"/>
              <a:t>Observations :</a:t>
            </a:r>
            <a:endParaRPr lang="en-US" sz="2000" dirty="0"/>
          </a:p>
          <a:p>
            <a:pPr marL="342900" indent="-342900">
              <a:lnSpc>
                <a:spcPct val="150000"/>
              </a:lnSpc>
              <a:buFont typeface="Arial" panose="020B0604020202020204" pitchFamily="34" charset="0"/>
              <a:buChar char="•"/>
            </a:pPr>
            <a:r>
              <a:rPr lang="en-US" sz="2000" dirty="0"/>
              <a:t>Designed for group music recommendation </a:t>
            </a:r>
          </a:p>
          <a:p>
            <a:pPr marL="342900" indent="-342900">
              <a:lnSpc>
                <a:spcPct val="150000"/>
              </a:lnSpc>
              <a:buFont typeface="Arial" panose="020B0604020202020204" pitchFamily="34" charset="0"/>
              <a:buChar char="•"/>
            </a:pPr>
            <a:r>
              <a:rPr lang="en-US" sz="2000" dirty="0"/>
              <a:t>Considers multiple users’ preferences </a:t>
            </a:r>
          </a:p>
          <a:p>
            <a:pPr marL="342900" indent="-342900">
              <a:lnSpc>
                <a:spcPct val="150000"/>
              </a:lnSpc>
              <a:buFont typeface="Arial" panose="020B0604020202020204" pitchFamily="34" charset="0"/>
              <a:buChar char="•"/>
            </a:pPr>
            <a:r>
              <a:rPr lang="en-US" sz="2000" dirty="0"/>
              <a:t>Suitable for shared spaces </a:t>
            </a:r>
          </a:p>
          <a:p>
            <a:pPr>
              <a:lnSpc>
                <a:spcPct val="150000"/>
              </a:lnSpc>
            </a:pPr>
            <a:r>
              <a:rPr lang="en-US" sz="2000" b="1" dirty="0"/>
              <a:t>Key Limitation:</a:t>
            </a:r>
            <a:endParaRPr lang="en-US" sz="2000" dirty="0"/>
          </a:p>
          <a:p>
            <a:pPr marL="342900" indent="-342900">
              <a:lnSpc>
                <a:spcPct val="150000"/>
              </a:lnSpc>
              <a:buFont typeface="Arial" panose="020B0604020202020204" pitchFamily="34" charset="0"/>
              <a:buChar char="•"/>
            </a:pPr>
            <a:r>
              <a:rPr lang="en-US" sz="2000" dirty="0"/>
              <a:t>Ignores individual emotions </a:t>
            </a:r>
          </a:p>
          <a:p>
            <a:pPr marL="342900" indent="-342900">
              <a:lnSpc>
                <a:spcPct val="150000"/>
              </a:lnSpc>
              <a:buFont typeface="Arial" panose="020B0604020202020204" pitchFamily="34" charset="0"/>
              <a:buChar char="•"/>
            </a:pPr>
            <a:r>
              <a:rPr lang="en-US" sz="2000" dirty="0"/>
              <a:t>Limited personalization </a:t>
            </a:r>
          </a:p>
        </p:txBody>
      </p:sp>
    </p:spTree>
    <p:extLst>
      <p:ext uri="{BB962C8B-B14F-4D97-AF65-F5344CB8AC3E}">
        <p14:creationId xmlns:p14="http://schemas.microsoft.com/office/powerpoint/2010/main" val="1290791326"/>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FB8CD-DAC7-4877-CBD4-7E3B6623D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94782-E0CE-11A8-47AA-00A9C1D85E30}"/>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BA4A673-F935-67E8-4638-AD60D72369C2}"/>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E946F57D-4FDA-7D6D-0247-903337FE71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 y="-5397"/>
            <a:ext cx="12192000" cy="6858000"/>
          </a:xfrm>
          <a:prstGeom prst="rect">
            <a:avLst/>
          </a:prstGeom>
        </p:spPr>
      </p:pic>
      <p:sp>
        <p:nvSpPr>
          <p:cNvPr id="5" name="Footer Placeholder 4">
            <a:extLst>
              <a:ext uri="{FF2B5EF4-FFF2-40B4-BE49-F238E27FC236}">
                <a16:creationId xmlns:a16="http://schemas.microsoft.com/office/drawing/2014/main" id="{EAEB8162-C698-D044-D62B-FC75D78136C5}"/>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68BC6FCA-3363-DAD8-0338-78E4F4920701}"/>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10</a:t>
            </a:fld>
            <a:endParaRPr lang="en-US" dirty="0"/>
          </a:p>
        </p:txBody>
      </p:sp>
      <p:sp>
        <p:nvSpPr>
          <p:cNvPr id="9" name="TextBox 8">
            <a:extLst>
              <a:ext uri="{FF2B5EF4-FFF2-40B4-BE49-F238E27FC236}">
                <a16:creationId xmlns:a16="http://schemas.microsoft.com/office/drawing/2014/main" id="{5F82F39F-7379-E7AA-1160-DE90528578E8}"/>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678EBF23-CDA0-E92E-165D-B80EECE2D7F4}"/>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sp>
        <p:nvSpPr>
          <p:cNvPr id="14" name="TextBox 13">
            <a:extLst>
              <a:ext uri="{FF2B5EF4-FFF2-40B4-BE49-F238E27FC236}">
                <a16:creationId xmlns:a16="http://schemas.microsoft.com/office/drawing/2014/main" id="{75F06664-0B56-3BAD-2C02-AA7014E8E249}"/>
              </a:ext>
            </a:extLst>
          </p:cNvPr>
          <p:cNvSpPr txBox="1"/>
          <p:nvPr/>
        </p:nvSpPr>
        <p:spPr>
          <a:xfrm>
            <a:off x="4323177" y="390169"/>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REASERCH</a:t>
            </a:r>
          </a:p>
        </p:txBody>
      </p:sp>
      <p:pic>
        <p:nvPicPr>
          <p:cNvPr id="4098" name="Picture 2">
            <a:extLst>
              <a:ext uri="{FF2B5EF4-FFF2-40B4-BE49-F238E27FC236}">
                <a16:creationId xmlns:a16="http://schemas.microsoft.com/office/drawing/2014/main" id="{C16A9CD2-2AFA-5CFD-3CED-C5C5E7C64B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FE2AA13-D4E2-A31B-225E-7CBD43AB9F77}"/>
              </a:ext>
            </a:extLst>
          </p:cNvPr>
          <p:cNvSpPr txBox="1"/>
          <p:nvPr/>
        </p:nvSpPr>
        <p:spPr>
          <a:xfrm>
            <a:off x="364335" y="1026079"/>
            <a:ext cx="11463327" cy="4661276"/>
          </a:xfrm>
          <a:prstGeom prst="rect">
            <a:avLst/>
          </a:prstGeom>
          <a:noFill/>
        </p:spPr>
        <p:txBody>
          <a:bodyPr wrap="square">
            <a:spAutoFit/>
          </a:bodyPr>
          <a:lstStyle/>
          <a:p>
            <a:pPr>
              <a:lnSpc>
                <a:spcPct val="150000"/>
              </a:lnSpc>
            </a:pPr>
            <a:r>
              <a:rPr lang="en-US" sz="2000" b="1" dirty="0"/>
              <a:t>[8] </a:t>
            </a:r>
            <a:r>
              <a:rPr lang="en-IN" sz="2000" dirty="0"/>
              <a:t>S. Sasaki, T. Hirai, H. </a:t>
            </a:r>
            <a:r>
              <a:rPr lang="en-IN" sz="2000" dirty="0" err="1"/>
              <a:t>Ohya</a:t>
            </a:r>
            <a:r>
              <a:rPr lang="en-IN" sz="2000" dirty="0"/>
              <a:t>, and S. Morishima, “Affective Music Recommendation System Reflecting the Mood of Input Image,” in Proc. 2013 Int. Conf. Culture and Computing, Kyoto, Japan, 2013, pp. 153– 154, </a:t>
            </a:r>
            <a:r>
              <a:rPr lang="en-IN" sz="2000" dirty="0" err="1"/>
              <a:t>doi</a:t>
            </a:r>
            <a:r>
              <a:rPr lang="en-IN" sz="2000" dirty="0"/>
              <a:t>: 10.1109/CultureComputing.2013.42.</a:t>
            </a:r>
          </a:p>
          <a:p>
            <a:pPr>
              <a:lnSpc>
                <a:spcPct val="150000"/>
              </a:lnSpc>
            </a:pPr>
            <a:r>
              <a:rPr lang="en-US" sz="2000" b="1" dirty="0"/>
              <a:t>Observations :</a:t>
            </a:r>
            <a:endParaRPr lang="en-US" sz="2000" dirty="0"/>
          </a:p>
          <a:p>
            <a:pPr marL="342900" indent="-342900">
              <a:lnSpc>
                <a:spcPct val="150000"/>
              </a:lnSpc>
              <a:buFont typeface="Arial" panose="020B0604020202020204" pitchFamily="34" charset="0"/>
              <a:buChar char="•"/>
            </a:pPr>
            <a:r>
              <a:rPr lang="en-US" sz="2000" dirty="0"/>
              <a:t>Uses input images to detect user mood </a:t>
            </a:r>
          </a:p>
          <a:p>
            <a:pPr marL="342900" indent="-342900">
              <a:lnSpc>
                <a:spcPct val="150000"/>
              </a:lnSpc>
              <a:buFont typeface="Arial" panose="020B0604020202020204" pitchFamily="34" charset="0"/>
              <a:buChar char="•"/>
            </a:pPr>
            <a:r>
              <a:rPr lang="en-US" sz="2000" dirty="0"/>
              <a:t>Maps visual emotions to music </a:t>
            </a:r>
          </a:p>
          <a:p>
            <a:pPr marL="342900" indent="-342900">
              <a:lnSpc>
                <a:spcPct val="150000"/>
              </a:lnSpc>
              <a:buFont typeface="Arial" panose="020B0604020202020204" pitchFamily="34" charset="0"/>
              <a:buChar char="•"/>
            </a:pPr>
            <a:r>
              <a:rPr lang="en-US" sz="2000" dirty="0"/>
              <a:t>Introduces affective computing approach </a:t>
            </a:r>
          </a:p>
          <a:p>
            <a:pPr>
              <a:lnSpc>
                <a:spcPct val="150000"/>
              </a:lnSpc>
            </a:pPr>
            <a:r>
              <a:rPr lang="en-US" sz="2000" b="1" dirty="0"/>
              <a:t>Key Limitation:</a:t>
            </a:r>
            <a:endParaRPr lang="en-US" sz="2000" dirty="0"/>
          </a:p>
          <a:p>
            <a:pPr marL="342900" indent="-342900">
              <a:lnSpc>
                <a:spcPct val="150000"/>
              </a:lnSpc>
              <a:buFont typeface="Arial" panose="020B0604020202020204" pitchFamily="34" charset="0"/>
              <a:buChar char="•"/>
            </a:pPr>
            <a:r>
              <a:rPr lang="en-US" sz="2000" dirty="0"/>
              <a:t>Outdated method </a:t>
            </a:r>
          </a:p>
          <a:p>
            <a:pPr marL="342900" indent="-342900">
              <a:lnSpc>
                <a:spcPct val="150000"/>
              </a:lnSpc>
              <a:buFont typeface="Arial" panose="020B0604020202020204" pitchFamily="34" charset="0"/>
              <a:buChar char="•"/>
            </a:pPr>
            <a:r>
              <a:rPr lang="en-US" sz="2000" dirty="0"/>
              <a:t>No real-time contextual integration </a:t>
            </a:r>
          </a:p>
        </p:txBody>
      </p:sp>
    </p:spTree>
    <p:extLst>
      <p:ext uri="{BB962C8B-B14F-4D97-AF65-F5344CB8AC3E}">
        <p14:creationId xmlns:p14="http://schemas.microsoft.com/office/powerpoint/2010/main" val="817402509"/>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770C4-F06D-DCC0-4079-082D477B38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9E507-EED5-6AF1-E136-F7E2728A9176}"/>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36A10EF-19DE-ABA4-B689-D961029B4AC7}"/>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B32191C5-CAB2-D280-6DA3-BFDD53A3DB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 y="-5397"/>
            <a:ext cx="12192000" cy="6858000"/>
          </a:xfrm>
          <a:prstGeom prst="rect">
            <a:avLst/>
          </a:prstGeom>
        </p:spPr>
      </p:pic>
      <p:sp>
        <p:nvSpPr>
          <p:cNvPr id="5" name="Footer Placeholder 4">
            <a:extLst>
              <a:ext uri="{FF2B5EF4-FFF2-40B4-BE49-F238E27FC236}">
                <a16:creationId xmlns:a16="http://schemas.microsoft.com/office/drawing/2014/main" id="{361E99FF-C588-1853-1BF7-E4FA43980750}"/>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B2741598-F40F-A823-2D82-CBBB50EA7971}"/>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11</a:t>
            </a:fld>
            <a:endParaRPr lang="en-US" dirty="0"/>
          </a:p>
        </p:txBody>
      </p:sp>
      <p:sp>
        <p:nvSpPr>
          <p:cNvPr id="9" name="TextBox 8">
            <a:extLst>
              <a:ext uri="{FF2B5EF4-FFF2-40B4-BE49-F238E27FC236}">
                <a16:creationId xmlns:a16="http://schemas.microsoft.com/office/drawing/2014/main" id="{59A834BA-0AD2-6882-F88D-11362544A016}"/>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3CE56F41-F9C7-9FD7-251A-0EA6BF61872E}"/>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sp>
        <p:nvSpPr>
          <p:cNvPr id="14" name="TextBox 13">
            <a:extLst>
              <a:ext uri="{FF2B5EF4-FFF2-40B4-BE49-F238E27FC236}">
                <a16:creationId xmlns:a16="http://schemas.microsoft.com/office/drawing/2014/main" id="{9CAFC9D1-10E2-21B0-E573-F1BB5DAA7C0F}"/>
              </a:ext>
            </a:extLst>
          </p:cNvPr>
          <p:cNvSpPr txBox="1"/>
          <p:nvPr/>
        </p:nvSpPr>
        <p:spPr>
          <a:xfrm>
            <a:off x="4323177" y="390169"/>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REASERCH</a:t>
            </a:r>
          </a:p>
        </p:txBody>
      </p:sp>
      <p:pic>
        <p:nvPicPr>
          <p:cNvPr id="4098" name="Picture 2">
            <a:extLst>
              <a:ext uri="{FF2B5EF4-FFF2-40B4-BE49-F238E27FC236}">
                <a16:creationId xmlns:a16="http://schemas.microsoft.com/office/drawing/2014/main" id="{F34DBA22-613F-5772-CAE0-4619289DB7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E6F0C7D-342D-3FCC-77C9-76C775511A2A}"/>
              </a:ext>
            </a:extLst>
          </p:cNvPr>
          <p:cNvSpPr txBox="1"/>
          <p:nvPr/>
        </p:nvSpPr>
        <p:spPr>
          <a:xfrm>
            <a:off x="364335" y="1026079"/>
            <a:ext cx="11463327" cy="4199611"/>
          </a:xfrm>
          <a:prstGeom prst="rect">
            <a:avLst/>
          </a:prstGeom>
          <a:noFill/>
        </p:spPr>
        <p:txBody>
          <a:bodyPr wrap="square">
            <a:spAutoFit/>
          </a:bodyPr>
          <a:lstStyle/>
          <a:p>
            <a:pPr>
              <a:lnSpc>
                <a:spcPct val="150000"/>
              </a:lnSpc>
            </a:pPr>
            <a:r>
              <a:rPr lang="en-US" sz="2000" b="1" dirty="0"/>
              <a:t>[9] </a:t>
            </a:r>
            <a:r>
              <a:rPr lang="en-IN" sz="2000" dirty="0"/>
              <a:t>S. P. </a:t>
            </a:r>
            <a:r>
              <a:rPr lang="en-IN" sz="2000" dirty="0" err="1"/>
              <a:t>Deore</a:t>
            </a:r>
            <a:r>
              <a:rPr lang="en-IN" sz="2000" dirty="0"/>
              <a:t>, “Enriching Song Recommendation Through Facial Expression Using Deep Learning,” </a:t>
            </a:r>
            <a:r>
              <a:rPr lang="en-IN" sz="2000" dirty="0" err="1"/>
              <a:t>Ingenierie</a:t>
            </a:r>
            <a:r>
              <a:rPr lang="en-IN" sz="2000" dirty="0"/>
              <a:t> des </a:t>
            </a:r>
            <a:r>
              <a:rPr lang="en-IN" sz="2000" dirty="0" err="1"/>
              <a:t>Syst</a:t>
            </a:r>
            <a:r>
              <a:rPr lang="en-IN" sz="2000" dirty="0"/>
              <a:t> ´ </a:t>
            </a:r>
            <a:r>
              <a:rPr lang="en-IN" sz="2000" dirty="0" err="1"/>
              <a:t>emes</a:t>
            </a:r>
            <a:r>
              <a:rPr lang="en-IN" sz="2000" dirty="0"/>
              <a:t> </a:t>
            </a:r>
            <a:r>
              <a:rPr lang="en-IN" sz="2000" dirty="0" err="1"/>
              <a:t>d’Information</a:t>
            </a:r>
            <a:r>
              <a:rPr lang="en-IN" sz="2000" dirty="0"/>
              <a:t> ` , vol. 28, no. 1, pp. 225–229, 2023, </a:t>
            </a:r>
            <a:r>
              <a:rPr lang="en-IN" sz="2000" dirty="0" err="1"/>
              <a:t>doi</a:t>
            </a:r>
            <a:r>
              <a:rPr lang="en-IN" sz="2000" dirty="0"/>
              <a:t>: 10.18280/isi.280126.</a:t>
            </a:r>
          </a:p>
          <a:p>
            <a:pPr>
              <a:lnSpc>
                <a:spcPct val="150000"/>
              </a:lnSpc>
            </a:pPr>
            <a:r>
              <a:rPr lang="en-US" sz="2000" b="1" dirty="0"/>
              <a:t>Observations :</a:t>
            </a:r>
            <a:endParaRPr lang="en-US" sz="2000" dirty="0"/>
          </a:p>
          <a:p>
            <a:pPr marL="342900" indent="-342900">
              <a:lnSpc>
                <a:spcPct val="150000"/>
              </a:lnSpc>
              <a:buFont typeface="Arial" panose="020B0604020202020204" pitchFamily="34" charset="0"/>
              <a:buChar char="•"/>
            </a:pPr>
            <a:r>
              <a:rPr lang="en-US" sz="2000" dirty="0"/>
              <a:t>Uses deep learning for facial emotion detection </a:t>
            </a:r>
          </a:p>
          <a:p>
            <a:pPr marL="342900" indent="-342900">
              <a:lnSpc>
                <a:spcPct val="150000"/>
              </a:lnSpc>
              <a:buFont typeface="Arial" panose="020B0604020202020204" pitchFamily="34" charset="0"/>
              <a:buChar char="•"/>
            </a:pPr>
            <a:r>
              <a:rPr lang="en-US" sz="2000" dirty="0"/>
              <a:t>Maps expressions to music recommendations </a:t>
            </a:r>
          </a:p>
          <a:p>
            <a:pPr marL="342900" indent="-342900">
              <a:lnSpc>
                <a:spcPct val="150000"/>
              </a:lnSpc>
              <a:buFont typeface="Arial" panose="020B0604020202020204" pitchFamily="34" charset="0"/>
              <a:buChar char="•"/>
            </a:pPr>
            <a:r>
              <a:rPr lang="en-US" sz="2000" dirty="0"/>
              <a:t>Automates mood-based music selection </a:t>
            </a:r>
          </a:p>
          <a:p>
            <a:pPr>
              <a:lnSpc>
                <a:spcPct val="150000"/>
              </a:lnSpc>
            </a:pPr>
            <a:r>
              <a:rPr lang="en-US" sz="2000" b="1" dirty="0"/>
              <a:t>Key Limitation:</a:t>
            </a:r>
            <a:endParaRPr lang="en-US" sz="2000" dirty="0"/>
          </a:p>
          <a:p>
            <a:pPr marL="342900" indent="-342900">
              <a:lnSpc>
                <a:spcPct val="150000"/>
              </a:lnSpc>
              <a:buFont typeface="Arial" panose="020B0604020202020204" pitchFamily="34" charset="0"/>
              <a:buChar char="•"/>
            </a:pPr>
            <a:r>
              <a:rPr lang="en-US" sz="2000" dirty="0"/>
              <a:t>Depends only on facial expressions </a:t>
            </a:r>
          </a:p>
          <a:p>
            <a:pPr marL="342900" indent="-342900">
              <a:lnSpc>
                <a:spcPct val="150000"/>
              </a:lnSpc>
              <a:buFont typeface="Arial" panose="020B0604020202020204" pitchFamily="34" charset="0"/>
              <a:buChar char="•"/>
            </a:pPr>
            <a:r>
              <a:rPr lang="en-US" sz="2000" dirty="0"/>
              <a:t>No environmental awareness </a:t>
            </a:r>
          </a:p>
        </p:txBody>
      </p:sp>
    </p:spTree>
    <p:extLst>
      <p:ext uri="{BB962C8B-B14F-4D97-AF65-F5344CB8AC3E}">
        <p14:creationId xmlns:p14="http://schemas.microsoft.com/office/powerpoint/2010/main" val="2850558762"/>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863C2-4101-C704-EC40-0BADDC1BE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1BC52-017D-AEF6-7A3F-1C1585C52670}"/>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2FCE393A-205F-0E05-9C4A-980D48ED8934}"/>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0F675331-7D2D-C7D8-2F0E-0067EBF49F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 y="-5397"/>
            <a:ext cx="12192000" cy="6858000"/>
          </a:xfrm>
          <a:prstGeom prst="rect">
            <a:avLst/>
          </a:prstGeom>
        </p:spPr>
      </p:pic>
      <p:sp>
        <p:nvSpPr>
          <p:cNvPr id="5" name="Footer Placeholder 4">
            <a:extLst>
              <a:ext uri="{FF2B5EF4-FFF2-40B4-BE49-F238E27FC236}">
                <a16:creationId xmlns:a16="http://schemas.microsoft.com/office/drawing/2014/main" id="{440894C5-B81D-BC44-4D03-549F606C7A3A}"/>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B69C7D66-89BF-81A6-6A89-A9F3A970025E}"/>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12</a:t>
            </a:fld>
            <a:endParaRPr lang="en-US" dirty="0"/>
          </a:p>
        </p:txBody>
      </p:sp>
      <p:sp>
        <p:nvSpPr>
          <p:cNvPr id="9" name="TextBox 8">
            <a:extLst>
              <a:ext uri="{FF2B5EF4-FFF2-40B4-BE49-F238E27FC236}">
                <a16:creationId xmlns:a16="http://schemas.microsoft.com/office/drawing/2014/main" id="{EFF1D257-BA21-64F9-E6C0-E0A68FE0172F}"/>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03103C1F-1858-D748-EBE6-63F83ACA57D5}"/>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EVEN SEM ) </a:t>
            </a:r>
            <a:endParaRPr lang="en-IN" altLang="en-GB" dirty="0"/>
          </a:p>
        </p:txBody>
      </p:sp>
      <p:sp>
        <p:nvSpPr>
          <p:cNvPr id="14" name="TextBox 13">
            <a:extLst>
              <a:ext uri="{FF2B5EF4-FFF2-40B4-BE49-F238E27FC236}">
                <a16:creationId xmlns:a16="http://schemas.microsoft.com/office/drawing/2014/main" id="{3BA3DC3C-B1C6-DD92-EE6C-0D42357DF84A}"/>
              </a:ext>
            </a:extLst>
          </p:cNvPr>
          <p:cNvSpPr txBox="1"/>
          <p:nvPr/>
        </p:nvSpPr>
        <p:spPr>
          <a:xfrm>
            <a:off x="4323177" y="390169"/>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REASERCH</a:t>
            </a:r>
          </a:p>
        </p:txBody>
      </p:sp>
      <p:pic>
        <p:nvPicPr>
          <p:cNvPr id="4098" name="Picture 2">
            <a:extLst>
              <a:ext uri="{FF2B5EF4-FFF2-40B4-BE49-F238E27FC236}">
                <a16:creationId xmlns:a16="http://schemas.microsoft.com/office/drawing/2014/main" id="{F05719A2-1AA3-1EA7-F1CE-C9F01FB966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45182E6-AAE3-79D5-4414-99C24F08C519}"/>
              </a:ext>
            </a:extLst>
          </p:cNvPr>
          <p:cNvSpPr txBox="1"/>
          <p:nvPr/>
        </p:nvSpPr>
        <p:spPr>
          <a:xfrm>
            <a:off x="364335" y="1026079"/>
            <a:ext cx="11463327" cy="4661276"/>
          </a:xfrm>
          <a:prstGeom prst="rect">
            <a:avLst/>
          </a:prstGeom>
          <a:noFill/>
        </p:spPr>
        <p:txBody>
          <a:bodyPr wrap="square">
            <a:spAutoFit/>
          </a:bodyPr>
          <a:lstStyle/>
          <a:p>
            <a:pPr>
              <a:lnSpc>
                <a:spcPct val="150000"/>
              </a:lnSpc>
            </a:pPr>
            <a:r>
              <a:rPr lang="en-IN" sz="2000" b="1" dirty="0"/>
              <a:t>[10] </a:t>
            </a:r>
            <a:r>
              <a:rPr lang="en-IN" sz="2000" dirty="0"/>
              <a:t>H. S. Angkasa and N. U. </a:t>
            </a:r>
            <a:r>
              <a:rPr lang="en-IN" sz="2000" dirty="0" err="1"/>
              <a:t>Maulidevi</a:t>
            </a:r>
            <a:r>
              <a:rPr lang="en-IN" sz="2000" dirty="0"/>
              <a:t>, “Emotion Classification of User Face Image in Music Recommendation System,” in Proc. 2022 9th Int. Conf. Advanced Informatics: Concepts, Theory and Applications (ICAICTA), </a:t>
            </a:r>
            <a:r>
              <a:rPr lang="en-IN" sz="2000" dirty="0" err="1"/>
              <a:t>Tokoname</a:t>
            </a:r>
            <a:r>
              <a:rPr lang="en-IN" sz="2000" dirty="0"/>
              <a:t>, Japan, 2022, pp. 1–6, </a:t>
            </a:r>
            <a:r>
              <a:rPr lang="en-IN" sz="2000" dirty="0" err="1"/>
              <a:t>doi</a:t>
            </a:r>
            <a:r>
              <a:rPr lang="en-IN" sz="2000" dirty="0"/>
              <a:t>: 10.1109/ICAICTA56449.2022.9933010.</a:t>
            </a:r>
          </a:p>
          <a:p>
            <a:pPr>
              <a:lnSpc>
                <a:spcPct val="150000"/>
              </a:lnSpc>
            </a:pPr>
            <a:r>
              <a:rPr lang="en-IN" sz="2000" b="1" dirty="0"/>
              <a:t>Observations :</a:t>
            </a:r>
            <a:endParaRPr lang="en-IN" sz="2000" dirty="0"/>
          </a:p>
          <a:p>
            <a:pPr marL="342900" indent="-342900">
              <a:lnSpc>
                <a:spcPct val="150000"/>
              </a:lnSpc>
              <a:buFont typeface="Arial" panose="020B0604020202020204" pitchFamily="34" charset="0"/>
              <a:buChar char="•"/>
            </a:pPr>
            <a:r>
              <a:rPr lang="en-IN" sz="2000" dirty="0"/>
              <a:t>Focuses on facial emotion classification </a:t>
            </a:r>
          </a:p>
          <a:p>
            <a:pPr marL="342900" indent="-342900">
              <a:lnSpc>
                <a:spcPct val="150000"/>
              </a:lnSpc>
              <a:buFont typeface="Arial" panose="020B0604020202020204" pitchFamily="34" charset="0"/>
              <a:buChar char="•"/>
            </a:pPr>
            <a:r>
              <a:rPr lang="en-IN" sz="2000" dirty="0"/>
              <a:t>Uses image processing techniques </a:t>
            </a:r>
          </a:p>
          <a:p>
            <a:pPr marL="342900" indent="-342900">
              <a:lnSpc>
                <a:spcPct val="150000"/>
              </a:lnSpc>
              <a:buFont typeface="Arial" panose="020B0604020202020204" pitchFamily="34" charset="0"/>
              <a:buChar char="•"/>
            </a:pPr>
            <a:r>
              <a:rPr lang="en-IN" sz="2000" dirty="0"/>
              <a:t>Supports recommendation systems </a:t>
            </a:r>
          </a:p>
          <a:p>
            <a:pPr>
              <a:lnSpc>
                <a:spcPct val="150000"/>
              </a:lnSpc>
            </a:pPr>
            <a:r>
              <a:rPr lang="en-IN" sz="2000" b="1" dirty="0"/>
              <a:t>Key Limitation:</a:t>
            </a:r>
            <a:endParaRPr lang="en-IN" sz="2000" dirty="0"/>
          </a:p>
          <a:p>
            <a:pPr marL="342900" indent="-342900">
              <a:lnSpc>
                <a:spcPct val="150000"/>
              </a:lnSpc>
              <a:buFont typeface="Arial" panose="020B0604020202020204" pitchFamily="34" charset="0"/>
              <a:buChar char="•"/>
            </a:pPr>
            <a:r>
              <a:rPr lang="en-IN" sz="2000" dirty="0"/>
              <a:t>Only handles emotion detection </a:t>
            </a:r>
          </a:p>
          <a:p>
            <a:pPr marL="342900" indent="-342900">
              <a:lnSpc>
                <a:spcPct val="150000"/>
              </a:lnSpc>
              <a:buFont typeface="Arial" panose="020B0604020202020204" pitchFamily="34" charset="0"/>
              <a:buChar char="•"/>
            </a:pPr>
            <a:r>
              <a:rPr lang="en-IN" sz="2000" dirty="0"/>
              <a:t>Does not include full recommendation system</a:t>
            </a:r>
          </a:p>
        </p:txBody>
      </p:sp>
    </p:spTree>
    <p:extLst>
      <p:ext uri="{BB962C8B-B14F-4D97-AF65-F5344CB8AC3E}">
        <p14:creationId xmlns:p14="http://schemas.microsoft.com/office/powerpoint/2010/main" val="3799107816"/>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A0D96-43C0-412D-518E-A70A5223E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AB14F-9B4B-D2C4-7CD1-00A54B860339}"/>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2575D2A-EEF1-457B-ACDD-90FC99B44F92}"/>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BE702ECD-B80D-1D8B-D7FD-120D846841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846"/>
            <a:ext cx="12192000" cy="6858000"/>
          </a:xfrm>
          <a:prstGeom prst="rect">
            <a:avLst/>
          </a:prstGeom>
        </p:spPr>
      </p:pic>
      <p:sp>
        <p:nvSpPr>
          <p:cNvPr id="5" name="Footer Placeholder 4">
            <a:extLst>
              <a:ext uri="{FF2B5EF4-FFF2-40B4-BE49-F238E27FC236}">
                <a16:creationId xmlns:a16="http://schemas.microsoft.com/office/drawing/2014/main" id="{B592A364-5519-E108-729B-6BD73DBECA86}"/>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3EF94B15-9A1B-129D-5018-1BFF84274641}"/>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13</a:t>
            </a:fld>
            <a:endParaRPr lang="en-US" dirty="0"/>
          </a:p>
        </p:txBody>
      </p:sp>
      <p:sp>
        <p:nvSpPr>
          <p:cNvPr id="9" name="TextBox 8">
            <a:extLst>
              <a:ext uri="{FF2B5EF4-FFF2-40B4-BE49-F238E27FC236}">
                <a16:creationId xmlns:a16="http://schemas.microsoft.com/office/drawing/2014/main" id="{42A942DA-D68D-6420-1315-51139615AAB7}"/>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3A7B70FA-4136-C8CE-5040-AF3B6DE8B15B}"/>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3BF4FC29-1C6A-B346-D21B-D1175F3E1190}"/>
              </a:ext>
            </a:extLst>
          </p:cNvPr>
          <p:cNvSpPr txBox="1"/>
          <p:nvPr/>
        </p:nvSpPr>
        <p:spPr>
          <a:xfrm>
            <a:off x="1899745" y="699730"/>
            <a:ext cx="7906407" cy="507831"/>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OBSERVATIONS OF EXISTING SOLUTIONS</a:t>
            </a:r>
          </a:p>
        </p:txBody>
      </p:sp>
      <p:sp>
        <p:nvSpPr>
          <p:cNvPr id="16" name="TextBox 15">
            <a:extLst>
              <a:ext uri="{FF2B5EF4-FFF2-40B4-BE49-F238E27FC236}">
                <a16:creationId xmlns:a16="http://schemas.microsoft.com/office/drawing/2014/main" id="{EEC54B84-EB1A-F37A-03DB-8DAB03E54859}"/>
              </a:ext>
            </a:extLst>
          </p:cNvPr>
          <p:cNvSpPr txBox="1"/>
          <p:nvPr/>
        </p:nvSpPr>
        <p:spPr>
          <a:xfrm>
            <a:off x="676516" y="1726305"/>
            <a:ext cx="10600920" cy="4401205"/>
          </a:xfrm>
          <a:prstGeom prst="rect">
            <a:avLst/>
          </a:prstGeom>
          <a:noFill/>
        </p:spPr>
        <p:txBody>
          <a:bodyPr wrap="square">
            <a:spAutoFit/>
          </a:bodyPr>
          <a:lstStyle/>
          <a:p>
            <a:pPr marL="342900" indent="-342900">
              <a:buFont typeface="Arial" panose="020B0604020202020204" pitchFamily="34" charset="0"/>
              <a:buChar char="•"/>
            </a:pPr>
            <a:r>
              <a:rPr lang="en-US" sz="2000" dirty="0"/>
              <a:t>Limited to facial input; performance drops under poor lighting or low-quality cameras.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Computationally intensive; requires sequential emotion data which may not always be available.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Fixed input structure; lacks flexibility for diverse real-world scenarios.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Resource-heavy; some inputs are impractical for everyday users.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Ignores other real-time contextual factors such as weather, location, or dynamic changes.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High complexity; prone to overfitting and difficult to deploy for real-time applications.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No hybrid approach combining emotion, contextual information, and user language preference for better personalization.</a:t>
            </a:r>
          </a:p>
        </p:txBody>
      </p:sp>
      <p:pic>
        <p:nvPicPr>
          <p:cNvPr id="4098" name="Picture 2">
            <a:extLst>
              <a:ext uri="{FF2B5EF4-FFF2-40B4-BE49-F238E27FC236}">
                <a16:creationId xmlns:a16="http://schemas.microsoft.com/office/drawing/2014/main" id="{188C666D-D0FE-6D67-1227-E005D3A7CE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032400"/>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F7DCE-CFE9-A58B-C006-D041E59C9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F58F1-344F-C687-C824-FEC83F169CE3}"/>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2E92719-74D4-79EE-E82D-FB9F14DF6D30}"/>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CCF59B1F-A188-2436-7691-778EC165A7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6963"/>
            <a:ext cx="12192000" cy="6858000"/>
          </a:xfrm>
          <a:prstGeom prst="rect">
            <a:avLst/>
          </a:prstGeom>
        </p:spPr>
      </p:pic>
      <p:sp>
        <p:nvSpPr>
          <p:cNvPr id="5" name="Footer Placeholder 4">
            <a:extLst>
              <a:ext uri="{FF2B5EF4-FFF2-40B4-BE49-F238E27FC236}">
                <a16:creationId xmlns:a16="http://schemas.microsoft.com/office/drawing/2014/main" id="{651E5646-5ADB-B65B-FFAD-2D8DBD34F6C0}"/>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048772A9-CC4B-3029-39AB-8CEDC2FEBEA7}"/>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14</a:t>
            </a:fld>
            <a:endParaRPr lang="en-US" dirty="0"/>
          </a:p>
        </p:txBody>
      </p:sp>
      <p:sp>
        <p:nvSpPr>
          <p:cNvPr id="9" name="TextBox 8">
            <a:extLst>
              <a:ext uri="{FF2B5EF4-FFF2-40B4-BE49-F238E27FC236}">
                <a16:creationId xmlns:a16="http://schemas.microsoft.com/office/drawing/2014/main" id="{73B852E1-737A-F408-5B73-7D1C915B469B}"/>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FF14BE6F-F086-0081-1E2F-56566FF6BB1C}"/>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6A7BF094-EAAD-9B8D-B30A-09AEB3EC41D3}"/>
              </a:ext>
            </a:extLst>
          </p:cNvPr>
          <p:cNvSpPr txBox="1"/>
          <p:nvPr/>
        </p:nvSpPr>
        <p:spPr>
          <a:xfrm>
            <a:off x="4204116" y="713207"/>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PROBLEM STATEMENT</a:t>
            </a:r>
          </a:p>
        </p:txBody>
      </p:sp>
      <p:sp>
        <p:nvSpPr>
          <p:cNvPr id="16" name="TextBox 15">
            <a:extLst>
              <a:ext uri="{FF2B5EF4-FFF2-40B4-BE49-F238E27FC236}">
                <a16:creationId xmlns:a16="http://schemas.microsoft.com/office/drawing/2014/main" id="{390ABDA3-611F-386C-638B-28241FD442FF}"/>
              </a:ext>
            </a:extLst>
          </p:cNvPr>
          <p:cNvSpPr txBox="1"/>
          <p:nvPr/>
        </p:nvSpPr>
        <p:spPr>
          <a:xfrm>
            <a:off x="730585" y="1476755"/>
            <a:ext cx="10426156" cy="1938992"/>
          </a:xfrm>
          <a:prstGeom prst="rect">
            <a:avLst/>
          </a:prstGeom>
          <a:noFill/>
        </p:spPr>
        <p:txBody>
          <a:bodyPr wrap="square">
            <a:spAutoFit/>
          </a:bodyPr>
          <a:lstStyle/>
          <a:p>
            <a:pPr algn="just"/>
            <a:r>
              <a:rPr lang="en-US" sz="2000" dirty="0"/>
              <a:t>Most existing music recommendation systems rely on static user data and cannot understand the listener’s real-time emotions or environment, leading to generic and unsuitable suggestions. Despite advancements in emotion and context recognition, there is still no unified framework that integrates facial emotion analysis, scene understanding, and contextual factors like weather or location. </a:t>
            </a:r>
            <a:r>
              <a:rPr lang="en-US" sz="2000" dirty="0" err="1"/>
              <a:t>Muzly</a:t>
            </a:r>
            <a:r>
              <a:rPr lang="en-US" sz="2000" dirty="0"/>
              <a:t> aims to address this gap by developing an intelligent, context-aware system that provides adaptive and emotionally aligned music recommendations.</a:t>
            </a:r>
            <a:endParaRPr lang="en-US" sz="2400" dirty="0"/>
          </a:p>
        </p:txBody>
      </p:sp>
      <p:pic>
        <p:nvPicPr>
          <p:cNvPr id="4098" name="Picture 2">
            <a:extLst>
              <a:ext uri="{FF2B5EF4-FFF2-40B4-BE49-F238E27FC236}">
                <a16:creationId xmlns:a16="http://schemas.microsoft.com/office/drawing/2014/main" id="{DB3EBEAB-3032-5512-F373-79EE349936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47334"/>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F2E4D-E37A-32D2-A23D-DFEB2E5D5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96C43-2589-390E-6733-C36B6597A5A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4E68A705-C8ED-DBB2-3BE8-53F61124E3FE}"/>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4473F12F-133C-9303-DEA0-34A05DF1D5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846"/>
            <a:ext cx="12192000" cy="6858000"/>
          </a:xfrm>
          <a:prstGeom prst="rect">
            <a:avLst/>
          </a:prstGeom>
        </p:spPr>
      </p:pic>
      <p:sp>
        <p:nvSpPr>
          <p:cNvPr id="5" name="Footer Placeholder 4">
            <a:extLst>
              <a:ext uri="{FF2B5EF4-FFF2-40B4-BE49-F238E27FC236}">
                <a16:creationId xmlns:a16="http://schemas.microsoft.com/office/drawing/2014/main" id="{7E21759E-9DE9-495C-C6B3-67CC0C185571}"/>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31A53740-4A0B-7F46-8DE3-AB1804BEB826}"/>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15</a:t>
            </a:fld>
            <a:endParaRPr lang="en-US" dirty="0"/>
          </a:p>
        </p:txBody>
      </p:sp>
      <p:sp>
        <p:nvSpPr>
          <p:cNvPr id="9" name="TextBox 8">
            <a:extLst>
              <a:ext uri="{FF2B5EF4-FFF2-40B4-BE49-F238E27FC236}">
                <a16:creationId xmlns:a16="http://schemas.microsoft.com/office/drawing/2014/main" id="{31A3BD25-9A39-0049-37A4-E481FFA00F19}"/>
              </a:ext>
            </a:extLst>
          </p:cNvPr>
          <p:cNvSpPr txBox="1"/>
          <p:nvPr/>
        </p:nvSpPr>
        <p:spPr>
          <a:xfrm>
            <a:off x="354005" y="336552"/>
            <a:ext cx="9858517" cy="584775"/>
          </a:xfrm>
          <a:prstGeom prst="rect">
            <a:avLst/>
          </a:prstGeom>
          <a:noFill/>
        </p:spPr>
        <p:txBody>
          <a:bodyPr wrap="square" rtlCol="0">
            <a:spAutoFit/>
          </a:bodyPr>
          <a:lstStyle/>
          <a:p>
            <a:r>
              <a:rPr lang="en-IN" sz="3200" b="1" dirty="0">
                <a:solidFill>
                  <a:srgbClr val="FF0000"/>
                </a:solidFill>
              </a:rPr>
              <a:t>Process flow</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E5045717-1C53-151D-EC9D-0092A872B3B5}"/>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pic>
        <p:nvPicPr>
          <p:cNvPr id="6146" name="Picture 2">
            <a:extLst>
              <a:ext uri="{FF2B5EF4-FFF2-40B4-BE49-F238E27FC236}">
                <a16:creationId xmlns:a16="http://schemas.microsoft.com/office/drawing/2014/main" id="{7385C2A8-7EFA-C996-B4DD-9524CCCE71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0264" y="336552"/>
            <a:ext cx="981288" cy="78581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61ADAD3A-5A5B-DD6D-7822-FA49D1DE9E86}"/>
              </a:ext>
            </a:extLst>
          </p:cNvPr>
          <p:cNvPicPr>
            <a:picLocks noChangeAspect="1"/>
          </p:cNvPicPr>
          <p:nvPr/>
        </p:nvPicPr>
        <p:blipFill>
          <a:blip r:embed="rId5"/>
          <a:stretch>
            <a:fillRect/>
          </a:stretch>
        </p:blipFill>
        <p:spPr>
          <a:xfrm>
            <a:off x="2702560" y="465082"/>
            <a:ext cx="6289040" cy="5853165"/>
          </a:xfrm>
          <a:prstGeom prst="rect">
            <a:avLst/>
          </a:prstGeom>
        </p:spPr>
      </p:pic>
    </p:spTree>
    <p:extLst>
      <p:ext uri="{BB962C8B-B14F-4D97-AF65-F5344CB8AC3E}">
        <p14:creationId xmlns:p14="http://schemas.microsoft.com/office/powerpoint/2010/main" val="3648082041"/>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9ECFC-AEE2-D2B4-0A66-072A329FE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4D788-2D62-CFB9-7CB7-3016A392563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2156802-AF2F-321E-5193-41C9E74833A3}"/>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7DD3C7A5-0E25-76F3-66DA-94E0B3A3E4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548B3391-3EF3-1CAC-153D-9D9C92869B2B}"/>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6AEF8AEC-AF0E-1165-900D-E64B88DBDE14}"/>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16</a:t>
            </a:fld>
            <a:endParaRPr lang="en-US" dirty="0"/>
          </a:p>
        </p:txBody>
      </p:sp>
      <p:sp>
        <p:nvSpPr>
          <p:cNvPr id="9" name="TextBox 8">
            <a:extLst>
              <a:ext uri="{FF2B5EF4-FFF2-40B4-BE49-F238E27FC236}">
                <a16:creationId xmlns:a16="http://schemas.microsoft.com/office/drawing/2014/main" id="{FF7FD8AB-045A-878F-4A76-2F08AACA0772}"/>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2FC4CA17-FB2B-EC38-AAC2-2A21BD7F231B}"/>
              </a:ext>
            </a:extLst>
          </p:cNvPr>
          <p:cNvSpPr txBox="1"/>
          <p:nvPr/>
        </p:nvSpPr>
        <p:spPr>
          <a:xfrm>
            <a:off x="4107329" y="257451"/>
            <a:ext cx="4447391" cy="523220"/>
          </a:xfrm>
          <a:prstGeom prst="rect">
            <a:avLst/>
          </a:prstGeom>
          <a:noFill/>
        </p:spPr>
        <p:txBody>
          <a:bodyPr wrap="squar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DATA COLLECTION</a:t>
            </a:r>
          </a:p>
        </p:txBody>
      </p:sp>
      <p:sp>
        <p:nvSpPr>
          <p:cNvPr id="7" name="Footer Placeholder 4">
            <a:extLst>
              <a:ext uri="{FF2B5EF4-FFF2-40B4-BE49-F238E27FC236}">
                <a16:creationId xmlns:a16="http://schemas.microsoft.com/office/drawing/2014/main" id="{DA761065-386E-A759-F21C-D1D521F02A91}"/>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26D20AE7-CABB-1C31-53B8-0E1FCD14DE43}"/>
              </a:ext>
            </a:extLst>
          </p:cNvPr>
          <p:cNvSpPr txBox="1"/>
          <p:nvPr/>
        </p:nvSpPr>
        <p:spPr>
          <a:xfrm>
            <a:off x="449092" y="1122363"/>
            <a:ext cx="11185860" cy="2554545"/>
          </a:xfrm>
          <a:prstGeom prst="rect">
            <a:avLst/>
          </a:prstGeom>
          <a:noFill/>
        </p:spPr>
        <p:txBody>
          <a:bodyPr wrap="square">
            <a:spAutoFit/>
          </a:bodyPr>
          <a:lstStyle/>
          <a:p>
            <a:pPr lvl="0" algn="just"/>
            <a:r>
              <a:rPr lang="en-IN" sz="2000" b="1" dirty="0"/>
              <a:t>Facial Emotion Dataset (FER2013)</a:t>
            </a:r>
          </a:p>
          <a:p>
            <a:pPr lvl="0" algn="just"/>
            <a:endParaRPr lang="en-IN" sz="2000" b="1" dirty="0"/>
          </a:p>
          <a:p>
            <a:pPr marL="285750" lvl="0" indent="-285750" algn="just">
              <a:buFont typeface="Arial" panose="020B0604020202020204" pitchFamily="34" charset="0"/>
              <a:buChar char="•"/>
            </a:pPr>
            <a:r>
              <a:rPr lang="en-US" sz="2000" dirty="0"/>
              <a:t>The FER2013 dataset, available on </a:t>
            </a:r>
            <a:r>
              <a:rPr lang="en-US" sz="2000" b="1" dirty="0"/>
              <a:t>Kaggle</a:t>
            </a:r>
            <a:r>
              <a:rPr lang="en-US" sz="2000" dirty="0"/>
              <a:t>, is widely used for training emotion detection models. </a:t>
            </a:r>
          </a:p>
          <a:p>
            <a:pPr marL="285750" lvl="0" indent="-285750" algn="just">
              <a:buFont typeface="Arial" panose="020B0604020202020204" pitchFamily="34" charset="0"/>
              <a:buChar char="•"/>
            </a:pPr>
            <a:r>
              <a:rPr lang="en-US" sz="2000" dirty="0"/>
              <a:t>It contains </a:t>
            </a:r>
            <a:r>
              <a:rPr lang="en-US" sz="2000" b="1" dirty="0"/>
              <a:t>35,887 grayscale facial images</a:t>
            </a:r>
            <a:r>
              <a:rPr lang="en-US" sz="2000" dirty="0"/>
              <a:t> of size 48×48 pixels, each labeled with one of </a:t>
            </a:r>
            <a:r>
              <a:rPr lang="en-US" sz="2000" b="1" dirty="0"/>
              <a:t>seven basic emotions</a:t>
            </a:r>
            <a:r>
              <a:rPr lang="en-US" sz="2000" dirty="0"/>
              <a:t>: happy, sad, angry, disgust, fear, surprise, and neutral. </a:t>
            </a:r>
          </a:p>
          <a:p>
            <a:pPr marL="285750" lvl="0" indent="-285750" algn="just">
              <a:buFont typeface="Arial" panose="020B0604020202020204" pitchFamily="34" charset="0"/>
              <a:buChar char="•"/>
            </a:pPr>
            <a:r>
              <a:rPr lang="en-US" sz="2000" dirty="0"/>
              <a:t>The dataset is split into </a:t>
            </a:r>
            <a:r>
              <a:rPr lang="en-US" sz="2000" b="1" dirty="0"/>
              <a:t>training, validation, and test sets</a:t>
            </a:r>
            <a:r>
              <a:rPr lang="en-US" sz="2000" dirty="0"/>
              <a:t>, with 28,709 images for training, 3,589 for validation, and 3,589 for testing. </a:t>
            </a:r>
          </a:p>
          <a:p>
            <a:pPr lvl="0" algn="just"/>
            <a:endParaRPr lang="en-US" sz="2000" dirty="0"/>
          </a:p>
        </p:txBody>
      </p:sp>
      <p:pic>
        <p:nvPicPr>
          <p:cNvPr id="7170" name="Picture 2">
            <a:extLst>
              <a:ext uri="{FF2B5EF4-FFF2-40B4-BE49-F238E27FC236}">
                <a16:creationId xmlns:a16="http://schemas.microsoft.com/office/drawing/2014/main" id="{9470BC9A-A5E4-9B86-A60F-1F66E8E24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924025"/>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95729-BFD6-4725-9E83-BAF2733D8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28E2E-3FB2-969B-657B-04373A7D0D5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D9FB2B12-C89B-1D0F-3125-572180EC3A0E}"/>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37FAC711-FB9A-B07C-2608-0F71440FB6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6D6CB39F-E645-77F0-8AA7-43D945AD584E}"/>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A6B25499-3AFD-E31A-2793-0EB2456FDC49}"/>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17</a:t>
            </a:fld>
            <a:endParaRPr lang="en-US" dirty="0"/>
          </a:p>
        </p:txBody>
      </p:sp>
      <p:sp>
        <p:nvSpPr>
          <p:cNvPr id="9" name="TextBox 8">
            <a:extLst>
              <a:ext uri="{FF2B5EF4-FFF2-40B4-BE49-F238E27FC236}">
                <a16:creationId xmlns:a16="http://schemas.microsoft.com/office/drawing/2014/main" id="{8F8A818A-CAA2-3DB4-76C3-7513CAA94362}"/>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67B6B90-9D4C-09D6-1827-4EE2AEF14723}"/>
              </a:ext>
            </a:extLst>
          </p:cNvPr>
          <p:cNvSpPr txBox="1"/>
          <p:nvPr/>
        </p:nvSpPr>
        <p:spPr>
          <a:xfrm>
            <a:off x="4107329" y="257451"/>
            <a:ext cx="4447391" cy="523220"/>
          </a:xfrm>
          <a:prstGeom prst="rect">
            <a:avLst/>
          </a:prstGeom>
          <a:noFill/>
        </p:spPr>
        <p:txBody>
          <a:bodyPr wrap="squar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DATA COLLECTION</a:t>
            </a:r>
          </a:p>
        </p:txBody>
      </p:sp>
      <p:sp>
        <p:nvSpPr>
          <p:cNvPr id="7" name="Footer Placeholder 4">
            <a:extLst>
              <a:ext uri="{FF2B5EF4-FFF2-40B4-BE49-F238E27FC236}">
                <a16:creationId xmlns:a16="http://schemas.microsoft.com/office/drawing/2014/main" id="{F7E570FE-87CC-B818-8168-4DFFE19B5552}"/>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4C656F6A-606E-E3A5-98DD-B7D115A7D68D}"/>
              </a:ext>
            </a:extLst>
          </p:cNvPr>
          <p:cNvSpPr txBox="1"/>
          <p:nvPr/>
        </p:nvSpPr>
        <p:spPr>
          <a:xfrm>
            <a:off x="503070" y="1453434"/>
            <a:ext cx="11185860" cy="3170099"/>
          </a:xfrm>
          <a:prstGeom prst="rect">
            <a:avLst/>
          </a:prstGeom>
          <a:noFill/>
        </p:spPr>
        <p:txBody>
          <a:bodyPr wrap="square">
            <a:spAutoFit/>
          </a:bodyPr>
          <a:lstStyle/>
          <a:p>
            <a:pPr lvl="0" algn="just"/>
            <a:r>
              <a:rPr lang="en-IN" sz="2000" b="1" dirty="0"/>
              <a:t>Custom Song Dataset</a:t>
            </a:r>
          </a:p>
          <a:p>
            <a:pPr lvl="0" algn="just"/>
            <a:br>
              <a:rPr lang="en-IN" sz="2000" dirty="0"/>
            </a:br>
            <a:r>
              <a:rPr lang="en-IN" sz="2000" dirty="0"/>
              <a:t>A custom CSV file is created to map songs with specific emotional and contextual attributes. </a:t>
            </a:r>
          </a:p>
          <a:p>
            <a:pPr lvl="0" algn="just"/>
            <a:r>
              <a:rPr lang="en-IN" sz="2000" dirty="0"/>
              <a:t>Each record includes:</a:t>
            </a:r>
          </a:p>
          <a:p>
            <a:pPr marL="285750" lvl="0" indent="-285750" algn="just">
              <a:buFont typeface="Arial" panose="020B0604020202020204" pitchFamily="34" charset="0"/>
              <a:buChar char="•"/>
            </a:pPr>
            <a:r>
              <a:rPr lang="en-IN" sz="2000" dirty="0"/>
              <a:t>Song Title and Artist</a:t>
            </a:r>
          </a:p>
          <a:p>
            <a:pPr marL="285750" lvl="0" indent="-285750" algn="just">
              <a:buFont typeface="Arial" panose="020B0604020202020204" pitchFamily="34" charset="0"/>
              <a:buChar char="•"/>
            </a:pPr>
            <a:r>
              <a:rPr lang="en-IN" sz="2000" dirty="0"/>
              <a:t>Emotion Label (happy, sad, calm, energetic, etc.)</a:t>
            </a:r>
          </a:p>
          <a:p>
            <a:pPr marL="285750" lvl="0" indent="-285750" algn="just">
              <a:buFont typeface="Arial" panose="020B0604020202020204" pitchFamily="34" charset="0"/>
              <a:buChar char="•"/>
            </a:pPr>
            <a:r>
              <a:rPr lang="en-IN" sz="2000" dirty="0"/>
              <a:t>Context/Scene (party, romantic, travel, relaxation, etc.)</a:t>
            </a:r>
          </a:p>
          <a:p>
            <a:pPr marL="285750" lvl="0" indent="-285750" algn="just">
              <a:buFont typeface="Arial" panose="020B0604020202020204" pitchFamily="34" charset="0"/>
              <a:buChar char="•"/>
            </a:pPr>
            <a:r>
              <a:rPr lang="en-IN" sz="2000" dirty="0"/>
              <a:t>Climate/Weather (rainy, sunny, cloudy, etc.)</a:t>
            </a:r>
          </a:p>
          <a:p>
            <a:pPr marL="285750" lvl="0" indent="-285750" algn="just">
              <a:buFont typeface="Arial" panose="020B0604020202020204" pitchFamily="34" charset="0"/>
              <a:buChar char="•"/>
            </a:pPr>
            <a:r>
              <a:rPr lang="en-IN" sz="2000" dirty="0"/>
              <a:t>Location Type (urban, beach, mountain, indoor, etc.)</a:t>
            </a:r>
          </a:p>
          <a:p>
            <a:pPr marL="285750" lvl="0" indent="-285750" algn="just">
              <a:buFont typeface="Arial" panose="020B0604020202020204" pitchFamily="34" charset="0"/>
              <a:buChar char="•"/>
            </a:pPr>
            <a:r>
              <a:rPr lang="en-IN" sz="2000" dirty="0"/>
              <a:t>Language (English, Hindi, Tamil, etc.)</a:t>
            </a:r>
          </a:p>
        </p:txBody>
      </p:sp>
      <p:pic>
        <p:nvPicPr>
          <p:cNvPr id="7170" name="Picture 2">
            <a:extLst>
              <a:ext uri="{FF2B5EF4-FFF2-40B4-BE49-F238E27FC236}">
                <a16:creationId xmlns:a16="http://schemas.microsoft.com/office/drawing/2014/main" id="{2084DE92-5858-4B01-106C-CE0E313676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484263"/>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E7958-4014-964B-030D-D3E55DAA6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3ED40-E163-D210-6358-1E839DD57B35}"/>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22D4E2A-41F5-1F90-A672-0E0B212A5E5B}"/>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7AC36FDD-AAE3-E00A-E96D-82CDC24B64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073B5090-669F-E8C3-B9D6-3BFB962D0C90}"/>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06F87F42-59A1-C372-5F50-2BF3D5D8B772}"/>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18</a:t>
            </a:fld>
            <a:endParaRPr lang="en-US" dirty="0"/>
          </a:p>
        </p:txBody>
      </p:sp>
      <p:sp>
        <p:nvSpPr>
          <p:cNvPr id="9" name="TextBox 8">
            <a:extLst>
              <a:ext uri="{FF2B5EF4-FFF2-40B4-BE49-F238E27FC236}">
                <a16:creationId xmlns:a16="http://schemas.microsoft.com/office/drawing/2014/main" id="{8FB3B311-2BB6-A19F-ABFB-13571E14008C}"/>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836D9FD-D8E3-B2AE-D39E-1AC9679DE6BC}"/>
              </a:ext>
            </a:extLst>
          </p:cNvPr>
          <p:cNvSpPr txBox="1"/>
          <p:nvPr/>
        </p:nvSpPr>
        <p:spPr>
          <a:xfrm>
            <a:off x="4107329" y="257451"/>
            <a:ext cx="4447391" cy="523220"/>
          </a:xfrm>
          <a:prstGeom prst="rect">
            <a:avLst/>
          </a:prstGeom>
          <a:noFill/>
        </p:spPr>
        <p:txBody>
          <a:bodyPr wrap="square" rtlCol="0">
            <a:spAutoFit/>
          </a:bodyPr>
          <a:lstStyle/>
          <a:p>
            <a:r>
              <a:rPr lang="en-IN" sz="2800" b="1" dirty="0">
                <a:solidFill>
                  <a:srgbClr val="FF0000"/>
                </a:solidFill>
              </a:rPr>
              <a:t>DATA PREPROCESSING</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2A5AE8EA-7E7A-C73E-8544-53E0D99E304A}"/>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pic>
        <p:nvPicPr>
          <p:cNvPr id="7170" name="Picture 2">
            <a:extLst>
              <a:ext uri="{FF2B5EF4-FFF2-40B4-BE49-F238E27FC236}">
                <a16:creationId xmlns:a16="http://schemas.microsoft.com/office/drawing/2014/main" id="{7F2574DE-B989-6F1B-1977-087F7CA2FE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12DE21C-39A7-1523-70A4-8286E5C01848}"/>
              </a:ext>
            </a:extLst>
          </p:cNvPr>
          <p:cNvPicPr>
            <a:picLocks noChangeAspect="1"/>
          </p:cNvPicPr>
          <p:nvPr/>
        </p:nvPicPr>
        <p:blipFill>
          <a:blip r:embed="rId5"/>
          <a:stretch>
            <a:fillRect/>
          </a:stretch>
        </p:blipFill>
        <p:spPr>
          <a:xfrm>
            <a:off x="1499795" y="735821"/>
            <a:ext cx="8322425" cy="5548283"/>
          </a:xfrm>
          <a:prstGeom prst="rect">
            <a:avLst/>
          </a:prstGeom>
        </p:spPr>
      </p:pic>
    </p:spTree>
    <p:extLst>
      <p:ext uri="{BB962C8B-B14F-4D97-AF65-F5344CB8AC3E}">
        <p14:creationId xmlns:p14="http://schemas.microsoft.com/office/powerpoint/2010/main" val="2074248136"/>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ACD51-F03B-0A2A-1FFB-83317B4C6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ED297-D5A0-7018-0C91-55C27157871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A8C6E85-ABF3-0B8A-9B12-76BE4F581AF9}"/>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F73769E0-90CE-45AE-00E9-98BCC0500C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1460"/>
            <a:ext cx="12192000" cy="6858000"/>
          </a:xfrm>
          <a:prstGeom prst="rect">
            <a:avLst/>
          </a:prstGeom>
        </p:spPr>
      </p:pic>
      <p:sp>
        <p:nvSpPr>
          <p:cNvPr id="5" name="Footer Placeholder 4">
            <a:extLst>
              <a:ext uri="{FF2B5EF4-FFF2-40B4-BE49-F238E27FC236}">
                <a16:creationId xmlns:a16="http://schemas.microsoft.com/office/drawing/2014/main" id="{3F0CEF8A-C0A4-767A-0755-EE4B64992DAB}"/>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3E8165D1-79A3-8CD0-00AD-C70783F9D01B}"/>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19</a:t>
            </a:fld>
            <a:endParaRPr lang="en-US" dirty="0"/>
          </a:p>
        </p:txBody>
      </p:sp>
      <p:sp>
        <p:nvSpPr>
          <p:cNvPr id="9" name="TextBox 8">
            <a:extLst>
              <a:ext uri="{FF2B5EF4-FFF2-40B4-BE49-F238E27FC236}">
                <a16:creationId xmlns:a16="http://schemas.microsoft.com/office/drawing/2014/main" id="{CFE87D18-3636-A79A-940F-047CE5C42FF5}"/>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2FE2345-DE83-FCDC-0FA5-5E9C41731687}"/>
              </a:ext>
            </a:extLst>
          </p:cNvPr>
          <p:cNvSpPr txBox="1"/>
          <p:nvPr/>
        </p:nvSpPr>
        <p:spPr>
          <a:xfrm>
            <a:off x="2025869" y="354315"/>
            <a:ext cx="6520897" cy="523220"/>
          </a:xfrm>
          <a:prstGeom prst="rect">
            <a:avLst/>
          </a:prstGeom>
          <a:noFill/>
        </p:spPr>
        <p:txBody>
          <a:bodyPr wrap="square" rtlCol="0">
            <a:spAutoFit/>
          </a:bodyPr>
          <a:lstStyle/>
          <a:p>
            <a:pPr algn="just"/>
            <a:r>
              <a:rPr lang="en-IN" sz="2800" b="1" dirty="0">
                <a:solidFill>
                  <a:srgbClr val="FF0000"/>
                </a:solidFill>
              </a:rPr>
              <a:t>Facial Emotion Recognition (FER) Model</a:t>
            </a:r>
          </a:p>
        </p:txBody>
      </p:sp>
      <p:sp>
        <p:nvSpPr>
          <p:cNvPr id="7" name="Footer Placeholder 4">
            <a:extLst>
              <a:ext uri="{FF2B5EF4-FFF2-40B4-BE49-F238E27FC236}">
                <a16:creationId xmlns:a16="http://schemas.microsoft.com/office/drawing/2014/main" id="{952C42EA-D960-DF1E-EF55-C9976F46C2BB}"/>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5C53F4D9-6F20-ACA9-EE29-AA2422B84837}"/>
              </a:ext>
            </a:extLst>
          </p:cNvPr>
          <p:cNvSpPr txBox="1"/>
          <p:nvPr/>
        </p:nvSpPr>
        <p:spPr>
          <a:xfrm>
            <a:off x="430405" y="1514289"/>
            <a:ext cx="11500628" cy="4093428"/>
          </a:xfrm>
          <a:prstGeom prst="rect">
            <a:avLst/>
          </a:prstGeom>
          <a:noFill/>
        </p:spPr>
        <p:txBody>
          <a:bodyPr wrap="square">
            <a:spAutoFit/>
          </a:bodyPr>
          <a:lstStyle/>
          <a:p>
            <a:pPr marL="285750" indent="-285750" algn="just">
              <a:buFont typeface="Arial" panose="020B0604020202020204" pitchFamily="34" charset="0"/>
              <a:buChar char="•"/>
            </a:pPr>
            <a:r>
              <a:rPr lang="en-IN" sz="2000" b="1" dirty="0"/>
              <a:t>Input Processing: </a:t>
            </a:r>
            <a:r>
              <a:rPr lang="en-US" sz="2000" dirty="0"/>
              <a:t>The system uses 48×48 grayscale facial images as input for emotion detection.</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IN" sz="2000" b="1" dirty="0"/>
              <a:t>Feature Extraction: </a:t>
            </a:r>
            <a:r>
              <a:rPr lang="en-US" sz="2000" dirty="0"/>
              <a:t>Convolutional layers extract facial features using ReLU, batch normalization, and </a:t>
            </a:r>
            <a:r>
              <a:rPr lang="en-US" sz="2000" dirty="0" err="1"/>
              <a:t>MaxPooling</a:t>
            </a:r>
            <a:r>
              <a:rPr lang="en-US" sz="2000" dirty="0"/>
              <a:t>.</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IN" sz="2000" b="1" dirty="0"/>
              <a:t>Regularization &amp; Flattening: </a:t>
            </a:r>
            <a:r>
              <a:rPr lang="en-US" sz="2000" dirty="0"/>
              <a:t>Dropout prevents overfitting, and a Flatten layer prepares features for classification.</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IN" sz="2000" b="1" dirty="0"/>
              <a:t>Classification with Dense + </a:t>
            </a:r>
            <a:r>
              <a:rPr lang="en-IN" sz="2000" b="1" dirty="0" err="1"/>
              <a:t>Softmax</a:t>
            </a:r>
            <a:r>
              <a:rPr lang="en-IN" sz="2000" b="1" dirty="0"/>
              <a:t>: </a:t>
            </a:r>
            <a:r>
              <a:rPr lang="en-US" sz="2000" dirty="0"/>
              <a:t>Dense layers process the extracted features, and </a:t>
            </a:r>
            <a:r>
              <a:rPr lang="en-US" sz="2000" dirty="0" err="1"/>
              <a:t>Softmax</a:t>
            </a:r>
            <a:r>
              <a:rPr lang="en-US" sz="2000" dirty="0"/>
              <a:t> outputs emotion probabilities.</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IN" sz="2000" b="1" dirty="0"/>
              <a:t>Training &amp; Output: </a:t>
            </a:r>
            <a:r>
              <a:rPr lang="en-US" sz="2000" dirty="0"/>
              <a:t>The model is trained with categorical cross-entropy and Adam, and predicts the emotion with the highest probability.</a:t>
            </a:r>
          </a:p>
        </p:txBody>
      </p:sp>
      <p:pic>
        <p:nvPicPr>
          <p:cNvPr id="7170" name="Picture 2">
            <a:extLst>
              <a:ext uri="{FF2B5EF4-FFF2-40B4-BE49-F238E27FC236}">
                <a16:creationId xmlns:a16="http://schemas.microsoft.com/office/drawing/2014/main" id="{5C366E8B-1B65-55A8-C27B-1C9F06365A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3200117"/>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F7F0A-5285-45C1-BFED-FB96DCC4B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5CC379-AF61-07DF-E814-F91D23F7750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33E1EF5-463D-5898-D98E-B7B582631E0C}"/>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8F2A8EF9-7DED-07FA-D468-959CD810BF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1460"/>
            <a:ext cx="12192000" cy="6858000"/>
          </a:xfrm>
          <a:prstGeom prst="rect">
            <a:avLst/>
          </a:prstGeom>
        </p:spPr>
      </p:pic>
      <p:sp>
        <p:nvSpPr>
          <p:cNvPr id="5" name="Footer Placeholder 4">
            <a:extLst>
              <a:ext uri="{FF2B5EF4-FFF2-40B4-BE49-F238E27FC236}">
                <a16:creationId xmlns:a16="http://schemas.microsoft.com/office/drawing/2014/main" id="{E7E95BC4-F6A1-9CBF-1D82-D375DC58D1C4}"/>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DE9B3892-42E0-95F5-B9EA-A1FBFD195D92}"/>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20</a:t>
            </a:fld>
            <a:endParaRPr lang="en-US" dirty="0"/>
          </a:p>
        </p:txBody>
      </p:sp>
      <p:sp>
        <p:nvSpPr>
          <p:cNvPr id="9" name="TextBox 8">
            <a:extLst>
              <a:ext uri="{FF2B5EF4-FFF2-40B4-BE49-F238E27FC236}">
                <a16:creationId xmlns:a16="http://schemas.microsoft.com/office/drawing/2014/main" id="{8956021B-6FD2-E7EF-79CC-F6A7BAD1168F}"/>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A6E0C88-0B6A-41DA-CD21-5B67AAAF94D5}"/>
              </a:ext>
            </a:extLst>
          </p:cNvPr>
          <p:cNvSpPr txBox="1"/>
          <p:nvPr/>
        </p:nvSpPr>
        <p:spPr>
          <a:xfrm>
            <a:off x="3031571" y="351888"/>
            <a:ext cx="5517931" cy="523220"/>
          </a:xfrm>
          <a:prstGeom prst="rect">
            <a:avLst/>
          </a:prstGeom>
          <a:noFill/>
        </p:spPr>
        <p:txBody>
          <a:bodyPr wrap="square" rtlCol="0">
            <a:spAutoFit/>
          </a:bodyPr>
          <a:lstStyle/>
          <a:p>
            <a:pPr algn="just"/>
            <a:r>
              <a:rPr lang="en-IN" sz="2800" b="1" dirty="0">
                <a:solidFill>
                  <a:srgbClr val="FF0000"/>
                </a:solidFill>
              </a:rPr>
              <a:t>Facial Emotion Model Architecture</a:t>
            </a:r>
          </a:p>
        </p:txBody>
      </p:sp>
      <p:sp>
        <p:nvSpPr>
          <p:cNvPr id="7" name="Footer Placeholder 4">
            <a:extLst>
              <a:ext uri="{FF2B5EF4-FFF2-40B4-BE49-F238E27FC236}">
                <a16:creationId xmlns:a16="http://schemas.microsoft.com/office/drawing/2014/main" id="{26CA146F-C41B-27D7-4B21-A88E2352B3D6}"/>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pic>
        <p:nvPicPr>
          <p:cNvPr id="7170" name="Picture 2">
            <a:extLst>
              <a:ext uri="{FF2B5EF4-FFF2-40B4-BE49-F238E27FC236}">
                <a16:creationId xmlns:a16="http://schemas.microsoft.com/office/drawing/2014/main" id="{E902ED89-D955-711D-F4B1-6C4BFBC92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554437E-6543-9C07-D8ED-B3C2E33A31FF}"/>
              </a:ext>
            </a:extLst>
          </p:cNvPr>
          <p:cNvPicPr>
            <a:picLocks noChangeAspect="1"/>
          </p:cNvPicPr>
          <p:nvPr/>
        </p:nvPicPr>
        <p:blipFill>
          <a:blip r:embed="rId4"/>
          <a:stretch>
            <a:fillRect/>
          </a:stretch>
        </p:blipFill>
        <p:spPr>
          <a:xfrm>
            <a:off x="708152" y="1406015"/>
            <a:ext cx="10164770" cy="4392045"/>
          </a:xfrm>
          <a:prstGeom prst="rect">
            <a:avLst/>
          </a:prstGeom>
        </p:spPr>
      </p:pic>
    </p:spTree>
    <p:extLst>
      <p:ext uri="{BB962C8B-B14F-4D97-AF65-F5344CB8AC3E}">
        <p14:creationId xmlns:p14="http://schemas.microsoft.com/office/powerpoint/2010/main" val="218184688"/>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92285-DD29-3D8E-3334-E414F3582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C3D47-850B-C8CD-052B-EC8CAC2919D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A7FF6D1-5630-219D-2278-7FA77FD17EFB}"/>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CF083061-47E7-47A0-7221-8AE3FC107F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7789"/>
            <a:ext cx="12192000" cy="6858000"/>
          </a:xfrm>
          <a:prstGeom prst="rect">
            <a:avLst/>
          </a:prstGeom>
        </p:spPr>
      </p:pic>
      <p:sp>
        <p:nvSpPr>
          <p:cNvPr id="5" name="Footer Placeholder 4">
            <a:extLst>
              <a:ext uri="{FF2B5EF4-FFF2-40B4-BE49-F238E27FC236}">
                <a16:creationId xmlns:a16="http://schemas.microsoft.com/office/drawing/2014/main" id="{DD18E81B-B0F8-D215-91CD-F3E2EF143259}"/>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9190C141-4B35-76FD-B653-E5F42755B2A5}"/>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21</a:t>
            </a:fld>
            <a:endParaRPr lang="en-US" dirty="0"/>
          </a:p>
        </p:txBody>
      </p:sp>
      <p:sp>
        <p:nvSpPr>
          <p:cNvPr id="9" name="TextBox 8">
            <a:extLst>
              <a:ext uri="{FF2B5EF4-FFF2-40B4-BE49-F238E27FC236}">
                <a16:creationId xmlns:a16="http://schemas.microsoft.com/office/drawing/2014/main" id="{49A66CEE-FD24-5996-4CBB-58A79ABDB2EB}"/>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18DC306-B3FD-3C42-60A7-EA76B42176C4}"/>
              </a:ext>
            </a:extLst>
          </p:cNvPr>
          <p:cNvSpPr txBox="1"/>
          <p:nvPr/>
        </p:nvSpPr>
        <p:spPr>
          <a:xfrm>
            <a:off x="3418689" y="314906"/>
            <a:ext cx="5761885" cy="523220"/>
          </a:xfrm>
          <a:prstGeom prst="rect">
            <a:avLst/>
          </a:prstGeom>
          <a:noFill/>
        </p:spPr>
        <p:txBody>
          <a:bodyPr wrap="square" rtlCol="0">
            <a:spAutoFit/>
          </a:bodyPr>
          <a:lstStyle/>
          <a:p>
            <a:r>
              <a:rPr lang="en-IN" sz="2800" b="1" dirty="0">
                <a:solidFill>
                  <a:srgbClr val="FF0000"/>
                </a:solidFill>
              </a:rPr>
              <a:t>MUSIC RECOMMENDATION ENGINE</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323AE015-CDB6-2D79-C52F-F3B89320E464}"/>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DEA75031-7441-01CC-550A-6E45C630B289}"/>
              </a:ext>
            </a:extLst>
          </p:cNvPr>
          <p:cNvSpPr txBox="1"/>
          <p:nvPr/>
        </p:nvSpPr>
        <p:spPr>
          <a:xfrm>
            <a:off x="365009" y="838126"/>
            <a:ext cx="10302991" cy="5909310"/>
          </a:xfrm>
          <a:prstGeom prst="rect">
            <a:avLst/>
          </a:prstGeom>
          <a:noFill/>
        </p:spPr>
        <p:txBody>
          <a:bodyPr wrap="square">
            <a:spAutoFit/>
          </a:bodyPr>
          <a:lstStyle/>
          <a:p>
            <a:pPr marL="285750" lvl="0" indent="-285750" algn="just">
              <a:buFont typeface="Arial" panose="020B0604020202020204" pitchFamily="34" charset="0"/>
              <a:buChar char="•"/>
            </a:pPr>
            <a:r>
              <a:rPr lang="en-US" b="1" dirty="0"/>
              <a:t>Emotion</a:t>
            </a:r>
            <a:r>
              <a:rPr lang="en-US" dirty="0"/>
              <a:t> detected using the FER model from facial expressions.</a:t>
            </a:r>
          </a:p>
          <a:p>
            <a:pPr marL="285750" lvl="0" indent="-285750" algn="just">
              <a:buFont typeface="Arial" panose="020B0604020202020204" pitchFamily="34" charset="0"/>
              <a:buChar char="•"/>
            </a:pPr>
            <a:endParaRPr lang="en-US" dirty="0"/>
          </a:p>
          <a:p>
            <a:pPr marL="285750" lvl="0" indent="-285750" algn="just">
              <a:buFont typeface="Arial" panose="020B0604020202020204" pitchFamily="34" charset="0"/>
              <a:buChar char="•"/>
            </a:pPr>
            <a:r>
              <a:rPr lang="en-US" b="1" dirty="0"/>
              <a:t>Context/Scene</a:t>
            </a:r>
            <a:r>
              <a:rPr lang="en-US" dirty="0"/>
              <a:t> analyzed with CLIP</a:t>
            </a:r>
            <a:r>
              <a:rPr lang="en-IN" b="1" dirty="0"/>
              <a:t>(Contrastive Language–Image Pretraining)</a:t>
            </a:r>
            <a:r>
              <a:rPr lang="en-IN" dirty="0"/>
              <a:t> </a:t>
            </a:r>
            <a:r>
              <a:rPr lang="en-US" dirty="0"/>
              <a:t>, and </a:t>
            </a:r>
            <a:r>
              <a:rPr lang="en-US" b="1" dirty="0"/>
              <a:t>weather</a:t>
            </a:r>
            <a:r>
              <a:rPr lang="en-US" dirty="0"/>
              <a:t> fetched from </a:t>
            </a:r>
            <a:r>
              <a:rPr lang="en-US" dirty="0" err="1"/>
              <a:t>OpenWeather</a:t>
            </a:r>
            <a:r>
              <a:rPr lang="en-US" dirty="0"/>
              <a:t>.</a:t>
            </a:r>
          </a:p>
          <a:p>
            <a:pPr marL="285750" lvl="0" indent="-285750" algn="just">
              <a:buFont typeface="Arial" panose="020B0604020202020204" pitchFamily="34" charset="0"/>
              <a:buChar char="•"/>
            </a:pPr>
            <a:endParaRPr lang="en-US" dirty="0"/>
          </a:p>
          <a:p>
            <a:pPr marL="285750" lvl="0" indent="-285750" algn="just">
              <a:buFont typeface="Arial" panose="020B0604020202020204" pitchFamily="34" charset="0"/>
              <a:buChar char="•"/>
            </a:pPr>
            <a:r>
              <a:rPr lang="en-US" b="1" dirty="0"/>
              <a:t>Location</a:t>
            </a:r>
            <a:r>
              <a:rPr lang="en-US" dirty="0"/>
              <a:t> obtained via </a:t>
            </a:r>
            <a:r>
              <a:rPr lang="en-US" dirty="0" err="1"/>
              <a:t>IPinfo</a:t>
            </a:r>
            <a:r>
              <a:rPr lang="en-US" dirty="0"/>
              <a:t> to determine preferred </a:t>
            </a:r>
            <a:r>
              <a:rPr lang="en-US" b="1" dirty="0"/>
              <a:t>language</a:t>
            </a:r>
            <a:r>
              <a:rPr lang="en-US" dirty="0"/>
              <a:t>, then songs are recommended.</a:t>
            </a:r>
          </a:p>
          <a:p>
            <a:pPr marL="285750" lvl="0" indent="-285750" algn="just">
              <a:buFont typeface="Arial" panose="020B0604020202020204" pitchFamily="34" charset="0"/>
              <a:buChar char="•"/>
            </a:pPr>
            <a:endParaRPr lang="en-IN" b="1" dirty="0"/>
          </a:p>
          <a:p>
            <a:pPr marL="285750" lvl="0" indent="-285750" algn="just">
              <a:buFont typeface="Arial" panose="020B0604020202020204" pitchFamily="34" charset="0"/>
              <a:buChar char="•"/>
            </a:pPr>
            <a:r>
              <a:rPr lang="en-IN" b="1" dirty="0"/>
              <a:t>Context-Aware Scoring : </a:t>
            </a:r>
            <a:r>
              <a:rPr lang="en-IN" dirty="0"/>
              <a:t>Multiply each feature by a </a:t>
            </a:r>
            <a:r>
              <a:rPr lang="en-IN" b="1" dirty="0"/>
              <a:t>weight factor</a:t>
            </a:r>
            <a:r>
              <a:rPr lang="en-IN" dirty="0"/>
              <a:t> to reflect its </a:t>
            </a:r>
          </a:p>
          <a:p>
            <a:pPr algn="just"/>
            <a:endParaRPr lang="en-IN" dirty="0"/>
          </a:p>
          <a:p>
            <a:pPr algn="just"/>
            <a:endParaRPr lang="en-IN" dirty="0"/>
          </a:p>
          <a:p>
            <a:pPr algn="just"/>
            <a:endParaRPr lang="en-IN" dirty="0"/>
          </a:p>
          <a:p>
            <a:pPr algn="just"/>
            <a:endParaRPr lang="en-IN" dirty="0"/>
          </a:p>
          <a:p>
            <a:pPr algn="just"/>
            <a:endParaRPr lang="en-IN" dirty="0"/>
          </a:p>
          <a:p>
            <a:pPr algn="just"/>
            <a:endParaRPr lang="en-IN" dirty="0"/>
          </a:p>
          <a:p>
            <a:pPr algn="just"/>
            <a:endParaRPr lang="en-IN" dirty="0"/>
          </a:p>
          <a:p>
            <a:pPr marL="285750" lvl="0" indent="-285750" algn="just">
              <a:buFont typeface="Arial" panose="020B0604020202020204" pitchFamily="34" charset="0"/>
              <a:buChar char="•"/>
            </a:pPr>
            <a:r>
              <a:rPr lang="en-US" b="1" dirty="0"/>
              <a:t>Ranking Layer: </a:t>
            </a:r>
            <a:r>
              <a:rPr lang="en-US" dirty="0"/>
              <a:t>Songs are ranked based on final similarity scores.</a:t>
            </a:r>
          </a:p>
          <a:p>
            <a:pPr marL="285750" lvl="0" indent="-285750" algn="just">
              <a:buFont typeface="Arial" panose="020B0604020202020204" pitchFamily="34" charset="0"/>
              <a:buChar char="•"/>
            </a:pPr>
            <a:endParaRPr lang="en-US" dirty="0"/>
          </a:p>
          <a:p>
            <a:pPr marL="285750" lvl="0" indent="-285750" algn="just">
              <a:buFont typeface="Arial" panose="020B0604020202020204" pitchFamily="34" charset="0"/>
              <a:buChar char="•"/>
            </a:pPr>
            <a:r>
              <a:rPr lang="en-US" b="1" dirty="0"/>
              <a:t>Top N </a:t>
            </a:r>
            <a:r>
              <a:rPr lang="en-US" dirty="0"/>
              <a:t>Recommendations displayed as song cards with name, artist, language, and mood.</a:t>
            </a:r>
            <a:endParaRPr lang="en-IN" dirty="0"/>
          </a:p>
          <a:p>
            <a:pPr lvl="1" algn="just"/>
            <a:endParaRPr lang="en-IN" dirty="0"/>
          </a:p>
          <a:p>
            <a:pPr algn="just"/>
            <a:endParaRPr lang="en-IN" dirty="0"/>
          </a:p>
          <a:p>
            <a:pPr algn="just"/>
            <a:endParaRPr lang="en-IN" dirty="0"/>
          </a:p>
        </p:txBody>
      </p:sp>
      <p:pic>
        <p:nvPicPr>
          <p:cNvPr id="7170" name="Picture 2">
            <a:extLst>
              <a:ext uri="{FF2B5EF4-FFF2-40B4-BE49-F238E27FC236}">
                <a16:creationId xmlns:a16="http://schemas.microsoft.com/office/drawing/2014/main" id="{62B1F82C-8408-77DD-4AC4-DAA34A9FBE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4D917C98-3E66-7FCF-C6E5-962B159626F7}"/>
              </a:ext>
            </a:extLst>
          </p:cNvPr>
          <p:cNvPicPr>
            <a:picLocks noChangeAspect="1"/>
          </p:cNvPicPr>
          <p:nvPr/>
        </p:nvPicPr>
        <p:blipFill>
          <a:blip r:embed="rId5"/>
          <a:stretch>
            <a:fillRect/>
          </a:stretch>
        </p:blipFill>
        <p:spPr>
          <a:xfrm>
            <a:off x="2387166" y="3473865"/>
            <a:ext cx="7112993" cy="1440241"/>
          </a:xfrm>
          <a:prstGeom prst="rect">
            <a:avLst/>
          </a:prstGeom>
        </p:spPr>
      </p:pic>
    </p:spTree>
    <p:extLst>
      <p:ext uri="{BB962C8B-B14F-4D97-AF65-F5344CB8AC3E}">
        <p14:creationId xmlns:p14="http://schemas.microsoft.com/office/powerpoint/2010/main" val="1539649352"/>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9524F-C490-D24E-44A0-1713255D4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AE1F1-1F32-331A-99F3-EF26EE103646}"/>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BB6055D8-67B4-8DB4-DB82-338E96D9C4AD}"/>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34E9C7A4-F697-9437-4D85-D0EC1FE898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D621F57C-F531-DC9A-1B79-7ABCF01DCF08}"/>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E9810CE1-0CFE-0900-50BB-9BFA683BF7C4}"/>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22</a:t>
            </a:fld>
            <a:endParaRPr lang="en-US" dirty="0"/>
          </a:p>
        </p:txBody>
      </p:sp>
      <p:sp>
        <p:nvSpPr>
          <p:cNvPr id="9" name="TextBox 8">
            <a:extLst>
              <a:ext uri="{FF2B5EF4-FFF2-40B4-BE49-F238E27FC236}">
                <a16:creationId xmlns:a16="http://schemas.microsoft.com/office/drawing/2014/main" id="{E3B5CB9D-260E-27F4-ABF9-46C2DA168325}"/>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D86FB55-7554-7EFB-9DD2-1858A6CC41E8}"/>
              </a:ext>
            </a:extLst>
          </p:cNvPr>
          <p:cNvSpPr txBox="1"/>
          <p:nvPr/>
        </p:nvSpPr>
        <p:spPr>
          <a:xfrm>
            <a:off x="4099375" y="507068"/>
            <a:ext cx="4447391" cy="523220"/>
          </a:xfrm>
          <a:prstGeom prst="rect">
            <a:avLst/>
          </a:prstGeom>
          <a:noFill/>
        </p:spPr>
        <p:txBody>
          <a:bodyPr wrap="square" rtlCol="0">
            <a:spAutoFit/>
          </a:bodyPr>
          <a:lstStyle/>
          <a:p>
            <a:r>
              <a:rPr lang="en-IN" sz="2800" b="1" dirty="0">
                <a:solidFill>
                  <a:srgbClr val="FF0000"/>
                </a:solidFill>
              </a:rPr>
              <a:t>MODEL EVALUATION</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C548DC59-2631-4E27-BD0C-C143C045ABE6}"/>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A5E9C236-B115-2856-CBD6-15574F4408BD}"/>
              </a:ext>
            </a:extLst>
          </p:cNvPr>
          <p:cNvSpPr txBox="1"/>
          <p:nvPr/>
        </p:nvSpPr>
        <p:spPr>
          <a:xfrm>
            <a:off x="260448" y="1041862"/>
            <a:ext cx="11931552" cy="2862322"/>
          </a:xfrm>
          <a:prstGeom prst="rect">
            <a:avLst/>
          </a:prstGeom>
          <a:noFill/>
        </p:spPr>
        <p:txBody>
          <a:bodyPr wrap="square">
            <a:spAutoFit/>
          </a:bodyPr>
          <a:lstStyle/>
          <a:p>
            <a:endParaRPr lang="en-IN" dirty="0"/>
          </a:p>
          <a:p>
            <a:pPr marL="342900" indent="-342900">
              <a:buFont typeface="Arial" panose="020B0604020202020204" pitchFamily="34" charset="0"/>
              <a:buChar char="•"/>
            </a:pPr>
            <a:r>
              <a:rPr lang="en-IN" b="1" dirty="0"/>
              <a:t>Accuracy:</a:t>
            </a:r>
            <a:r>
              <a:rPr lang="en-IN" dirty="0"/>
              <a:t> Measures the percentage of correctly predicted emotions from test images.</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a:t>Precision:</a:t>
            </a:r>
            <a:r>
              <a:rPr lang="en-IN" dirty="0"/>
              <a:t> Measures the proportion of correct predictions among all predictions for each emotion.</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a:t>Recall:</a:t>
            </a:r>
            <a:r>
              <a:rPr lang="en-IN" dirty="0"/>
              <a:t> Measures how many actual emotion instances were correctly identified.</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a:t>F1-Score:</a:t>
            </a:r>
            <a:r>
              <a:rPr lang="en-IN" dirty="0"/>
              <a:t> Harmonic mean of precision and recall, balancing false positives and false negatives.</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a:t>Confusion Matrix:</a:t>
            </a:r>
            <a:r>
              <a:rPr lang="en-IN" dirty="0"/>
              <a:t> Shows the distribution of predicted vs. actual emotions to identify misclassifications.</a:t>
            </a:r>
          </a:p>
        </p:txBody>
      </p:sp>
      <p:pic>
        <p:nvPicPr>
          <p:cNvPr id="7170" name="Picture 2">
            <a:extLst>
              <a:ext uri="{FF2B5EF4-FFF2-40B4-BE49-F238E27FC236}">
                <a16:creationId xmlns:a16="http://schemas.microsoft.com/office/drawing/2014/main" id="{1BB4C52B-E071-1322-7449-C5242E8BC2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CBEEA310-9652-D64A-511A-46DE0705A0F1}"/>
              </a:ext>
            </a:extLst>
          </p:cNvPr>
          <p:cNvPicPr>
            <a:picLocks noChangeAspect="1"/>
          </p:cNvPicPr>
          <p:nvPr/>
        </p:nvPicPr>
        <p:blipFill>
          <a:blip r:embed="rId4"/>
          <a:stretch>
            <a:fillRect/>
          </a:stretch>
        </p:blipFill>
        <p:spPr>
          <a:xfrm>
            <a:off x="561296" y="4004849"/>
            <a:ext cx="4333875" cy="857250"/>
          </a:xfrm>
          <a:prstGeom prst="rect">
            <a:avLst/>
          </a:prstGeom>
        </p:spPr>
      </p:pic>
      <p:pic>
        <p:nvPicPr>
          <p:cNvPr id="19" name="Picture 18">
            <a:extLst>
              <a:ext uri="{FF2B5EF4-FFF2-40B4-BE49-F238E27FC236}">
                <a16:creationId xmlns:a16="http://schemas.microsoft.com/office/drawing/2014/main" id="{20739065-F6FA-FD67-5C41-A1192D7B76E6}"/>
              </a:ext>
            </a:extLst>
          </p:cNvPr>
          <p:cNvPicPr>
            <a:picLocks noChangeAspect="1"/>
          </p:cNvPicPr>
          <p:nvPr/>
        </p:nvPicPr>
        <p:blipFill>
          <a:blip r:embed="rId5"/>
          <a:stretch>
            <a:fillRect/>
          </a:stretch>
        </p:blipFill>
        <p:spPr>
          <a:xfrm>
            <a:off x="5519078" y="3913981"/>
            <a:ext cx="3629025" cy="685800"/>
          </a:xfrm>
          <a:prstGeom prst="rect">
            <a:avLst/>
          </a:prstGeom>
        </p:spPr>
      </p:pic>
      <p:pic>
        <p:nvPicPr>
          <p:cNvPr id="20" name="Picture 19">
            <a:extLst>
              <a:ext uri="{FF2B5EF4-FFF2-40B4-BE49-F238E27FC236}">
                <a16:creationId xmlns:a16="http://schemas.microsoft.com/office/drawing/2014/main" id="{C639E6CD-B37A-060F-BB49-AD861BB7CAA5}"/>
              </a:ext>
            </a:extLst>
          </p:cNvPr>
          <p:cNvPicPr>
            <a:picLocks noChangeAspect="1"/>
          </p:cNvPicPr>
          <p:nvPr/>
        </p:nvPicPr>
        <p:blipFill>
          <a:blip r:embed="rId6"/>
          <a:stretch>
            <a:fillRect/>
          </a:stretch>
        </p:blipFill>
        <p:spPr>
          <a:xfrm>
            <a:off x="5766727" y="5162947"/>
            <a:ext cx="3133725" cy="847725"/>
          </a:xfrm>
          <a:prstGeom prst="rect">
            <a:avLst/>
          </a:prstGeom>
        </p:spPr>
      </p:pic>
      <p:pic>
        <p:nvPicPr>
          <p:cNvPr id="21" name="Picture 20">
            <a:extLst>
              <a:ext uri="{FF2B5EF4-FFF2-40B4-BE49-F238E27FC236}">
                <a16:creationId xmlns:a16="http://schemas.microsoft.com/office/drawing/2014/main" id="{302C2829-F088-C1C3-380E-843AEB807198}"/>
              </a:ext>
            </a:extLst>
          </p:cNvPr>
          <p:cNvPicPr>
            <a:picLocks noChangeAspect="1"/>
          </p:cNvPicPr>
          <p:nvPr/>
        </p:nvPicPr>
        <p:blipFill>
          <a:blip r:embed="rId7"/>
          <a:stretch>
            <a:fillRect/>
          </a:stretch>
        </p:blipFill>
        <p:spPr>
          <a:xfrm>
            <a:off x="489858" y="5189123"/>
            <a:ext cx="4476750" cy="942975"/>
          </a:xfrm>
          <a:prstGeom prst="rect">
            <a:avLst/>
          </a:prstGeom>
        </p:spPr>
      </p:pic>
    </p:spTree>
    <p:extLst>
      <p:ext uri="{BB962C8B-B14F-4D97-AF65-F5344CB8AC3E}">
        <p14:creationId xmlns:p14="http://schemas.microsoft.com/office/powerpoint/2010/main" val="2835470842"/>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3FC72-58FE-6AE9-34DF-7C4AC42F7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46103-826B-2C73-B8A3-24C7CB9C7C0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CB92069-8ADA-F4E3-CE0F-94D87AA1C30D}"/>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CB568215-ED51-8F38-1A0B-C95129AA5D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C45CE57A-82DC-C807-CABB-A6D176908891}"/>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82DD4460-C919-0E8B-A983-DE2701B21B68}"/>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23</a:t>
            </a:fld>
            <a:endParaRPr lang="en-US" dirty="0"/>
          </a:p>
        </p:txBody>
      </p:sp>
      <p:sp>
        <p:nvSpPr>
          <p:cNvPr id="9" name="TextBox 8">
            <a:extLst>
              <a:ext uri="{FF2B5EF4-FFF2-40B4-BE49-F238E27FC236}">
                <a16:creationId xmlns:a16="http://schemas.microsoft.com/office/drawing/2014/main" id="{6592FFC6-8FEC-5DFA-B886-C9EAACC1ADC1}"/>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7CB60C3F-B6FF-BABC-4BD9-DAC04CDB9E10}"/>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43750A4B-8BB6-A9F7-90F4-18F73695BAD3}"/>
              </a:ext>
            </a:extLst>
          </p:cNvPr>
          <p:cNvSpPr txBox="1"/>
          <p:nvPr/>
        </p:nvSpPr>
        <p:spPr>
          <a:xfrm>
            <a:off x="4910401" y="713207"/>
            <a:ext cx="1896800"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RESULTS</a:t>
            </a:r>
          </a:p>
        </p:txBody>
      </p:sp>
      <p:sp>
        <p:nvSpPr>
          <p:cNvPr id="16" name="TextBox 15">
            <a:extLst>
              <a:ext uri="{FF2B5EF4-FFF2-40B4-BE49-F238E27FC236}">
                <a16:creationId xmlns:a16="http://schemas.microsoft.com/office/drawing/2014/main" id="{E1D799BD-1F0D-E39B-7182-8CB9AFF5CE09}"/>
              </a:ext>
            </a:extLst>
          </p:cNvPr>
          <p:cNvSpPr txBox="1"/>
          <p:nvPr/>
        </p:nvSpPr>
        <p:spPr>
          <a:xfrm>
            <a:off x="609132" y="1576360"/>
            <a:ext cx="10973735" cy="3139321"/>
          </a:xfrm>
          <a:prstGeom prst="rect">
            <a:avLst/>
          </a:prstGeom>
          <a:noFill/>
        </p:spPr>
        <p:txBody>
          <a:bodyPr wrap="square">
            <a:spAutoFit/>
          </a:bodyPr>
          <a:lstStyle/>
          <a:p>
            <a:pPr marL="285750" indent="-285750" algn="just">
              <a:buFont typeface="Arial" panose="020B0604020202020204" pitchFamily="34" charset="0"/>
              <a:buChar char="•"/>
            </a:pPr>
            <a:r>
              <a:rPr lang="en-IN" dirty="0"/>
              <a:t>The training and validation performance curves were monitored throughout the learning process to ensure proper convergence and prevent overfitting. </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A </a:t>
            </a:r>
            <a:r>
              <a:rPr lang="en-IN" b="1" dirty="0"/>
              <a:t>confusion matrix</a:t>
            </a:r>
            <a:r>
              <a:rPr lang="en-IN" dirty="0"/>
              <a:t> was used to visualize the model’s predictions and identify which emotions were most frequently misclassified.</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The evaluation demonstrated that the model could reliably detect the majority of emotions, providing accurate input for the music recommendation engine. </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Additionally, the system was integrated into a </a:t>
            </a:r>
            <a:r>
              <a:rPr lang="en-IN" b="1" dirty="0" err="1"/>
              <a:t>Streamlit</a:t>
            </a:r>
            <a:r>
              <a:rPr lang="en-IN" b="1" dirty="0"/>
              <a:t> UI</a:t>
            </a:r>
            <a:r>
              <a:rPr lang="en-IN" dirty="0"/>
              <a:t>, allowing real-time emotion detection and music recommendations with an interactive and user-friendly interface.</a:t>
            </a:r>
            <a:endParaRPr lang="en-IN" sz="2000" dirty="0"/>
          </a:p>
        </p:txBody>
      </p:sp>
      <p:pic>
        <p:nvPicPr>
          <p:cNvPr id="4098" name="Picture 2">
            <a:extLst>
              <a:ext uri="{FF2B5EF4-FFF2-40B4-BE49-F238E27FC236}">
                <a16:creationId xmlns:a16="http://schemas.microsoft.com/office/drawing/2014/main" id="{723FBC69-72F8-8BE5-1961-C77BA05C6F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171604"/>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4F962-DEDF-DBBD-C42B-5DBD3FC74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A42A7-A56F-9657-11FB-E2403526B764}"/>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C3CFF1A-7EB4-0A67-4946-6C4938CEEA63}"/>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EC6BF42A-96BC-E75D-4CB2-794B00F59D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7722D4F6-B93D-C759-C387-40AB9ACA7210}"/>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FE5F69E8-88BC-B9F3-CFD3-8EF8CECC3A1F}"/>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24</a:t>
            </a:fld>
            <a:endParaRPr lang="en-US" dirty="0"/>
          </a:p>
        </p:txBody>
      </p:sp>
      <p:sp>
        <p:nvSpPr>
          <p:cNvPr id="9" name="TextBox 8">
            <a:extLst>
              <a:ext uri="{FF2B5EF4-FFF2-40B4-BE49-F238E27FC236}">
                <a16:creationId xmlns:a16="http://schemas.microsoft.com/office/drawing/2014/main" id="{3AB90427-BECB-30FB-A530-7C4362F4BFD4}"/>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D9070CE5-0B8C-B268-C5E3-DC7621139246}"/>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967CB8B9-5F5B-0E02-CA29-A2E763DB976E}"/>
              </a:ext>
            </a:extLst>
          </p:cNvPr>
          <p:cNvSpPr txBox="1"/>
          <p:nvPr/>
        </p:nvSpPr>
        <p:spPr>
          <a:xfrm>
            <a:off x="3848244" y="378465"/>
            <a:ext cx="4909500" cy="507831"/>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CONFUSION MATRIX</a:t>
            </a:r>
          </a:p>
        </p:txBody>
      </p:sp>
      <p:pic>
        <p:nvPicPr>
          <p:cNvPr id="4098" name="Picture 2">
            <a:extLst>
              <a:ext uri="{FF2B5EF4-FFF2-40B4-BE49-F238E27FC236}">
                <a16:creationId xmlns:a16="http://schemas.microsoft.com/office/drawing/2014/main" id="{9FA1D4DB-AB25-278D-9D93-5F44F10EB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7324B72-AE84-43C5-324E-F86CB8044BCF}"/>
              </a:ext>
            </a:extLst>
          </p:cNvPr>
          <p:cNvPicPr>
            <a:picLocks noChangeAspect="1"/>
          </p:cNvPicPr>
          <p:nvPr/>
        </p:nvPicPr>
        <p:blipFill>
          <a:blip r:embed="rId4"/>
          <a:stretch>
            <a:fillRect/>
          </a:stretch>
        </p:blipFill>
        <p:spPr>
          <a:xfrm>
            <a:off x="1524000" y="1138010"/>
            <a:ext cx="8140075" cy="4834231"/>
          </a:xfrm>
          <a:prstGeom prst="rect">
            <a:avLst/>
          </a:prstGeom>
        </p:spPr>
      </p:pic>
    </p:spTree>
    <p:extLst>
      <p:ext uri="{BB962C8B-B14F-4D97-AF65-F5344CB8AC3E}">
        <p14:creationId xmlns:p14="http://schemas.microsoft.com/office/powerpoint/2010/main" val="773952124"/>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107F3-6F4F-738C-08E0-B8AFA23648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B511B-AC34-D965-A3BC-23A5BA7135B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4A3981A-EDA4-41AC-5956-CD0C9C904A73}"/>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D8ACBCC9-576F-67B2-3CEC-10AECF56BD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8C18B677-6A50-4F91-21E5-F6708C460A85}"/>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B8637F45-255A-7851-E8FB-867C6041ED0E}"/>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25</a:t>
            </a:fld>
            <a:endParaRPr lang="en-US" dirty="0"/>
          </a:p>
        </p:txBody>
      </p:sp>
      <p:sp>
        <p:nvSpPr>
          <p:cNvPr id="9" name="TextBox 8">
            <a:extLst>
              <a:ext uri="{FF2B5EF4-FFF2-40B4-BE49-F238E27FC236}">
                <a16:creationId xmlns:a16="http://schemas.microsoft.com/office/drawing/2014/main" id="{580755E6-130B-A475-9B8D-C1B019717B4E}"/>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CDA8A8F7-DE53-1EAF-D999-8CCF207622EF}"/>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pic>
        <p:nvPicPr>
          <p:cNvPr id="4098" name="Picture 2">
            <a:extLst>
              <a:ext uri="{FF2B5EF4-FFF2-40B4-BE49-F238E27FC236}">
                <a16:creationId xmlns:a16="http://schemas.microsoft.com/office/drawing/2014/main" id="{E41A2037-4F8F-6D18-B327-5938D9D5C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078BA35-0F17-181F-7812-E40B8AEBD29C}"/>
              </a:ext>
            </a:extLst>
          </p:cNvPr>
          <p:cNvSpPr txBox="1"/>
          <p:nvPr/>
        </p:nvSpPr>
        <p:spPr>
          <a:xfrm>
            <a:off x="3697076" y="349419"/>
            <a:ext cx="4824186" cy="507831"/>
          </a:xfrm>
          <a:prstGeom prst="rect">
            <a:avLst/>
          </a:prstGeom>
          <a:noFill/>
        </p:spPr>
        <p:txBody>
          <a:bodyPr wrap="square">
            <a:spAutoFit/>
          </a:bodyPr>
          <a:lstStyle/>
          <a:p>
            <a:r>
              <a:rPr lang="en-IN" sz="2700" b="1">
                <a:solidFill>
                  <a:srgbClr val="FF0000"/>
                </a:solidFill>
                <a:latin typeface="Times New Roman" panose="02020603050405020304" pitchFamily="18" charset="0"/>
                <a:cs typeface="Times New Roman" panose="02020603050405020304" pitchFamily="18" charset="0"/>
              </a:rPr>
              <a:t>PERFORMANCE ANALYSIS</a:t>
            </a:r>
            <a:endParaRPr lang="en-IN" sz="2700" dirty="0">
              <a:solidFill>
                <a:srgbClr val="FF0000"/>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E10BEC0-949A-7FBE-2C3B-0F948DF1B70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51757" y="1226270"/>
            <a:ext cx="9527974" cy="4751535"/>
          </a:xfrm>
          <a:prstGeom prst="rect">
            <a:avLst/>
          </a:prstGeom>
          <a:noFill/>
          <a:ln>
            <a:noFill/>
          </a:ln>
        </p:spPr>
      </p:pic>
    </p:spTree>
    <p:extLst>
      <p:ext uri="{BB962C8B-B14F-4D97-AF65-F5344CB8AC3E}">
        <p14:creationId xmlns:p14="http://schemas.microsoft.com/office/powerpoint/2010/main" val="2331311691"/>
      </p:ext>
    </p:extLst>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8FC94-786D-0BF3-F7AF-325EC718F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E69A3-0E54-0BC7-0C73-F71F5F43C71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D12C141B-7EB9-C6ED-E4AE-9DA7BC0A7E64}"/>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F5C5A98F-E4E0-3BE9-97F2-5BC8B0CE6C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85074AC8-C950-19FC-FF15-EA4BBD5D4E15}"/>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8B9BEEA8-9F60-C277-079F-5D7C3D9A2A6E}"/>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26</a:t>
            </a:fld>
            <a:endParaRPr lang="en-US" dirty="0"/>
          </a:p>
        </p:txBody>
      </p:sp>
      <p:sp>
        <p:nvSpPr>
          <p:cNvPr id="9" name="TextBox 8">
            <a:extLst>
              <a:ext uri="{FF2B5EF4-FFF2-40B4-BE49-F238E27FC236}">
                <a16:creationId xmlns:a16="http://schemas.microsoft.com/office/drawing/2014/main" id="{0A21DE85-2B00-BD8B-3A0E-6CE64A90B4E5}"/>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35783312-A6DE-28A5-1BD7-7BDF91321153}"/>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AF661DEB-8C50-3D9C-EFA6-DC4C429B53B4}"/>
              </a:ext>
            </a:extLst>
          </p:cNvPr>
          <p:cNvSpPr txBox="1"/>
          <p:nvPr/>
        </p:nvSpPr>
        <p:spPr>
          <a:xfrm>
            <a:off x="4904534" y="273233"/>
            <a:ext cx="2288746" cy="507831"/>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UI RESULTS</a:t>
            </a:r>
          </a:p>
        </p:txBody>
      </p:sp>
      <p:pic>
        <p:nvPicPr>
          <p:cNvPr id="4098" name="Picture 2">
            <a:extLst>
              <a:ext uri="{FF2B5EF4-FFF2-40B4-BE49-F238E27FC236}">
                <a16:creationId xmlns:a16="http://schemas.microsoft.com/office/drawing/2014/main" id="{43631165-E841-19A1-1C33-824E57E1CF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4B46F4EF-194D-AD91-5DFE-242F3076AFD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05281" y="742993"/>
            <a:ext cx="7863254" cy="2313305"/>
          </a:xfrm>
          <a:prstGeom prst="rect">
            <a:avLst/>
          </a:prstGeom>
          <a:noFill/>
          <a:ln>
            <a:noFill/>
          </a:ln>
        </p:spPr>
      </p:pic>
      <p:pic>
        <p:nvPicPr>
          <p:cNvPr id="17" name="Picture 16">
            <a:extLst>
              <a:ext uri="{FF2B5EF4-FFF2-40B4-BE49-F238E27FC236}">
                <a16:creationId xmlns:a16="http://schemas.microsoft.com/office/drawing/2014/main" id="{F7218376-9418-CD26-AA8C-8D64EB65239E}"/>
              </a:ext>
            </a:extLst>
          </p:cNvPr>
          <p:cNvPicPr>
            <a:picLocks noChangeAspect="1"/>
          </p:cNvPicPr>
          <p:nvPr/>
        </p:nvPicPr>
        <p:blipFill>
          <a:blip r:embed="rId6"/>
          <a:stretch>
            <a:fillRect/>
          </a:stretch>
        </p:blipFill>
        <p:spPr>
          <a:xfrm>
            <a:off x="1599579" y="3061862"/>
            <a:ext cx="7862071" cy="3256386"/>
          </a:xfrm>
          <a:prstGeom prst="rect">
            <a:avLst/>
          </a:prstGeom>
        </p:spPr>
      </p:pic>
    </p:spTree>
    <p:extLst>
      <p:ext uri="{BB962C8B-B14F-4D97-AF65-F5344CB8AC3E}">
        <p14:creationId xmlns:p14="http://schemas.microsoft.com/office/powerpoint/2010/main" val="1689129537"/>
      </p:ext>
    </p:extLst>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2E5DB-6491-337C-EF7C-4B14A531D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24B95-81EE-2809-5162-5488C39B7DE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AF51864-248A-B9D3-54FA-7274EA7C4743}"/>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5863E519-424A-81AA-BA50-ED93C451B8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D979F48F-9511-7FCD-8670-812C347460F7}"/>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C90F2FED-4F51-F4DF-8408-A2F11F737DAC}"/>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27</a:t>
            </a:fld>
            <a:endParaRPr lang="en-US" dirty="0"/>
          </a:p>
        </p:txBody>
      </p:sp>
      <p:sp>
        <p:nvSpPr>
          <p:cNvPr id="9" name="TextBox 8">
            <a:extLst>
              <a:ext uri="{FF2B5EF4-FFF2-40B4-BE49-F238E27FC236}">
                <a16:creationId xmlns:a16="http://schemas.microsoft.com/office/drawing/2014/main" id="{51F56464-D531-FF8F-1BF7-04546B2612EF}"/>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93C75C7D-BA5F-3F26-B83A-EC8138BADF2D}"/>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B911DA06-2C9F-715D-09D9-A3D9A24211F6}"/>
              </a:ext>
            </a:extLst>
          </p:cNvPr>
          <p:cNvSpPr txBox="1"/>
          <p:nvPr/>
        </p:nvSpPr>
        <p:spPr>
          <a:xfrm>
            <a:off x="4169903" y="587693"/>
            <a:ext cx="2688097" cy="507831"/>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CONCLUSION</a:t>
            </a:r>
          </a:p>
        </p:txBody>
      </p:sp>
      <p:sp>
        <p:nvSpPr>
          <p:cNvPr id="16" name="TextBox 15">
            <a:extLst>
              <a:ext uri="{FF2B5EF4-FFF2-40B4-BE49-F238E27FC236}">
                <a16:creationId xmlns:a16="http://schemas.microsoft.com/office/drawing/2014/main" id="{A210C881-C1FE-00F6-686B-9311C7A9FB4C}"/>
              </a:ext>
            </a:extLst>
          </p:cNvPr>
          <p:cNvSpPr txBox="1"/>
          <p:nvPr/>
        </p:nvSpPr>
        <p:spPr>
          <a:xfrm>
            <a:off x="639856" y="1214438"/>
            <a:ext cx="10051606" cy="3600986"/>
          </a:xfrm>
          <a:prstGeom prst="rect">
            <a:avLst/>
          </a:prstGeom>
          <a:noFill/>
        </p:spPr>
        <p:txBody>
          <a:bodyPr wrap="square">
            <a:spAutoFit/>
          </a:bodyPr>
          <a:lstStyle/>
          <a:p>
            <a:pPr algn="just"/>
            <a:br>
              <a:rPr lang="en-US" sz="2000" dirty="0"/>
            </a:br>
            <a:r>
              <a:rPr lang="en-US" sz="2000" dirty="0" err="1"/>
              <a:t>Muzly</a:t>
            </a:r>
            <a:r>
              <a:rPr lang="en-US" sz="2000" dirty="0"/>
              <a:t> presents a powerful AI-driven solution for delivering highly personalized music recommendations by seamlessly integrating facial emotion recognition, scene analysis, and contextual data. By leveraging a CNN-based emotion detection model along with environmental cues and user preferences, the system provides accurate, real-time music suggestions tailored to the listener’s current mood and surroundings. Through its interactive interface and adaptive recommendation process, </a:t>
            </a:r>
            <a:r>
              <a:rPr lang="en-US" sz="2000" dirty="0" err="1"/>
              <a:t>Muzly</a:t>
            </a:r>
            <a:r>
              <a:rPr lang="en-US" sz="2000" dirty="0"/>
              <a:t> enhances user engagement and delivers a more dynamic, immersive, and meaningful music-listening experience.</a:t>
            </a:r>
          </a:p>
          <a:p>
            <a:pPr algn="just"/>
            <a:br>
              <a:rPr lang="en-US" sz="2400" dirty="0"/>
            </a:br>
            <a:endParaRPr lang="en-US" sz="2400" dirty="0"/>
          </a:p>
          <a:p>
            <a:pPr algn="just"/>
            <a:endParaRPr lang="en-US" sz="2000" dirty="0"/>
          </a:p>
        </p:txBody>
      </p:sp>
      <p:pic>
        <p:nvPicPr>
          <p:cNvPr id="4098" name="Picture 2">
            <a:extLst>
              <a:ext uri="{FF2B5EF4-FFF2-40B4-BE49-F238E27FC236}">
                <a16:creationId xmlns:a16="http://schemas.microsoft.com/office/drawing/2014/main" id="{3BB9511D-C441-932F-50D0-8B55AB808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918840"/>
      </p:ext>
    </p:extLst>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E986D-DCAA-2A15-4F7B-EA70C8401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AD71A-DE67-193E-FB24-5C9322FC901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ADA7BE3-D7F6-B613-3799-125152AA2E3E}"/>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0A4F3391-9466-7318-5678-778BE256D1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5E2C56CC-2367-0387-8F5D-DAA582666F95}"/>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7ACED295-986A-C4C1-E00D-7B3B3A7D803A}"/>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28</a:t>
            </a:fld>
            <a:endParaRPr lang="en-US" dirty="0"/>
          </a:p>
        </p:txBody>
      </p:sp>
      <p:sp>
        <p:nvSpPr>
          <p:cNvPr id="9" name="TextBox 8">
            <a:extLst>
              <a:ext uri="{FF2B5EF4-FFF2-40B4-BE49-F238E27FC236}">
                <a16:creationId xmlns:a16="http://schemas.microsoft.com/office/drawing/2014/main" id="{02BD53A7-8A85-A10E-F73E-222DF1CCD601}"/>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962E8708-301C-2681-DBB9-81DEEE3B52E6}"/>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4" name="TextBox 13">
            <a:extLst>
              <a:ext uri="{FF2B5EF4-FFF2-40B4-BE49-F238E27FC236}">
                <a16:creationId xmlns:a16="http://schemas.microsoft.com/office/drawing/2014/main" id="{7EB062D1-3170-F07F-B01A-FD3CFD9E69F9}"/>
              </a:ext>
            </a:extLst>
          </p:cNvPr>
          <p:cNvSpPr txBox="1"/>
          <p:nvPr/>
        </p:nvSpPr>
        <p:spPr>
          <a:xfrm>
            <a:off x="4633710" y="527800"/>
            <a:ext cx="2924580" cy="507831"/>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FUTURE WORK</a:t>
            </a:r>
          </a:p>
        </p:txBody>
      </p:sp>
      <p:sp>
        <p:nvSpPr>
          <p:cNvPr id="16" name="TextBox 15">
            <a:extLst>
              <a:ext uri="{FF2B5EF4-FFF2-40B4-BE49-F238E27FC236}">
                <a16:creationId xmlns:a16="http://schemas.microsoft.com/office/drawing/2014/main" id="{D4C45323-E8C9-6A5E-3730-F1CB3EC8C3FE}"/>
              </a:ext>
            </a:extLst>
          </p:cNvPr>
          <p:cNvSpPr txBox="1"/>
          <p:nvPr/>
        </p:nvSpPr>
        <p:spPr>
          <a:xfrm>
            <a:off x="639856" y="1214438"/>
            <a:ext cx="10426156" cy="3477875"/>
          </a:xfrm>
          <a:prstGeom prst="rect">
            <a:avLst/>
          </a:prstGeom>
          <a:noFill/>
        </p:spPr>
        <p:txBody>
          <a:bodyPr wrap="square">
            <a:spAutoFit/>
          </a:bodyPr>
          <a:lstStyle/>
          <a:p>
            <a:pPr algn="just"/>
            <a:br>
              <a:rPr lang="en-US" sz="2000" dirty="0"/>
            </a:br>
            <a:endParaRPr lang="en-US" sz="2000" dirty="0"/>
          </a:p>
          <a:p>
            <a:pPr marL="342900" indent="-342900" algn="just">
              <a:buFont typeface="Arial" panose="020B0604020202020204" pitchFamily="34" charset="0"/>
              <a:buChar char="•"/>
            </a:pPr>
            <a:r>
              <a:rPr lang="en-US" sz="2000" dirty="0"/>
              <a:t>Support live camera feeds for real-time emotion detection and continuous recommendations.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Optimize the system for faster performance and mobile deployment.</a:t>
            </a:r>
          </a:p>
          <a:p>
            <a:pPr algn="just"/>
            <a:endParaRPr lang="en-US" sz="2000" dirty="0"/>
          </a:p>
          <a:p>
            <a:pPr marL="342900" indent="-342900" algn="just">
              <a:buFont typeface="Arial" panose="020B0604020202020204" pitchFamily="34" charset="0"/>
              <a:buChar char="•"/>
            </a:pPr>
            <a:r>
              <a:rPr lang="en-US" sz="2000" dirty="0"/>
              <a:t>Incorporate collaborative filtering to leverage user listening history.</a:t>
            </a:r>
          </a:p>
          <a:p>
            <a:pPr algn="just"/>
            <a:endParaRPr lang="en-US" sz="2000" dirty="0"/>
          </a:p>
          <a:p>
            <a:pPr marL="342900" indent="-342900" algn="just">
              <a:buFont typeface="Arial" panose="020B0604020202020204" pitchFamily="34" charset="0"/>
              <a:buChar char="•"/>
            </a:pPr>
            <a:r>
              <a:rPr lang="en-US" sz="2000" dirty="0"/>
              <a:t>Integrate additional modalities like voice or text-based sentiment analysis.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Implement adaptive learning to refine recommendations based on feedback and preferences.</a:t>
            </a:r>
          </a:p>
        </p:txBody>
      </p:sp>
      <p:pic>
        <p:nvPicPr>
          <p:cNvPr id="4098" name="Picture 2">
            <a:extLst>
              <a:ext uri="{FF2B5EF4-FFF2-40B4-BE49-F238E27FC236}">
                <a16:creationId xmlns:a16="http://schemas.microsoft.com/office/drawing/2014/main" id="{EDFD2137-783E-E6F9-0530-1960C64A3C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9316271"/>
      </p:ext>
    </p:extLst>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9BCC0-278F-F8ED-9261-05D4F56FD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04DCB-4318-89EB-4792-A584D1D97B53}"/>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D84E8566-7368-7DEB-83D9-48CD120A87DE}"/>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B2A2A1B5-8E8F-95E0-6644-71E4E13E00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C42384ED-62BE-0691-D570-7628032846DB}"/>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95F5A9D7-4AA1-2578-8FC1-87F0FAE23987}"/>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29</a:t>
            </a:fld>
            <a:endParaRPr lang="en-US" dirty="0"/>
          </a:p>
        </p:txBody>
      </p:sp>
      <p:sp>
        <p:nvSpPr>
          <p:cNvPr id="9" name="TextBox 8">
            <a:extLst>
              <a:ext uri="{FF2B5EF4-FFF2-40B4-BE49-F238E27FC236}">
                <a16:creationId xmlns:a16="http://schemas.microsoft.com/office/drawing/2014/main" id="{DEFB3C29-9CE6-9964-65D3-34ED853D52C7}"/>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3FCCC381-1255-1C9C-495E-C14C20DAB1D9}"/>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(EVEN SEM ) </a:t>
            </a:r>
            <a:endParaRPr lang="en-IN" altLang="en-GB" dirty="0"/>
          </a:p>
        </p:txBody>
      </p:sp>
      <p:sp>
        <p:nvSpPr>
          <p:cNvPr id="13" name="TextBox 12">
            <a:extLst>
              <a:ext uri="{FF2B5EF4-FFF2-40B4-BE49-F238E27FC236}">
                <a16:creationId xmlns:a16="http://schemas.microsoft.com/office/drawing/2014/main" id="{852B5015-87E0-FC42-EF88-ABAA1A22AADD}"/>
              </a:ext>
            </a:extLst>
          </p:cNvPr>
          <p:cNvSpPr txBox="1"/>
          <p:nvPr/>
        </p:nvSpPr>
        <p:spPr>
          <a:xfrm>
            <a:off x="2291545" y="2184323"/>
            <a:ext cx="7608910" cy="2123658"/>
          </a:xfrm>
          <a:prstGeom prst="rect">
            <a:avLst/>
          </a:prstGeom>
          <a:noFill/>
        </p:spPr>
        <p:txBody>
          <a:bodyPr wrap="square">
            <a:spAutoFit/>
          </a:bodyPr>
          <a:lstStyle/>
          <a:p>
            <a:pPr algn="ctr"/>
            <a:r>
              <a:rPr lang="en-IN" altLang="en-US" sz="6600" b="1" dirty="0">
                <a:solidFill>
                  <a:srgbClr val="FF0000"/>
                </a:solidFill>
                <a:latin typeface="Stencil" panose="040409050D0802020404" pitchFamily="82" charset="0"/>
                <a:cs typeface="Times New Roman" panose="02020603050405020304" pitchFamily="18" charset="0"/>
              </a:rPr>
              <a:t>Thank </a:t>
            </a:r>
          </a:p>
          <a:p>
            <a:pPr algn="ctr"/>
            <a:r>
              <a:rPr lang="en-IN" altLang="en-US" sz="6600" b="1" dirty="0">
                <a:solidFill>
                  <a:srgbClr val="FF0000"/>
                </a:solidFill>
                <a:latin typeface="Stencil" panose="040409050D0802020404" pitchFamily="82" charset="0"/>
                <a:cs typeface="Times New Roman" panose="02020603050405020304" pitchFamily="18" charset="0"/>
              </a:rPr>
              <a:t>you</a:t>
            </a:r>
            <a:endParaRPr lang="en-US" sz="6600" b="1" dirty="0">
              <a:solidFill>
                <a:srgbClr val="FF0000"/>
              </a:solidFill>
              <a:latin typeface="Stencil" panose="040409050D0802020404" pitchFamily="82" charset="0"/>
              <a:cs typeface="Times New Roman" panose="02020603050405020304" pitchFamily="18" charset="0"/>
            </a:endParaRPr>
          </a:p>
        </p:txBody>
      </p:sp>
      <p:pic>
        <p:nvPicPr>
          <p:cNvPr id="8194" name="Picture 2">
            <a:extLst>
              <a:ext uri="{FF2B5EF4-FFF2-40B4-BE49-F238E27FC236}">
                <a16:creationId xmlns:a16="http://schemas.microsoft.com/office/drawing/2014/main" id="{47B45F37-C77B-38A2-9112-A80847BD2D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9943" y="269798"/>
            <a:ext cx="1064647" cy="852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9333884"/>
      </p:ext>
    </p:extLst>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2956</TotalTime>
  <Words>2424</Words>
  <Application>Microsoft Office PowerPoint</Application>
  <PresentationFormat>Widescreen</PresentationFormat>
  <Paragraphs>308</Paragraphs>
  <Slides>29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Calibri Light</vt:lpstr>
      <vt:lpstr>CamberW04-Bold</vt:lpstr>
      <vt:lpstr>Stencil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Murugan B</cp:lastModifiedBy>
  <cp:revision>73</cp:revision>
  <dcterms:created xsi:type="dcterms:W3CDTF">2025-07-22T07:15:14Z</dcterms:created>
  <dcterms:modified xsi:type="dcterms:W3CDTF">2026-04-02T06:16:57Z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E3DCC298639546AABD4E8EDA9A7F87E9_13</vt:lpwstr>
  </property>
  <property fmtid="{D5CDD505-2E9C-101B-9397-08002B2CF9AE}" pid="3" name="KSOProductBuildVer">
    <vt:lpwstr>1033-12.2.0.21931</vt:lpwstr>
  </property>
</Properties>
</file>